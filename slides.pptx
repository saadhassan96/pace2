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984f9e21-0d9d-177f-abfd-a88195f6e890}">
          <p14:sldIdLst>
            <p14:sldId id="256"/>
            <p14:sldId id="257"/>
            <p14:sldId id="258"/>
            <p14:sldId id="259"/>
            <p14:sldId id="260"/>
          </p14:sldIdLst>
        </p14:section>
        <p14:section name="What is AI (Nick)" id="{36ac3075-7885-b474-4566-21a7b543062e}">
          <p14:sldIdLst>
            <p14:sldId id="261"/>
            <p14:sldId id="262"/>
            <p14:sldId id="263"/>
            <p14:sldId id="264"/>
            <p14:sldId id="265"/>
            <p14:sldId id="266"/>
            <p14:sldId id="267"/>
            <p14:sldId id="268"/>
            <p14:sldId id="269"/>
            <p14:sldId id="270"/>
            <p14:sldId id="271"/>
            <p14:sldId id="272"/>
            <p14:sldId id="273"/>
            <p14:sldId id="274"/>
            <p14:sldId id="275"/>
          </p14:sldIdLst>
        </p14:section>
        <p14:section name="Participatory design (Saad)" id="{9313d196-6ebb-1973-c7b4-c358d738103a}">
          <p14:sldIdLst>
            <p14:sldId id="276"/>
            <p14:sldId id="277"/>
            <p14:sldId id="278"/>
            <p14:sldId id="279"/>
            <p14:sldId id="280"/>
            <p14:sldId id="281"/>
            <p14:sldId id="282"/>
            <p14:sldId id="283"/>
            <p14:sldId id="284"/>
            <p14:sldId id="285"/>
            <p14:sldId id="286"/>
            <p14:sldId id="287"/>
          </p14:sldIdLst>
        </p14:section>
        <p14:section name="Activities" id="{86cdaea0-71dd-8f7f-e90b-1b9abfc42abd}">
          <p14:sldIdLst>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We're Nick Mattei and Saad Hassan from Tulane's Center for Community-Engaged AI.
Logistics: restrooms, Wi-Fi, break at 10:10. Ask people to grab sticky notes and a reflection card.
The CEAI logo sits on a white card because the source file has a dark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minutes. Two short talks, then most of the morning is yours: individual reflection, share-outs, break, and two breakout groups. The QR code links to saadh.info/pace2 (slides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Nick introduces himself (about 1 minute).
Bio source: workshop description. Website: nickmattei.net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Saad introduces himself (about 1 minute).
Source: saadh.info. New this summer: NSF award (as PI) on civic AI connecting residents, communities, and local governments.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registrants, so 30 seconds each keeps us at 10 minutes total. Go around the room. Nick and Saad listen for partners and themes to reuse in the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Goal: a shared, non-technical vocabulary for the rest of the morning, then what we've learned doing AI work with community partners in New Orleans.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warm-up: AI is not new to people's lives. Recommendation, ranking, and matching systems have shaped what we see and buy for years. What's new since 2022 is generative AI that anyone can talk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Nick's 'Three Major Paradigms' slide. Click to reveal each. The key shift: in (2) and (3) nobody writes the rules by hand, so the data and the objective decide behavior. That's exactly where community input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Nick's LLM → Chatbot → Reasoning → Agentic slides (credit: Brown). Point out that agentic systems can change things outside the chat window, which raises the stakes for community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'Good, Bad, Ugl-AI' sequence. The ugly column is the important one: the same feature has a good and a bad side, and it's up to us to maximize benefits and minimize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Nick's 'Making Things Up' example. Good moment to connect to community work: a partner using a chatbot to answer public questions needs a way to verify and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Headlines from Nick's 'What's at Stake' slide: Washington Post on live facial recognition (2025), The Verge on Palantir's predictive policing test, NPR on live cameras. Ask: who was in the room when these were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'What Can Go Wrong' and 'Automated Decisions of Consequence' (Sweeney 2013, Miller 2015, Barry-Jester et al. 2015; Reuters 2018 on Amazon). These are the decisions where communities have the most at stake and the least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Center for Community-Engaged AI and what we've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Tulane CEAI's pipeline from Nick's TRICS talk. Emphasize that it's a cycle, not a pipeline where communities supply problems: partners stay involved as projects grow.
NOTE: the CEAI logo file has a dark backdrop baked in; swap for a transparent version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Partners: Ayyub Ibrahim and Marvin Arnold (Eye on Surveillance); students Catherine Brooks, Hayden Outlaw, Mikey Sison.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technology as SAWT, adapted with Entergy. Team: Rhon Farber, Bryan Flanagan, Griffin Olimpio, Peter Sapountzis, Jack Zemke.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Director Jesse Manley. This is the clearest case of the virtuous cycle: capstone → pilot → federal funding → new research questions (safety and validation of LLMs in high-stakes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Hrishi Kabra, Ben Armstrong. Different stakeholders hold different notions of fairness (contract-, consequence-, duty-, and character-based).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'Getting Started' section of Culotta &amp; Mattei. Hand off to Saad: 'So how do we actually involve people in design? That's where participatory design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You already know community engagement deeply. This is the computing and design side of the same conversation: who gets to shape a technology, and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is a way of working on problems that don't have a right answer. That describes most community engagement work. Ask: in your own projects, who decides what 'preferred'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UCD is the industry default. Ask the room: can you spot the limitation? (Answer: who sets the requirements, and who is evaluated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 Norman, Design for a Better World (2023). HCD asks designers to immerse themselves and think about systems. But it still assumes the designer is the one who empathizes and decides. That leads to two warnings from the research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papers I assign in my HCI course. Empathy exercises can substitute for actually working with people. And even when we do invite people in, status hierarchies don't disappear just because there's a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 came out of Scandinavian workplace democracy in the 1970s. It's the design-world cousin of CBPR and reciprocity in service learning, which this audience already knows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 is not a panacea. The workshop is not neutral ground; status hierarchies and trust can't be fixed just by inviting people into a room. And design methods themselves can feel alien: one participant called crayons and markers 'an elementary school activity.' We have to steer between two hazards.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'participatory AI' happens only at evaluation, if at all. Participation is most powerful at problem framing and governance. And refusal is a legitimate outcome of participation.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language input: my MobileHCI 2023 work compared tap-to-sign, push-to-sign, and a virtual keyboard for ASL input to personal assistants. FSboard (CVPR 2025, with Google) is a large smartphone fingerspelling dataset from Deaf signers.
In August 2026 Google DeepMind shipped SL2T: sign-to-text dictation in Gboard and Live Transcribe on Pixel 11. Deaf partners shaped data collection, user studies, and an AI Sign Language Advisory Committee. Source: deepmind.google/blog/putting-sign-language-ai-into-users-hands/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hearing parents of Deaf children don't know sign language when their child is born. Learners need ways to look up signs they see, and clinicians need ways to communicate with Deaf patients. Designing for the people around a disability community is part of designing for that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transcription → audio → force-aligned transcript → sliced audio → neural network → per-word valence and arousal. DHH viewers then ranked caption styles and shaped the designs (affective, haptic, and rich captions).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Quotes come from interviews and participatory design sessions with civic organization members, including people with disabilities.
New this summer: a $899,868 collaborative NSF award (I'm PI) to design civic AI that connects residents, communities, and local governments. Hand off: 'Now it's your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reflection cards and sticky notes. Guiding questions: In community-engaged work, how could AI help expand capacity, or create challenges? What is the appropriate role for AI here? Is there one?
At 9:55 go around for share-outs (about 50 seconds each). Saad and Nick put sticky notes on the wall as people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Nick and Saad cluster the wall into 2–4 themes. Likely split: AI in how we run engagement (matching, reflection, assessment, reporting) vs. AI in partners' own work. Update the breakout slide with the theme names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facilitator keeps time and nudges the group to the next round every 15 minutes. Ask each group to pick a reporter during round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quick popcorn answers. Point to the website for slides and resources, and collect interest in follow-up (sign-up or the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rtlCol="0"/>
          <a:lstStyle>
            <a:lvl1pPr algn="l" indent="0" marL="0">
              <a:buNone/>
              <a:defRPr lang="en-US" sz="3000" b="1" dirty="0">
                <a:solidFill>
                  <a:srgbClr val="13221D"/>
                </a:solidFill>
                <a:latin typeface="Inter" pitchFamily="34" charset="0"/>
                <a:ea typeface="Inter" pitchFamily="34" charset="-122"/>
                <a:cs typeface="Inter" pitchFamily="34" charset="-120"/>
              </a:defRPr>
            </a:lvl1pPr>
          </a:lstStyle>
          <a:p>
            <a:pPr algn="l" indent="0" marL="0">
              <a:buNone/>
            </a:pPr>
            <a:r>
              <a:rPr lang="en-US" sz="3000" b="1" dirty="0">
                <a:solidFill>
                  <a:srgbClr val="13221D"/>
                </a:solidFill>
                <a:latin typeface="Inter" pitchFamily="34" charset="0"/>
                <a:ea typeface="Inter" pitchFamily="34" charset="-122"/>
                <a:cs typeface="Inter" pitchFamily="34" charset="-120"/>
              </a:rPr>
              <a:t>Title</a:t>
            </a: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E3B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rtlCol="0"/>
          <a:lstStyle>
            <a:lvl1pPr algn="l" indent="0" marL="0">
              <a:buNone/>
              <a:defRPr lang="en-US" sz="3000" b="1" dirty="0">
                <a:solidFill>
                  <a:srgbClr val="FFFFFF"/>
                </a:solidFill>
                <a:latin typeface="Inter" pitchFamily="34" charset="0"/>
                <a:ea typeface="Inter" pitchFamily="34" charset="-122"/>
                <a:cs typeface="Inter" pitchFamily="34" charset="-120"/>
              </a:defRPr>
            </a:lvl1pPr>
          </a:lstStyle>
          <a:p>
            <a:pPr algn="l" indent="0" marL="0">
              <a:buNone/>
            </a:pPr>
            <a:r>
              <a:rPr lang="en-US" sz="3000" b="1" dirty="0">
                <a:solidFill>
                  <a:srgbClr val="FFFFFF"/>
                </a:solidFill>
                <a:latin typeface="Inter" pitchFamily="34" charset="0"/>
                <a:ea typeface="Inter" pitchFamily="34" charset="-122"/>
                <a:cs typeface="Inter" pitchFamily="34" charset="-120"/>
              </a:rPr>
              <a:t>Title</a:t>
            </a:r>
            <a:endParaRPr lang="en-US" sz="3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0E3B2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saadh.info/pace2" TargetMode="External"/><Relationship Id="rId1"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nickmattei.net" TargetMode="External"/><Relationship Id="rId1" Type="http://schemas.openxmlformats.org/officeDocument/2006/relationships/image" Target="../media/image-3-1.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saadh.info" TargetMode="External"/><Relationship Id="rId3" Type="http://schemas.openxmlformats.org/officeDocument/2006/relationships/hyperlink" Target="https://saadh.info/a11y" TargetMode="External"/><Relationship Id="rId1" Type="http://schemas.openxmlformats.org/officeDocument/2006/relationships/image" Target="../media/image-4-1.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2.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saadh.info/a11y" TargetMode="External"/><Relationship Id="rId2" Type="http://schemas.openxmlformats.org/officeDocument/2006/relationships/image" Target="../media/image-21-1.jp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eepmind.google/blog/putting-sign-language-ai-into-users-hands/" TargetMode="External"/><Relationship Id="rId2" Type="http://schemas.openxmlformats.org/officeDocument/2006/relationships/image" Target="../media/image-29-1.png"/><Relationship Id="rId3" Type="http://schemas.openxmlformats.org/officeDocument/2006/relationships/image" Target="../media/image-29-2.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jp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saadh.info/pace2" TargetMode="External"/><Relationship Id="rId1" Type="http://schemas.openxmlformats.org/officeDocument/2006/relationships/image" Target="../media/image-36-1.png"/><Relationship Id="rId3" Type="http://schemas.openxmlformats.org/officeDocument/2006/relationships/slideLayout" Target="../slideLayouts/slideLayout3.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me_chip_1"/>
          <p:cNvSpPr txBox="1"/>
          <p:nvPr/>
        </p:nvSpPr>
        <p:spPr>
          <a:xfrm>
            <a:off x="8442655" y="475488"/>
            <a:ext cx="32004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Sun, Oct 11  ·  9:00 – 11:30</a:t>
            </a:r>
            <a:endParaRPr lang="en-US" sz="1400" dirty="0"/>
          </a:p>
        </p:txBody>
      </p:sp>
      <p:sp>
        <p:nvSpPr>
          <p:cNvPr id="3" name="prog_welcome_2"/>
          <p:cNvSpPr/>
          <p:nvPr/>
        </p:nvSpPr>
        <p:spPr>
          <a:xfrm>
            <a:off x="548640" y="6400800"/>
            <a:ext cx="715244" cy="73152"/>
          </a:xfrm>
          <a:prstGeom prst="rect">
            <a:avLst/>
          </a:prstGeom>
          <a:solidFill>
            <a:srgbClr val="E8613A"/>
          </a:solidFill>
          <a:ln w="12700">
            <a:solidFill>
              <a:srgbClr val="E8613A"/>
            </a:solidFill>
            <a:prstDash val="solid"/>
          </a:ln>
        </p:spPr>
      </p:sp>
      <p:sp>
        <p:nvSpPr>
          <p:cNvPr id="4" name="prog_lbl_welcome_3"/>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5" name="prog_ai_4"/>
          <p:cNvSpPr/>
          <p:nvPr/>
        </p:nvSpPr>
        <p:spPr>
          <a:xfrm>
            <a:off x="1309604" y="6400800"/>
            <a:ext cx="1072866" cy="73152"/>
          </a:xfrm>
          <a:prstGeom prst="rect">
            <a:avLst/>
          </a:prstGeom>
          <a:solidFill>
            <a:srgbClr val="2A5A4A"/>
          </a:solidFill>
          <a:ln w="12700">
            <a:solidFill>
              <a:srgbClr val="2A5A4A"/>
            </a:solidFill>
            <a:prstDash val="solid"/>
          </a:ln>
        </p:spPr>
      </p:sp>
      <p:sp>
        <p:nvSpPr>
          <p:cNvPr id="6" name="prog_lbl_ai_5"/>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AI</a:t>
            </a:r>
            <a:endParaRPr lang="en-US" sz="1000" dirty="0"/>
          </a:p>
        </p:txBody>
      </p:sp>
      <p:sp>
        <p:nvSpPr>
          <p:cNvPr id="7" name="prog_pd_6"/>
          <p:cNvSpPr/>
          <p:nvPr/>
        </p:nvSpPr>
        <p:spPr>
          <a:xfrm>
            <a:off x="2428189" y="6400800"/>
            <a:ext cx="1072866" cy="73152"/>
          </a:xfrm>
          <a:prstGeom prst="rect">
            <a:avLst/>
          </a:prstGeom>
          <a:solidFill>
            <a:srgbClr val="2A5A4A"/>
          </a:solidFill>
          <a:ln w="12700">
            <a:solidFill>
              <a:srgbClr val="2A5A4A"/>
            </a:solidFill>
            <a:prstDash val="solid"/>
          </a:ln>
        </p:spPr>
      </p:sp>
      <p:sp>
        <p:nvSpPr>
          <p:cNvPr id="8" name="prog_lbl_pd_7"/>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Design</a:t>
            </a:r>
            <a:endParaRPr lang="en-US" sz="1000" dirty="0"/>
          </a:p>
        </p:txBody>
      </p:sp>
      <p:sp>
        <p:nvSpPr>
          <p:cNvPr id="9" name="prog_reflect_8"/>
          <p:cNvSpPr/>
          <p:nvPr/>
        </p:nvSpPr>
        <p:spPr>
          <a:xfrm>
            <a:off x="3546775" y="6400800"/>
            <a:ext cx="1072866" cy="73152"/>
          </a:xfrm>
          <a:prstGeom prst="rect">
            <a:avLst/>
          </a:prstGeom>
          <a:solidFill>
            <a:srgbClr val="2A5A4A"/>
          </a:solidFill>
          <a:ln w="12700">
            <a:solidFill>
              <a:srgbClr val="2A5A4A"/>
            </a:solidFill>
            <a:prstDash val="solid"/>
          </a:ln>
        </p:spPr>
      </p:sp>
      <p:sp>
        <p:nvSpPr>
          <p:cNvPr id="10" name="prog_lbl_reflect_9"/>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Reflect</a:t>
            </a:r>
            <a:endParaRPr lang="en-US" sz="1000" dirty="0"/>
          </a:p>
        </p:txBody>
      </p:sp>
      <p:sp>
        <p:nvSpPr>
          <p:cNvPr id="11" name="prog_share_10"/>
          <p:cNvSpPr/>
          <p:nvPr/>
        </p:nvSpPr>
        <p:spPr>
          <a:xfrm>
            <a:off x="4665360" y="6400800"/>
            <a:ext cx="1072866" cy="73152"/>
          </a:xfrm>
          <a:prstGeom prst="rect">
            <a:avLst/>
          </a:prstGeom>
          <a:solidFill>
            <a:srgbClr val="2A5A4A"/>
          </a:solidFill>
          <a:ln w="12700">
            <a:solidFill>
              <a:srgbClr val="2A5A4A"/>
            </a:solidFill>
            <a:prstDash val="solid"/>
          </a:ln>
        </p:spPr>
      </p:sp>
      <p:sp>
        <p:nvSpPr>
          <p:cNvPr id="12" name="prog_lbl_share_11"/>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Share</a:t>
            </a:r>
            <a:endParaRPr lang="en-US" sz="1000" dirty="0"/>
          </a:p>
        </p:txBody>
      </p:sp>
      <p:sp>
        <p:nvSpPr>
          <p:cNvPr id="13" name="prog_break_12"/>
          <p:cNvSpPr/>
          <p:nvPr/>
        </p:nvSpPr>
        <p:spPr>
          <a:xfrm>
            <a:off x="5783946" y="6400800"/>
            <a:ext cx="1072866" cy="73152"/>
          </a:xfrm>
          <a:prstGeom prst="rect">
            <a:avLst/>
          </a:prstGeom>
          <a:solidFill>
            <a:srgbClr val="2A5A4A"/>
          </a:solidFill>
          <a:ln w="12700">
            <a:solidFill>
              <a:srgbClr val="2A5A4A"/>
            </a:solidFill>
            <a:prstDash val="solid"/>
          </a:ln>
        </p:spPr>
      </p:sp>
      <p:sp>
        <p:nvSpPr>
          <p:cNvPr id="14" name="prog_lbl_break_13"/>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Break</a:t>
            </a:r>
            <a:endParaRPr lang="en-US" sz="1000" dirty="0"/>
          </a:p>
        </p:txBody>
      </p:sp>
      <p:sp>
        <p:nvSpPr>
          <p:cNvPr id="15" name="prog_breakout_14"/>
          <p:cNvSpPr/>
          <p:nvPr/>
        </p:nvSpPr>
        <p:spPr>
          <a:xfrm>
            <a:off x="6902531" y="6400800"/>
            <a:ext cx="3218597" cy="73152"/>
          </a:xfrm>
          <a:prstGeom prst="rect">
            <a:avLst/>
          </a:prstGeom>
          <a:solidFill>
            <a:srgbClr val="2A5A4A"/>
          </a:solidFill>
          <a:ln w="12700">
            <a:solidFill>
              <a:srgbClr val="2A5A4A"/>
            </a:solidFill>
            <a:prstDash val="solid"/>
          </a:ln>
        </p:spPr>
      </p:sp>
      <p:sp>
        <p:nvSpPr>
          <p:cNvPr id="16" name="prog_lbl_breakout_15"/>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16"/>
          <p:cNvSpPr/>
          <p:nvPr/>
        </p:nvSpPr>
        <p:spPr>
          <a:xfrm>
            <a:off x="10166848" y="6400800"/>
            <a:ext cx="715244" cy="73152"/>
          </a:xfrm>
          <a:prstGeom prst="rect">
            <a:avLst/>
          </a:prstGeom>
          <a:solidFill>
            <a:srgbClr val="2A5A4A"/>
          </a:solidFill>
          <a:ln w="12700">
            <a:solidFill>
              <a:srgbClr val="2A5A4A"/>
            </a:solidFill>
            <a:prstDash val="solid"/>
          </a:ln>
        </p:spPr>
      </p:sp>
      <p:sp>
        <p:nvSpPr>
          <p:cNvPr id="18" name="prog_lbl_report_17"/>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18"/>
          <p:cNvSpPr/>
          <p:nvPr/>
        </p:nvSpPr>
        <p:spPr>
          <a:xfrm>
            <a:off x="10927812" y="6400800"/>
            <a:ext cx="715244" cy="73152"/>
          </a:xfrm>
          <a:prstGeom prst="rect">
            <a:avLst/>
          </a:prstGeom>
          <a:solidFill>
            <a:srgbClr val="2A5A4A"/>
          </a:solidFill>
          <a:ln w="12700">
            <a:solidFill>
              <a:srgbClr val="2A5A4A"/>
            </a:solidFill>
            <a:prstDash val="solid"/>
          </a:ln>
        </p:spPr>
      </p:sp>
      <p:sp>
        <p:nvSpPr>
          <p:cNvPr id="20" name="prog_lbl_close_19"/>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1" name="card_20"/>
          <p:cNvSpPr/>
          <p:nvPr/>
        </p:nvSpPr>
        <p:spPr>
          <a:xfrm>
            <a:off x="548640" y="411480"/>
            <a:ext cx="960120" cy="960120"/>
          </a:xfrm>
          <a:prstGeom prst="roundRect">
            <a:avLst>
              <a:gd name="adj" fmla="val 17143"/>
            </a:avLst>
          </a:prstGeom>
          <a:solidFill>
            <a:srgbClr val="FFFFFF"/>
          </a:solidFill>
          <a:ln w="12700">
            <a:solidFill>
              <a:srgbClr val="FFFFFF"/>
            </a:solidFill>
            <a:prstDash val="solid"/>
          </a:ln>
        </p:spPr>
      </p:sp>
      <p:pic>
        <p:nvPicPr>
          <p:cNvPr id="22" name="iarslce_logo_21" descr="IARSLCE logo">    </p:cNvPr>
          <p:cNvPicPr>
            <a:picLocks noChangeAspect="1"/>
          </p:cNvPicPr>
          <p:nvPr/>
        </p:nvPicPr>
        <p:blipFill>
          <a:blip r:embed="rId1"/>
          <a:stretch>
            <a:fillRect/>
          </a:stretch>
        </p:blipFill>
        <p:spPr>
          <a:xfrm>
            <a:off x="658368" y="521208"/>
            <a:ext cx="740664" cy="740664"/>
          </a:xfrm>
          <a:prstGeom prst="rect">
            <a:avLst/>
          </a:prstGeom>
        </p:spPr>
      </p:pic>
      <p:sp>
        <p:nvSpPr>
          <p:cNvPr id="23" name="txt_22"/>
          <p:cNvSpPr txBox="1"/>
          <p:nvPr/>
        </p:nvSpPr>
        <p:spPr>
          <a:xfrm>
            <a:off x="1691640" y="5029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IARSLCE 2026</a:t>
            </a:r>
            <a:endParaRPr lang="en-US" sz="1600" dirty="0"/>
          </a:p>
        </p:txBody>
      </p:sp>
      <p:sp>
        <p:nvSpPr>
          <p:cNvPr id="24" name="txt_23"/>
          <p:cNvSpPr txBox="1"/>
          <p:nvPr/>
        </p:nvSpPr>
        <p:spPr>
          <a:xfrm>
            <a:off x="1691640" y="822960"/>
            <a:ext cx="5029200" cy="548640"/>
          </a:xfrm>
          <a:prstGeom prst="rect">
            <a:avLst/>
          </a:prstGeom>
          <a:noFill/>
          <a:ln/>
        </p:spPr>
        <p:txBody>
          <a:bodyPr wrap="square" lIns="0" tIns="0" rIns="0" bIns="0" rtlCol="0" anchor="t"/>
          <a:lstStyle/>
          <a:p>
            <a:pPr indent="0" marL="0">
              <a:buNone/>
            </a:pPr>
            <a:r>
              <a:rPr lang="en-US" sz="1100" dirty="0">
                <a:solidFill>
                  <a:srgbClr val="A9C4B8"/>
                </a:solidFill>
                <a:latin typeface="Inter" pitchFamily="34" charset="0"/>
                <a:ea typeface="Inter" pitchFamily="34" charset="-122"/>
                <a:cs typeface="Inter" pitchFamily="34" charset="-120"/>
              </a:rPr>
              <a:t>International Association for Research on</a:t>
            </a:r>
            <a:endParaRPr lang="en-US" sz="1100" dirty="0"/>
          </a:p>
          <a:p>
            <a:pPr indent="0" marL="0">
              <a:buNone/>
            </a:pPr>
            <a:r>
              <a:rPr lang="en-US" sz="1100" dirty="0">
                <a:solidFill>
                  <a:srgbClr val="A9C4B8"/>
                </a:solidFill>
                <a:latin typeface="Inter" pitchFamily="34" charset="0"/>
                <a:ea typeface="Inter" pitchFamily="34" charset="-122"/>
                <a:cs typeface="Inter" pitchFamily="34" charset="-120"/>
              </a:rPr>
              <a:t>Service-Learning and Community Engagement</a:t>
            </a:r>
            <a:endParaRPr lang="en-US" sz="1100" dirty="0"/>
          </a:p>
        </p:txBody>
      </p:sp>
      <p:sp>
        <p:nvSpPr>
          <p:cNvPr id="25" name="a1_txt_24"/>
          <p:cNvSpPr txBox="1"/>
          <p:nvPr/>
        </p:nvSpPr>
        <p:spPr>
          <a:xfrm>
            <a:off x="548640" y="1783080"/>
            <a:ext cx="8229600" cy="365760"/>
          </a:xfrm>
          <a:prstGeom prst="rect">
            <a:avLst/>
          </a:prstGeom>
          <a:noFill/>
          <a:ln/>
        </p:spPr>
        <p:txBody>
          <a:bodyPr wrap="square" lIns="0" tIns="0" rIns="0" bIns="0" rtlCol="0" anchor="t"/>
          <a:lstStyle/>
          <a:p>
            <a:pPr indent="0" marL="0">
              <a:buNone/>
            </a:pPr>
            <a:r>
              <a:rPr lang="en-US" sz="1400" b="1" spc="200" kern="0" dirty="0">
                <a:solidFill>
                  <a:srgbClr val="F2B33D"/>
                </a:solidFill>
                <a:latin typeface="Inter" pitchFamily="34" charset="0"/>
                <a:ea typeface="Inter" pitchFamily="34" charset="-122"/>
                <a:cs typeface="Inter" pitchFamily="34" charset="-120"/>
              </a:rPr>
              <a:t>PRE-CONFERENCE WORKSHOP</a:t>
            </a:r>
            <a:endParaRPr lang="en-US" sz="1400" dirty="0"/>
          </a:p>
        </p:txBody>
      </p:sp>
      <p:sp>
        <p:nvSpPr>
          <p:cNvPr id="26" name="txt_25"/>
          <p:cNvSpPr txBox="1"/>
          <p:nvPr/>
        </p:nvSpPr>
        <p:spPr>
          <a:xfrm>
            <a:off x="548640" y="2194560"/>
            <a:ext cx="7863840" cy="1737360"/>
          </a:xfrm>
          <a:prstGeom prst="rect">
            <a:avLst/>
          </a:prstGeom>
          <a:noFill/>
          <a:ln/>
        </p:spPr>
        <p:txBody>
          <a:bodyPr wrap="square" lIns="0" tIns="0" rIns="0" bIns="0" rtlCol="0" anchor="t"/>
          <a:lstStyle/>
          <a:p>
            <a:pPr indent="0" marL="0">
              <a:buNone/>
            </a:pPr>
            <a:r>
              <a:rPr lang="en-US" sz="4600" b="1" dirty="0">
                <a:solidFill>
                  <a:srgbClr val="FFFFFF"/>
                </a:solidFill>
                <a:latin typeface="Inter" pitchFamily="34" charset="0"/>
                <a:ea typeface="Inter" pitchFamily="34" charset="-122"/>
                <a:cs typeface="Inter" pitchFamily="34" charset="-120"/>
              </a:rPr>
              <a:t>Participatory AI for Community Engagement</a:t>
            </a:r>
            <a:endParaRPr lang="en-US" sz="4600" dirty="0"/>
          </a:p>
        </p:txBody>
      </p:sp>
      <p:sp>
        <p:nvSpPr>
          <p:cNvPr id="27" name="a2_txt_26"/>
          <p:cNvSpPr txBox="1"/>
          <p:nvPr/>
        </p:nvSpPr>
        <p:spPr>
          <a:xfrm>
            <a:off x="548640" y="4069080"/>
            <a:ext cx="7315200" cy="411480"/>
          </a:xfrm>
          <a:prstGeom prst="rect">
            <a:avLst/>
          </a:prstGeom>
          <a:noFill/>
          <a:ln/>
        </p:spPr>
        <p:txBody>
          <a:bodyPr wrap="square" lIns="0" tIns="0" rIns="0" bIns="0" rtlCol="0" anchor="t"/>
          <a:lstStyle/>
          <a:p>
            <a:pPr indent="0" marL="0">
              <a:buNone/>
            </a:pPr>
            <a:r>
              <a:rPr lang="en-US" sz="2200" b="1" dirty="0">
                <a:solidFill>
                  <a:srgbClr val="FFFFFF"/>
                </a:solidFill>
                <a:latin typeface="Inter" pitchFamily="34" charset="0"/>
                <a:ea typeface="Inter" pitchFamily="34" charset="-122"/>
                <a:cs typeface="Inter" pitchFamily="34" charset="-120"/>
              </a:rPr>
              <a:t>Nicholas Mattei  &amp;  Saad Hassan</a:t>
            </a:r>
            <a:endParaRPr lang="en-US" sz="2200" dirty="0"/>
          </a:p>
        </p:txBody>
      </p:sp>
      <p:sp>
        <p:nvSpPr>
          <p:cNvPr id="28" name="a2_txt_27"/>
          <p:cNvSpPr txBox="1"/>
          <p:nvPr/>
        </p:nvSpPr>
        <p:spPr>
          <a:xfrm>
            <a:off x="548640" y="4480560"/>
            <a:ext cx="7315200" cy="365760"/>
          </a:xfrm>
          <a:prstGeom prst="rect">
            <a:avLst/>
          </a:prstGeom>
          <a:noFill/>
          <a:ln/>
        </p:spPr>
        <p:txBody>
          <a:bodyPr wrap="square" lIns="0" tIns="0" rIns="0" bIns="0" rtlCol="0" anchor="t"/>
          <a:lstStyle/>
          <a:p>
            <a:pPr indent="0" marL="0">
              <a:buNone/>
            </a:pPr>
            <a:r>
              <a:rPr lang="en-US" sz="1600" dirty="0">
                <a:solidFill>
                  <a:srgbClr val="A9C4B8"/>
                </a:solidFill>
                <a:latin typeface="Inter" pitchFamily="34" charset="0"/>
                <a:ea typeface="Inter" pitchFamily="34" charset="-122"/>
                <a:cs typeface="Inter" pitchFamily="34" charset="-120"/>
              </a:rPr>
              <a:t>Tulane Center for Community-Engaged Artificial Intelligence</a:t>
            </a:r>
            <a:endParaRPr lang="en-US" sz="1600" dirty="0"/>
          </a:p>
        </p:txBody>
      </p:sp>
      <p:sp>
        <p:nvSpPr>
          <p:cNvPr id="29" name="a3_txt_28"/>
          <p:cNvSpPr txBox="1"/>
          <p:nvPr/>
        </p:nvSpPr>
        <p:spPr>
          <a:xfrm>
            <a:off x="548640" y="5166360"/>
            <a:ext cx="7315200" cy="731520"/>
          </a:xfrm>
          <a:prstGeom prst="rect">
            <a:avLst/>
          </a:prstGeom>
          <a:noFill/>
          <a:ln/>
        </p:spPr>
        <p:txBody>
          <a:bodyPr wrap="square" lIns="0" tIns="0" rIns="0" bIns="0" rtlCol="0" anchor="t"/>
          <a:lstStyle/>
          <a:p>
            <a:pPr indent="0" marL="0">
              <a:buNone/>
            </a:pPr>
            <a:r>
              <a:rPr lang="en-US" sz="1600" dirty="0">
                <a:solidFill>
                  <a:srgbClr val="FFFFFF"/>
                </a:solidFill>
                <a:latin typeface="Inter" pitchFamily="34" charset="0"/>
                <a:ea typeface="Inter" pitchFamily="34" charset="-122"/>
                <a:cs typeface="Inter" pitchFamily="34" charset="-120"/>
              </a:rPr>
              <a:t>Sunday, October 11, 2026  ·  9:00 – 11:30 am</a:t>
            </a:r>
            <a:endParaRPr lang="en-US" sz="1600" dirty="0"/>
          </a:p>
          <a:p>
            <a:pPr indent="0" marL="0">
              <a:buNone/>
            </a:pPr>
            <a:r>
              <a:rPr lang="en-US" sz="1600" dirty="0">
                <a:solidFill>
                  <a:srgbClr val="FFFFFF"/>
                </a:solidFill>
                <a:latin typeface="Inter" pitchFamily="34" charset="0"/>
                <a:ea typeface="Inter" pitchFamily="34" charset="-122"/>
                <a:cs typeface="Inter" pitchFamily="34" charset="-120"/>
              </a:rPr>
              <a:t>Monroe Hall 152, Tulane University, New Orleans</a:t>
            </a:r>
            <a:endParaRPr lang="en-US" sz="1600" dirty="0"/>
          </a:p>
        </p:txBody>
      </p:sp>
      <p:sp>
        <p:nvSpPr>
          <p:cNvPr id="30" name="a1_card_29"/>
          <p:cNvSpPr/>
          <p:nvPr/>
        </p:nvSpPr>
        <p:spPr>
          <a:xfrm>
            <a:off x="8732520" y="2286000"/>
            <a:ext cx="2907792" cy="2907792"/>
          </a:xfrm>
          <a:prstGeom prst="roundRect">
            <a:avLst>
              <a:gd name="adj" fmla="val 6289"/>
            </a:avLst>
          </a:prstGeom>
          <a:solidFill>
            <a:srgbClr val="FFFFFF"/>
          </a:solidFill>
          <a:ln w="12700">
            <a:solidFill>
              <a:srgbClr val="FFFFFF"/>
            </a:solidFill>
            <a:prstDash val="solid"/>
          </a:ln>
        </p:spPr>
      </p:sp>
      <p:pic>
        <p:nvPicPr>
          <p:cNvPr id="31" name="a1_img_ceai_logo_30" descr="/home/claude/assets/ceai_logo.png">    </p:cNvPr>
          <p:cNvPicPr>
            <a:picLocks noChangeAspect="1"/>
          </p:cNvPicPr>
          <p:nvPr/>
        </p:nvPicPr>
        <p:blipFill>
          <a:blip r:embed="rId2"/>
          <a:stretch>
            <a:fillRect/>
          </a:stretch>
        </p:blipFill>
        <p:spPr>
          <a:xfrm>
            <a:off x="8915400" y="3349772"/>
            <a:ext cx="2542032" cy="798536"/>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childTnLst>
                          </p:cTn>
                        </p:par>
                        <p:par>
                          <p:cTn id="19"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par>
                          <p:cTn id="23"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30" grpId="0" animBg="1"/>
      <p:bldP spid="27"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Today's plan</a:t>
            </a:r>
            <a:endParaRPr lang="en-US" sz="3000" dirty="0"/>
          </a:p>
        </p:txBody>
      </p:sp>
      <p:sp>
        <p:nvSpPr>
          <p:cNvPr id="3" name="time_chip_31"/>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9:00 – 9:10  ·  10 min</a:t>
            </a:r>
            <a:endParaRPr lang="en-US" sz="1400" dirty="0"/>
          </a:p>
        </p:txBody>
      </p:sp>
      <p:sp>
        <p:nvSpPr>
          <p:cNvPr id="4" name="prog_welcome_32"/>
          <p:cNvSpPr/>
          <p:nvPr/>
        </p:nvSpPr>
        <p:spPr>
          <a:xfrm>
            <a:off x="548640" y="6400800"/>
            <a:ext cx="715244" cy="73152"/>
          </a:xfrm>
          <a:prstGeom prst="rect">
            <a:avLst/>
          </a:prstGeom>
          <a:solidFill>
            <a:srgbClr val="E8613A"/>
          </a:solidFill>
          <a:ln w="12700">
            <a:solidFill>
              <a:srgbClr val="E8613A"/>
            </a:solidFill>
            <a:prstDash val="solid"/>
          </a:ln>
        </p:spPr>
      </p:sp>
      <p:sp>
        <p:nvSpPr>
          <p:cNvPr id="5" name="prog_lbl_welcome_33"/>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6" name="prog_ai_34"/>
          <p:cNvSpPr/>
          <p:nvPr/>
        </p:nvSpPr>
        <p:spPr>
          <a:xfrm>
            <a:off x="1309604" y="6400800"/>
            <a:ext cx="1072866" cy="73152"/>
          </a:xfrm>
          <a:prstGeom prst="rect">
            <a:avLst/>
          </a:prstGeom>
          <a:solidFill>
            <a:srgbClr val="D9E1DD"/>
          </a:solidFill>
          <a:ln w="12700">
            <a:solidFill>
              <a:srgbClr val="D9E1DD"/>
            </a:solidFill>
            <a:prstDash val="solid"/>
          </a:ln>
        </p:spPr>
      </p:sp>
      <p:sp>
        <p:nvSpPr>
          <p:cNvPr id="7" name="prog_lbl_ai_35"/>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AI</a:t>
            </a:r>
            <a:endParaRPr lang="en-US" sz="1000" dirty="0"/>
          </a:p>
        </p:txBody>
      </p:sp>
      <p:sp>
        <p:nvSpPr>
          <p:cNvPr id="8" name="prog_pd_36"/>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37"/>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38"/>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39"/>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40"/>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41"/>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42"/>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43"/>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44"/>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45"/>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46"/>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47"/>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48"/>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49"/>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50"/>
          <p:cNvSpPr/>
          <p:nvPr/>
        </p:nvSpPr>
        <p:spPr>
          <a:xfrm>
            <a:off x="548640" y="1417320"/>
            <a:ext cx="7589520" cy="475488"/>
          </a:xfrm>
          <a:prstGeom prst="roundRect">
            <a:avLst>
              <a:gd name="adj" fmla="val 15385"/>
            </a:avLst>
          </a:prstGeom>
          <a:solidFill>
            <a:srgbClr val="F4F8F6"/>
          </a:solidFill>
          <a:ln w="12700">
            <a:solidFill>
              <a:srgbClr val="F4F8F6"/>
            </a:solidFill>
            <a:prstDash val="solid"/>
          </a:ln>
        </p:spPr>
      </p:sp>
      <p:sp>
        <p:nvSpPr>
          <p:cNvPr id="23" name="txt_51"/>
          <p:cNvSpPr txBox="1"/>
          <p:nvPr/>
        </p:nvSpPr>
        <p:spPr>
          <a:xfrm>
            <a:off x="731520" y="1417320"/>
            <a:ext cx="914400" cy="475488"/>
          </a:xfrm>
          <a:prstGeom prst="rect">
            <a:avLst/>
          </a:prstGeom>
          <a:noFill/>
          <a:ln/>
        </p:spPr>
        <p:txBody>
          <a:bodyPr wrap="square" lIns="0" tIns="0" rIns="0" bIns="0" rtlCol="0" anchor="ctr"/>
          <a:lstStyle/>
          <a:p>
            <a:pPr indent="0" marL="0">
              <a:buNone/>
            </a:pPr>
            <a:r>
              <a:rPr lang="en-US" sz="1600" b="1" dirty="0">
                <a:solidFill>
                  <a:srgbClr val="E8613A"/>
                </a:solidFill>
                <a:latin typeface="Inter" pitchFamily="34" charset="0"/>
                <a:ea typeface="Inter" pitchFamily="34" charset="-122"/>
                <a:cs typeface="Inter" pitchFamily="34" charset="-120"/>
              </a:rPr>
              <a:t>9:00</a:t>
            </a:r>
            <a:endParaRPr lang="en-US" sz="1600" dirty="0"/>
          </a:p>
        </p:txBody>
      </p:sp>
      <p:sp>
        <p:nvSpPr>
          <p:cNvPr id="24" name="txt_52"/>
          <p:cNvSpPr txBox="1"/>
          <p:nvPr/>
        </p:nvSpPr>
        <p:spPr>
          <a:xfrm>
            <a:off x="1737360" y="1417320"/>
            <a:ext cx="4206240" cy="475488"/>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Welcome and introductions</a:t>
            </a:r>
            <a:endParaRPr lang="en-US" sz="1600" dirty="0"/>
          </a:p>
        </p:txBody>
      </p:sp>
      <p:sp>
        <p:nvSpPr>
          <p:cNvPr id="25" name="txt_53"/>
          <p:cNvSpPr txBox="1"/>
          <p:nvPr/>
        </p:nvSpPr>
        <p:spPr>
          <a:xfrm>
            <a:off x="5943600" y="1417320"/>
            <a:ext cx="2057400" cy="475488"/>
          </a:xfrm>
          <a:prstGeom prst="rect">
            <a:avLst/>
          </a:prstGeom>
          <a:noFill/>
          <a:ln/>
        </p:spPr>
        <p:txBody>
          <a:bodyPr wrap="square" lIns="0" tIns="0" rIns="0" bIns="0" rtlCol="0" anchor="ctr"/>
          <a:lstStyle/>
          <a:p>
            <a:pPr algn="r" indent="0" marL="0">
              <a:buNone/>
            </a:pPr>
            <a:r>
              <a:rPr lang="en-US" sz="1300" dirty="0">
                <a:solidFill>
                  <a:srgbClr val="5E6E68"/>
                </a:solidFill>
                <a:latin typeface="Inter" pitchFamily="34" charset="0"/>
                <a:ea typeface="Inter" pitchFamily="34" charset="-122"/>
                <a:cs typeface="Inter" pitchFamily="34" charset="-120"/>
              </a:rPr>
              <a:t>Nick &amp; Saad</a:t>
            </a:r>
            <a:endParaRPr lang="en-US" sz="1300" dirty="0"/>
          </a:p>
        </p:txBody>
      </p:sp>
      <p:sp>
        <p:nvSpPr>
          <p:cNvPr id="26" name="txt_54"/>
          <p:cNvSpPr txBox="1"/>
          <p:nvPr/>
        </p:nvSpPr>
        <p:spPr>
          <a:xfrm>
            <a:off x="731520" y="1929384"/>
            <a:ext cx="914400" cy="475488"/>
          </a:xfrm>
          <a:prstGeom prst="rect">
            <a:avLst/>
          </a:prstGeom>
          <a:noFill/>
          <a:ln/>
        </p:spPr>
        <p:txBody>
          <a:bodyPr wrap="square" lIns="0" tIns="0" rIns="0" bIns="0" rtlCol="0" anchor="ctr"/>
          <a:lstStyle/>
          <a:p>
            <a:pPr indent="0" marL="0">
              <a:buNone/>
            </a:pPr>
            <a:r>
              <a:rPr lang="en-US" sz="1600" b="1" dirty="0">
                <a:solidFill>
                  <a:srgbClr val="E8613A"/>
                </a:solidFill>
                <a:latin typeface="Inter" pitchFamily="34" charset="0"/>
                <a:ea typeface="Inter" pitchFamily="34" charset="-122"/>
                <a:cs typeface="Inter" pitchFamily="34" charset="-120"/>
              </a:rPr>
              <a:t>9:10</a:t>
            </a:r>
            <a:endParaRPr lang="en-US" sz="1600" dirty="0"/>
          </a:p>
        </p:txBody>
      </p:sp>
      <p:sp>
        <p:nvSpPr>
          <p:cNvPr id="27" name="txt_55"/>
          <p:cNvSpPr txBox="1"/>
          <p:nvPr/>
        </p:nvSpPr>
        <p:spPr>
          <a:xfrm>
            <a:off x="1737360" y="1929384"/>
            <a:ext cx="4206240" cy="475488"/>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What is AI, and where are we?</a:t>
            </a:r>
            <a:endParaRPr lang="en-US" sz="1600" dirty="0"/>
          </a:p>
        </p:txBody>
      </p:sp>
      <p:sp>
        <p:nvSpPr>
          <p:cNvPr id="28" name="txt_56"/>
          <p:cNvSpPr txBox="1"/>
          <p:nvPr/>
        </p:nvSpPr>
        <p:spPr>
          <a:xfrm>
            <a:off x="5943600" y="1929384"/>
            <a:ext cx="2057400" cy="475488"/>
          </a:xfrm>
          <a:prstGeom prst="rect">
            <a:avLst/>
          </a:prstGeom>
          <a:noFill/>
          <a:ln/>
        </p:spPr>
        <p:txBody>
          <a:bodyPr wrap="square" lIns="0" tIns="0" rIns="0" bIns="0" rtlCol="0" anchor="ctr"/>
          <a:lstStyle/>
          <a:p>
            <a:pPr algn="r" indent="0" marL="0">
              <a:buNone/>
            </a:pPr>
            <a:r>
              <a:rPr lang="en-US" sz="1300" dirty="0">
                <a:solidFill>
                  <a:srgbClr val="5E6E68"/>
                </a:solidFill>
                <a:latin typeface="Inter" pitchFamily="34" charset="0"/>
                <a:ea typeface="Inter" pitchFamily="34" charset="-122"/>
                <a:cs typeface="Inter" pitchFamily="34" charset="-120"/>
              </a:rPr>
              <a:t>Nick</a:t>
            </a:r>
            <a:endParaRPr lang="en-US" sz="1300" dirty="0"/>
          </a:p>
        </p:txBody>
      </p:sp>
      <p:sp>
        <p:nvSpPr>
          <p:cNvPr id="29" name="card_57"/>
          <p:cNvSpPr/>
          <p:nvPr/>
        </p:nvSpPr>
        <p:spPr>
          <a:xfrm>
            <a:off x="548640" y="2441448"/>
            <a:ext cx="7589520" cy="475488"/>
          </a:xfrm>
          <a:prstGeom prst="roundRect">
            <a:avLst>
              <a:gd name="adj" fmla="val 15385"/>
            </a:avLst>
          </a:prstGeom>
          <a:solidFill>
            <a:srgbClr val="F4F8F6"/>
          </a:solidFill>
          <a:ln w="12700">
            <a:solidFill>
              <a:srgbClr val="F4F8F6"/>
            </a:solidFill>
            <a:prstDash val="solid"/>
          </a:ln>
        </p:spPr>
      </p:sp>
      <p:sp>
        <p:nvSpPr>
          <p:cNvPr id="30" name="txt_58"/>
          <p:cNvSpPr txBox="1"/>
          <p:nvPr/>
        </p:nvSpPr>
        <p:spPr>
          <a:xfrm>
            <a:off x="731520" y="2441448"/>
            <a:ext cx="914400" cy="475488"/>
          </a:xfrm>
          <a:prstGeom prst="rect">
            <a:avLst/>
          </a:prstGeom>
          <a:noFill/>
          <a:ln/>
        </p:spPr>
        <p:txBody>
          <a:bodyPr wrap="square" lIns="0" tIns="0" rIns="0" bIns="0" rtlCol="0" anchor="ctr"/>
          <a:lstStyle/>
          <a:p>
            <a:pPr indent="0" marL="0">
              <a:buNone/>
            </a:pPr>
            <a:r>
              <a:rPr lang="en-US" sz="1600" b="1" dirty="0">
                <a:solidFill>
                  <a:srgbClr val="E8613A"/>
                </a:solidFill>
                <a:latin typeface="Inter" pitchFamily="34" charset="0"/>
                <a:ea typeface="Inter" pitchFamily="34" charset="-122"/>
                <a:cs typeface="Inter" pitchFamily="34" charset="-120"/>
              </a:rPr>
              <a:t>9:25</a:t>
            </a:r>
            <a:endParaRPr lang="en-US" sz="1600" dirty="0"/>
          </a:p>
        </p:txBody>
      </p:sp>
      <p:sp>
        <p:nvSpPr>
          <p:cNvPr id="31" name="txt_59"/>
          <p:cNvSpPr txBox="1"/>
          <p:nvPr/>
        </p:nvSpPr>
        <p:spPr>
          <a:xfrm>
            <a:off x="1737360" y="2441448"/>
            <a:ext cx="4206240" cy="475488"/>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Designing with, not for</a:t>
            </a:r>
            <a:endParaRPr lang="en-US" sz="1600" dirty="0"/>
          </a:p>
        </p:txBody>
      </p:sp>
      <p:sp>
        <p:nvSpPr>
          <p:cNvPr id="32" name="txt_60"/>
          <p:cNvSpPr txBox="1"/>
          <p:nvPr/>
        </p:nvSpPr>
        <p:spPr>
          <a:xfrm>
            <a:off x="5943600" y="2441448"/>
            <a:ext cx="2057400" cy="475488"/>
          </a:xfrm>
          <a:prstGeom prst="rect">
            <a:avLst/>
          </a:prstGeom>
          <a:noFill/>
          <a:ln/>
        </p:spPr>
        <p:txBody>
          <a:bodyPr wrap="square" lIns="0" tIns="0" rIns="0" bIns="0" rtlCol="0" anchor="ctr"/>
          <a:lstStyle/>
          <a:p>
            <a:pPr algn="r" indent="0" marL="0">
              <a:buNone/>
            </a:pPr>
            <a:r>
              <a:rPr lang="en-US" sz="1300" dirty="0">
                <a:solidFill>
                  <a:srgbClr val="5E6E68"/>
                </a:solidFill>
                <a:latin typeface="Inter" pitchFamily="34" charset="0"/>
                <a:ea typeface="Inter" pitchFamily="34" charset="-122"/>
                <a:cs typeface="Inter" pitchFamily="34" charset="-120"/>
              </a:rPr>
              <a:t>Saad</a:t>
            </a:r>
            <a:endParaRPr lang="en-US" sz="1300" dirty="0"/>
          </a:p>
        </p:txBody>
      </p:sp>
      <p:sp>
        <p:nvSpPr>
          <p:cNvPr id="33" name="txt_61"/>
          <p:cNvSpPr txBox="1"/>
          <p:nvPr/>
        </p:nvSpPr>
        <p:spPr>
          <a:xfrm>
            <a:off x="731520" y="2953512"/>
            <a:ext cx="914400" cy="475488"/>
          </a:xfrm>
          <a:prstGeom prst="rect">
            <a:avLst/>
          </a:prstGeom>
          <a:noFill/>
          <a:ln/>
        </p:spPr>
        <p:txBody>
          <a:bodyPr wrap="square" lIns="0" tIns="0" rIns="0" bIns="0" rtlCol="0" anchor="ctr"/>
          <a:lstStyle/>
          <a:p>
            <a:pPr indent="0" marL="0">
              <a:buNone/>
            </a:pPr>
            <a:r>
              <a:rPr lang="en-US" sz="1600" b="1" dirty="0">
                <a:solidFill>
                  <a:srgbClr val="E8613A"/>
                </a:solidFill>
                <a:latin typeface="Inter" pitchFamily="34" charset="0"/>
                <a:ea typeface="Inter" pitchFamily="34" charset="-122"/>
                <a:cs typeface="Inter" pitchFamily="34" charset="-120"/>
              </a:rPr>
              <a:t>9:40</a:t>
            </a:r>
            <a:endParaRPr lang="en-US" sz="1600" dirty="0"/>
          </a:p>
        </p:txBody>
      </p:sp>
      <p:sp>
        <p:nvSpPr>
          <p:cNvPr id="34" name="txt_62"/>
          <p:cNvSpPr txBox="1"/>
          <p:nvPr/>
        </p:nvSpPr>
        <p:spPr>
          <a:xfrm>
            <a:off x="1737360" y="2953512"/>
            <a:ext cx="4206240" cy="475488"/>
          </a:xfrm>
          <a:prstGeom prst="rect">
            <a:avLst/>
          </a:prstGeom>
          <a:noFill/>
          <a:ln/>
        </p:spPr>
        <p:txBody>
          <a:bodyPr wrap="square" lIns="0" tIns="0" rIns="0" bIns="0" rtlCol="0" anchor="ctr"/>
          <a:lstStyle/>
          <a:p>
            <a:pPr indent="0" marL="0">
              <a:buNone/>
            </a:pPr>
            <a:r>
              <a:rPr lang="en-US" sz="1600" b="1" dirty="0">
                <a:solidFill>
                  <a:srgbClr val="13221D"/>
                </a:solidFill>
                <a:latin typeface="Inter" pitchFamily="34" charset="0"/>
                <a:ea typeface="Inter" pitchFamily="34" charset="-122"/>
                <a:cs typeface="Inter" pitchFamily="34" charset="-120"/>
              </a:rPr>
              <a:t>Reflect: your one problem</a:t>
            </a:r>
            <a:endParaRPr lang="en-US" sz="1600" dirty="0"/>
          </a:p>
        </p:txBody>
      </p:sp>
      <p:sp>
        <p:nvSpPr>
          <p:cNvPr id="35" name="txt_63"/>
          <p:cNvSpPr txBox="1"/>
          <p:nvPr/>
        </p:nvSpPr>
        <p:spPr>
          <a:xfrm>
            <a:off x="5943600" y="2953512"/>
            <a:ext cx="2057400" cy="475488"/>
          </a:xfrm>
          <a:prstGeom prst="rect">
            <a:avLst/>
          </a:prstGeom>
          <a:noFill/>
          <a:ln/>
        </p:spPr>
        <p:txBody>
          <a:bodyPr wrap="square" lIns="0" tIns="0" rIns="0" bIns="0" rtlCol="0" anchor="ctr"/>
          <a:lstStyle/>
          <a:p>
            <a:pPr algn="r" indent="0" marL="0">
              <a:buNone/>
            </a:pPr>
            <a:r>
              <a:rPr lang="en-US" sz="1300" dirty="0">
                <a:solidFill>
                  <a:srgbClr val="5E6E68"/>
                </a:solidFill>
                <a:latin typeface="Inter" pitchFamily="34" charset="0"/>
                <a:ea typeface="Inter" pitchFamily="34" charset="-122"/>
                <a:cs typeface="Inter" pitchFamily="34" charset="-120"/>
              </a:rPr>
              <a:t>Everyone</a:t>
            </a:r>
            <a:endParaRPr lang="en-US" sz="1300" dirty="0"/>
          </a:p>
        </p:txBody>
      </p:sp>
      <p:sp>
        <p:nvSpPr>
          <p:cNvPr id="36" name="card_64"/>
          <p:cNvSpPr/>
          <p:nvPr/>
        </p:nvSpPr>
        <p:spPr>
          <a:xfrm>
            <a:off x="548640" y="3465576"/>
            <a:ext cx="7589520" cy="475488"/>
          </a:xfrm>
          <a:prstGeom prst="roundRect">
            <a:avLst>
              <a:gd name="adj" fmla="val 15385"/>
            </a:avLst>
          </a:prstGeom>
          <a:solidFill>
            <a:srgbClr val="F4F8F6"/>
          </a:solidFill>
          <a:ln w="12700">
            <a:solidFill>
              <a:srgbClr val="F4F8F6"/>
            </a:solidFill>
            <a:prstDash val="solid"/>
          </a:ln>
        </p:spPr>
      </p:sp>
      <p:sp>
        <p:nvSpPr>
          <p:cNvPr id="37" name="txt_65"/>
          <p:cNvSpPr txBox="1"/>
          <p:nvPr/>
        </p:nvSpPr>
        <p:spPr>
          <a:xfrm>
            <a:off x="731520" y="3465576"/>
            <a:ext cx="914400" cy="475488"/>
          </a:xfrm>
          <a:prstGeom prst="rect">
            <a:avLst/>
          </a:prstGeom>
          <a:noFill/>
          <a:ln/>
        </p:spPr>
        <p:txBody>
          <a:bodyPr wrap="square" lIns="0" tIns="0" rIns="0" bIns="0" rtlCol="0" anchor="ctr"/>
          <a:lstStyle/>
          <a:p>
            <a:pPr indent="0" marL="0">
              <a:buNone/>
            </a:pPr>
            <a:r>
              <a:rPr lang="en-US" sz="1600" b="1" dirty="0">
                <a:solidFill>
                  <a:srgbClr val="E8613A"/>
                </a:solidFill>
                <a:latin typeface="Inter" pitchFamily="34" charset="0"/>
                <a:ea typeface="Inter" pitchFamily="34" charset="-122"/>
                <a:cs typeface="Inter" pitchFamily="34" charset="-120"/>
              </a:rPr>
              <a:t>9:55</a:t>
            </a:r>
            <a:endParaRPr lang="en-US" sz="1600" dirty="0"/>
          </a:p>
        </p:txBody>
      </p:sp>
      <p:sp>
        <p:nvSpPr>
          <p:cNvPr id="38" name="txt_66"/>
          <p:cNvSpPr txBox="1"/>
          <p:nvPr/>
        </p:nvSpPr>
        <p:spPr>
          <a:xfrm>
            <a:off x="1737360" y="3465576"/>
            <a:ext cx="4206240" cy="475488"/>
          </a:xfrm>
          <a:prstGeom prst="rect">
            <a:avLst/>
          </a:prstGeom>
          <a:noFill/>
          <a:ln/>
        </p:spPr>
        <p:txBody>
          <a:bodyPr wrap="square" lIns="0" tIns="0" rIns="0" bIns="0" rtlCol="0" anchor="ctr"/>
          <a:lstStyle/>
          <a:p>
            <a:pPr indent="0" marL="0">
              <a:buNone/>
            </a:pPr>
            <a:r>
              <a:rPr lang="en-US" sz="1600" b="1" dirty="0">
                <a:solidFill>
                  <a:srgbClr val="13221D"/>
                </a:solidFill>
                <a:latin typeface="Inter" pitchFamily="34" charset="0"/>
                <a:ea typeface="Inter" pitchFamily="34" charset="-122"/>
                <a:cs typeface="Inter" pitchFamily="34" charset="-120"/>
              </a:rPr>
              <a:t>Share-outs</a:t>
            </a:r>
            <a:endParaRPr lang="en-US" sz="1600" dirty="0"/>
          </a:p>
        </p:txBody>
      </p:sp>
      <p:sp>
        <p:nvSpPr>
          <p:cNvPr id="39" name="txt_67"/>
          <p:cNvSpPr txBox="1"/>
          <p:nvPr/>
        </p:nvSpPr>
        <p:spPr>
          <a:xfrm>
            <a:off x="5943600" y="3465576"/>
            <a:ext cx="2057400" cy="475488"/>
          </a:xfrm>
          <a:prstGeom prst="rect">
            <a:avLst/>
          </a:prstGeom>
          <a:noFill/>
          <a:ln/>
        </p:spPr>
        <p:txBody>
          <a:bodyPr wrap="square" lIns="0" tIns="0" rIns="0" bIns="0" rtlCol="0" anchor="ctr"/>
          <a:lstStyle/>
          <a:p>
            <a:pPr algn="r" indent="0" marL="0">
              <a:buNone/>
            </a:pPr>
            <a:r>
              <a:rPr lang="en-US" sz="1300" dirty="0">
                <a:solidFill>
                  <a:srgbClr val="5E6E68"/>
                </a:solidFill>
                <a:latin typeface="Inter" pitchFamily="34" charset="0"/>
                <a:ea typeface="Inter" pitchFamily="34" charset="-122"/>
                <a:cs typeface="Inter" pitchFamily="34" charset="-120"/>
              </a:rPr>
              <a:t>Everyone</a:t>
            </a:r>
            <a:endParaRPr lang="en-US" sz="1300" dirty="0"/>
          </a:p>
        </p:txBody>
      </p:sp>
      <p:sp>
        <p:nvSpPr>
          <p:cNvPr id="40" name="txt_68"/>
          <p:cNvSpPr txBox="1"/>
          <p:nvPr/>
        </p:nvSpPr>
        <p:spPr>
          <a:xfrm>
            <a:off x="731520" y="3977640"/>
            <a:ext cx="914400" cy="475488"/>
          </a:xfrm>
          <a:prstGeom prst="rect">
            <a:avLst/>
          </a:prstGeom>
          <a:noFill/>
          <a:ln/>
        </p:spPr>
        <p:txBody>
          <a:bodyPr wrap="square" lIns="0" tIns="0" rIns="0" bIns="0" rtlCol="0" anchor="ctr"/>
          <a:lstStyle/>
          <a:p>
            <a:pPr indent="0" marL="0">
              <a:buNone/>
            </a:pPr>
            <a:r>
              <a:rPr lang="en-US" sz="1600" b="1" dirty="0">
                <a:solidFill>
                  <a:srgbClr val="E8613A"/>
                </a:solidFill>
                <a:latin typeface="Inter" pitchFamily="34" charset="0"/>
                <a:ea typeface="Inter" pitchFamily="34" charset="-122"/>
                <a:cs typeface="Inter" pitchFamily="34" charset="-120"/>
              </a:rPr>
              <a:t>10:10</a:t>
            </a:r>
            <a:endParaRPr lang="en-US" sz="1600" dirty="0"/>
          </a:p>
        </p:txBody>
      </p:sp>
      <p:sp>
        <p:nvSpPr>
          <p:cNvPr id="41" name="txt_69"/>
          <p:cNvSpPr txBox="1"/>
          <p:nvPr/>
        </p:nvSpPr>
        <p:spPr>
          <a:xfrm>
            <a:off x="1737360" y="3977640"/>
            <a:ext cx="4206240" cy="475488"/>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Break</a:t>
            </a:r>
            <a:endParaRPr lang="en-US" sz="1600" dirty="0"/>
          </a:p>
        </p:txBody>
      </p:sp>
      <p:sp>
        <p:nvSpPr>
          <p:cNvPr id="42" name="txt_70"/>
          <p:cNvSpPr txBox="1"/>
          <p:nvPr/>
        </p:nvSpPr>
        <p:spPr>
          <a:xfrm>
            <a:off x="5943600" y="3977640"/>
            <a:ext cx="2057400" cy="475488"/>
          </a:xfrm>
          <a:prstGeom prst="rect">
            <a:avLst/>
          </a:prstGeom>
          <a:noFill/>
          <a:ln/>
        </p:spPr>
        <p:txBody>
          <a:bodyPr wrap="square" lIns="0" tIns="0" rIns="0" bIns="0" rtlCol="0" anchor="ctr"/>
          <a:lstStyle/>
          <a:p>
            <a:pPr algn="r" indent="0" marL="0">
              <a:buNone/>
            </a:pPr>
            <a:r>
              <a:rPr lang="en-US" sz="1300" dirty="0">
                <a:solidFill>
                  <a:srgbClr val="5E6E68"/>
                </a:solidFill>
                <a:latin typeface="Inter" pitchFamily="34" charset="0"/>
                <a:ea typeface="Inter" pitchFamily="34" charset="-122"/>
                <a:cs typeface="Inter" pitchFamily="34" charset="-120"/>
              </a:rPr>
              <a:t>We cluster your ideas</a:t>
            </a:r>
            <a:endParaRPr lang="en-US" sz="1300" dirty="0"/>
          </a:p>
        </p:txBody>
      </p:sp>
      <p:sp>
        <p:nvSpPr>
          <p:cNvPr id="43" name="card_71"/>
          <p:cNvSpPr/>
          <p:nvPr/>
        </p:nvSpPr>
        <p:spPr>
          <a:xfrm>
            <a:off x="548640" y="4489704"/>
            <a:ext cx="7589520" cy="475488"/>
          </a:xfrm>
          <a:prstGeom prst="roundRect">
            <a:avLst>
              <a:gd name="adj" fmla="val 15385"/>
            </a:avLst>
          </a:prstGeom>
          <a:solidFill>
            <a:srgbClr val="F4F8F6"/>
          </a:solidFill>
          <a:ln w="12700">
            <a:solidFill>
              <a:srgbClr val="F4F8F6"/>
            </a:solidFill>
            <a:prstDash val="solid"/>
          </a:ln>
        </p:spPr>
      </p:sp>
      <p:sp>
        <p:nvSpPr>
          <p:cNvPr id="44" name="txt_72"/>
          <p:cNvSpPr txBox="1"/>
          <p:nvPr/>
        </p:nvSpPr>
        <p:spPr>
          <a:xfrm>
            <a:off x="731520" y="4489704"/>
            <a:ext cx="914400" cy="475488"/>
          </a:xfrm>
          <a:prstGeom prst="rect">
            <a:avLst/>
          </a:prstGeom>
          <a:noFill/>
          <a:ln/>
        </p:spPr>
        <p:txBody>
          <a:bodyPr wrap="square" lIns="0" tIns="0" rIns="0" bIns="0" rtlCol="0" anchor="ctr"/>
          <a:lstStyle/>
          <a:p>
            <a:pPr indent="0" marL="0">
              <a:buNone/>
            </a:pPr>
            <a:r>
              <a:rPr lang="en-US" sz="1600" b="1" dirty="0">
                <a:solidFill>
                  <a:srgbClr val="E8613A"/>
                </a:solidFill>
                <a:latin typeface="Inter" pitchFamily="34" charset="0"/>
                <a:ea typeface="Inter" pitchFamily="34" charset="-122"/>
                <a:cs typeface="Inter" pitchFamily="34" charset="-120"/>
              </a:rPr>
              <a:t>10:25</a:t>
            </a:r>
            <a:endParaRPr lang="en-US" sz="1600" dirty="0"/>
          </a:p>
        </p:txBody>
      </p:sp>
      <p:sp>
        <p:nvSpPr>
          <p:cNvPr id="45" name="txt_73"/>
          <p:cNvSpPr txBox="1"/>
          <p:nvPr/>
        </p:nvSpPr>
        <p:spPr>
          <a:xfrm>
            <a:off x="1737360" y="4489704"/>
            <a:ext cx="4206240" cy="475488"/>
          </a:xfrm>
          <a:prstGeom prst="rect">
            <a:avLst/>
          </a:prstGeom>
          <a:noFill/>
          <a:ln/>
        </p:spPr>
        <p:txBody>
          <a:bodyPr wrap="square" lIns="0" tIns="0" rIns="0" bIns="0" rtlCol="0" anchor="ctr"/>
          <a:lstStyle/>
          <a:p>
            <a:pPr indent="0" marL="0">
              <a:buNone/>
            </a:pPr>
            <a:r>
              <a:rPr lang="en-US" sz="1600" b="1" dirty="0">
                <a:solidFill>
                  <a:srgbClr val="13221D"/>
                </a:solidFill>
                <a:latin typeface="Inter" pitchFamily="34" charset="0"/>
                <a:ea typeface="Inter" pitchFamily="34" charset="-122"/>
                <a:cs typeface="Inter" pitchFamily="34" charset="-120"/>
              </a:rPr>
              <a:t>Breakout groups: three rounds</a:t>
            </a:r>
            <a:endParaRPr lang="en-US" sz="1600" dirty="0"/>
          </a:p>
        </p:txBody>
      </p:sp>
      <p:sp>
        <p:nvSpPr>
          <p:cNvPr id="46" name="txt_74"/>
          <p:cNvSpPr txBox="1"/>
          <p:nvPr/>
        </p:nvSpPr>
        <p:spPr>
          <a:xfrm>
            <a:off x="5943600" y="4489704"/>
            <a:ext cx="2057400" cy="475488"/>
          </a:xfrm>
          <a:prstGeom prst="rect">
            <a:avLst/>
          </a:prstGeom>
          <a:noFill/>
          <a:ln/>
        </p:spPr>
        <p:txBody>
          <a:bodyPr wrap="square" lIns="0" tIns="0" rIns="0" bIns="0" rtlCol="0" anchor="ctr"/>
          <a:lstStyle/>
          <a:p>
            <a:pPr algn="r" indent="0" marL="0">
              <a:buNone/>
            </a:pPr>
            <a:r>
              <a:rPr lang="en-US" sz="1300" dirty="0">
                <a:solidFill>
                  <a:srgbClr val="5E6E68"/>
                </a:solidFill>
                <a:latin typeface="Inter" pitchFamily="34" charset="0"/>
                <a:ea typeface="Inter" pitchFamily="34" charset="-122"/>
                <a:cs typeface="Inter" pitchFamily="34" charset="-120"/>
              </a:rPr>
              <a:t>Two groups</a:t>
            </a:r>
            <a:endParaRPr lang="en-US" sz="1300" dirty="0"/>
          </a:p>
        </p:txBody>
      </p:sp>
      <p:sp>
        <p:nvSpPr>
          <p:cNvPr id="47" name="txt_75"/>
          <p:cNvSpPr txBox="1"/>
          <p:nvPr/>
        </p:nvSpPr>
        <p:spPr>
          <a:xfrm>
            <a:off x="731520" y="5001768"/>
            <a:ext cx="914400" cy="475488"/>
          </a:xfrm>
          <a:prstGeom prst="rect">
            <a:avLst/>
          </a:prstGeom>
          <a:noFill/>
          <a:ln/>
        </p:spPr>
        <p:txBody>
          <a:bodyPr wrap="square" lIns="0" tIns="0" rIns="0" bIns="0" rtlCol="0" anchor="ctr"/>
          <a:lstStyle/>
          <a:p>
            <a:pPr indent="0" marL="0">
              <a:buNone/>
            </a:pPr>
            <a:r>
              <a:rPr lang="en-US" sz="1600" b="1" dirty="0">
                <a:solidFill>
                  <a:srgbClr val="E8613A"/>
                </a:solidFill>
                <a:latin typeface="Inter" pitchFamily="34" charset="0"/>
                <a:ea typeface="Inter" pitchFamily="34" charset="-122"/>
                <a:cs typeface="Inter" pitchFamily="34" charset="-120"/>
              </a:rPr>
              <a:t>11:10</a:t>
            </a:r>
            <a:endParaRPr lang="en-US" sz="1600" dirty="0"/>
          </a:p>
        </p:txBody>
      </p:sp>
      <p:sp>
        <p:nvSpPr>
          <p:cNvPr id="48" name="txt_76"/>
          <p:cNvSpPr txBox="1"/>
          <p:nvPr/>
        </p:nvSpPr>
        <p:spPr>
          <a:xfrm>
            <a:off x="1737360" y="5001768"/>
            <a:ext cx="4206240" cy="475488"/>
          </a:xfrm>
          <a:prstGeom prst="rect">
            <a:avLst/>
          </a:prstGeom>
          <a:noFill/>
          <a:ln/>
        </p:spPr>
        <p:txBody>
          <a:bodyPr wrap="square" lIns="0" tIns="0" rIns="0" bIns="0" rtlCol="0" anchor="ctr"/>
          <a:lstStyle/>
          <a:p>
            <a:pPr indent="0" marL="0">
              <a:buNone/>
            </a:pPr>
            <a:r>
              <a:rPr lang="en-US" sz="1600" b="1" dirty="0">
                <a:solidFill>
                  <a:srgbClr val="13221D"/>
                </a:solidFill>
                <a:latin typeface="Inter" pitchFamily="34" charset="0"/>
                <a:ea typeface="Inter" pitchFamily="34" charset="-122"/>
                <a:cs typeface="Inter" pitchFamily="34" charset="-120"/>
              </a:rPr>
              <a:t>Report back</a:t>
            </a:r>
            <a:endParaRPr lang="en-US" sz="1600" dirty="0"/>
          </a:p>
        </p:txBody>
      </p:sp>
      <p:sp>
        <p:nvSpPr>
          <p:cNvPr id="49" name="txt_77"/>
          <p:cNvSpPr txBox="1"/>
          <p:nvPr/>
        </p:nvSpPr>
        <p:spPr>
          <a:xfrm>
            <a:off x="5943600" y="5001768"/>
            <a:ext cx="2057400" cy="475488"/>
          </a:xfrm>
          <a:prstGeom prst="rect">
            <a:avLst/>
          </a:prstGeom>
          <a:noFill/>
          <a:ln/>
        </p:spPr>
        <p:txBody>
          <a:bodyPr wrap="square" lIns="0" tIns="0" rIns="0" bIns="0" rtlCol="0" anchor="ctr"/>
          <a:lstStyle/>
          <a:p>
            <a:pPr algn="r" indent="0" marL="0">
              <a:buNone/>
            </a:pPr>
            <a:r>
              <a:rPr lang="en-US" sz="1300" dirty="0">
                <a:solidFill>
                  <a:srgbClr val="5E6E68"/>
                </a:solidFill>
                <a:latin typeface="Inter" pitchFamily="34" charset="0"/>
                <a:ea typeface="Inter" pitchFamily="34" charset="-122"/>
                <a:cs typeface="Inter" pitchFamily="34" charset="-120"/>
              </a:rPr>
              <a:t>Each group</a:t>
            </a:r>
            <a:endParaRPr lang="en-US" sz="1300" dirty="0"/>
          </a:p>
        </p:txBody>
      </p:sp>
      <p:sp>
        <p:nvSpPr>
          <p:cNvPr id="50" name="card_78"/>
          <p:cNvSpPr/>
          <p:nvPr/>
        </p:nvSpPr>
        <p:spPr>
          <a:xfrm>
            <a:off x="548640" y="5513832"/>
            <a:ext cx="7589520" cy="475488"/>
          </a:xfrm>
          <a:prstGeom prst="roundRect">
            <a:avLst>
              <a:gd name="adj" fmla="val 15385"/>
            </a:avLst>
          </a:prstGeom>
          <a:solidFill>
            <a:srgbClr val="F4F8F6"/>
          </a:solidFill>
          <a:ln w="12700">
            <a:solidFill>
              <a:srgbClr val="F4F8F6"/>
            </a:solidFill>
            <a:prstDash val="solid"/>
          </a:ln>
        </p:spPr>
      </p:sp>
      <p:sp>
        <p:nvSpPr>
          <p:cNvPr id="51" name="txt_79"/>
          <p:cNvSpPr txBox="1"/>
          <p:nvPr/>
        </p:nvSpPr>
        <p:spPr>
          <a:xfrm>
            <a:off x="731520" y="5513832"/>
            <a:ext cx="914400" cy="475488"/>
          </a:xfrm>
          <a:prstGeom prst="rect">
            <a:avLst/>
          </a:prstGeom>
          <a:noFill/>
          <a:ln/>
        </p:spPr>
        <p:txBody>
          <a:bodyPr wrap="square" lIns="0" tIns="0" rIns="0" bIns="0" rtlCol="0" anchor="ctr"/>
          <a:lstStyle/>
          <a:p>
            <a:pPr indent="0" marL="0">
              <a:buNone/>
            </a:pPr>
            <a:r>
              <a:rPr lang="en-US" sz="1600" b="1" dirty="0">
                <a:solidFill>
                  <a:srgbClr val="E8613A"/>
                </a:solidFill>
                <a:latin typeface="Inter" pitchFamily="34" charset="0"/>
                <a:ea typeface="Inter" pitchFamily="34" charset="-122"/>
                <a:cs typeface="Inter" pitchFamily="34" charset="-120"/>
              </a:rPr>
              <a:t>11:20</a:t>
            </a:r>
            <a:endParaRPr lang="en-US" sz="1600" dirty="0"/>
          </a:p>
        </p:txBody>
      </p:sp>
      <p:sp>
        <p:nvSpPr>
          <p:cNvPr id="52" name="txt_80"/>
          <p:cNvSpPr txBox="1"/>
          <p:nvPr/>
        </p:nvSpPr>
        <p:spPr>
          <a:xfrm>
            <a:off x="1737360" y="5513832"/>
            <a:ext cx="4206240" cy="475488"/>
          </a:xfrm>
          <a:prstGeom prst="rect">
            <a:avLst/>
          </a:prstGeom>
          <a:noFill/>
          <a:ln/>
        </p:spPr>
        <p:txBody>
          <a:bodyPr wrap="square" lIns="0" tIns="0" rIns="0" bIns="0" rtlCol="0" anchor="ctr"/>
          <a:lstStyle/>
          <a:p>
            <a:pPr indent="0" marL="0">
              <a:buNone/>
            </a:pPr>
            <a:r>
              <a:rPr lang="en-US" sz="1600" b="1" dirty="0">
                <a:solidFill>
                  <a:srgbClr val="13221D"/>
                </a:solidFill>
                <a:latin typeface="Inter" pitchFamily="34" charset="0"/>
                <a:ea typeface="Inter" pitchFamily="34" charset="-122"/>
                <a:cs typeface="Inter" pitchFamily="34" charset="-120"/>
              </a:rPr>
              <a:t>Debrief and next steps</a:t>
            </a:r>
            <a:endParaRPr lang="en-US" sz="1600" dirty="0"/>
          </a:p>
        </p:txBody>
      </p:sp>
      <p:sp>
        <p:nvSpPr>
          <p:cNvPr id="53" name="txt_81"/>
          <p:cNvSpPr txBox="1"/>
          <p:nvPr/>
        </p:nvSpPr>
        <p:spPr>
          <a:xfrm>
            <a:off x="5943600" y="5513832"/>
            <a:ext cx="2057400" cy="475488"/>
          </a:xfrm>
          <a:prstGeom prst="rect">
            <a:avLst/>
          </a:prstGeom>
          <a:noFill/>
          <a:ln/>
        </p:spPr>
        <p:txBody>
          <a:bodyPr wrap="square" lIns="0" tIns="0" rIns="0" bIns="0" rtlCol="0" anchor="ctr"/>
          <a:lstStyle/>
          <a:p>
            <a:pPr algn="r" indent="0" marL="0">
              <a:buNone/>
            </a:pPr>
            <a:r>
              <a:rPr lang="en-US" sz="1300" dirty="0">
                <a:solidFill>
                  <a:srgbClr val="5E6E68"/>
                </a:solidFill>
                <a:latin typeface="Inter" pitchFamily="34" charset="0"/>
                <a:ea typeface="Inter" pitchFamily="34" charset="-122"/>
                <a:cs typeface="Inter" pitchFamily="34" charset="-120"/>
              </a:rPr>
              <a:t>Everyone</a:t>
            </a:r>
            <a:endParaRPr lang="en-US" sz="1300" dirty="0"/>
          </a:p>
        </p:txBody>
      </p:sp>
      <p:sp>
        <p:nvSpPr>
          <p:cNvPr id="54" name="card_82"/>
          <p:cNvSpPr/>
          <p:nvPr/>
        </p:nvSpPr>
        <p:spPr>
          <a:xfrm>
            <a:off x="8778240" y="1600200"/>
            <a:ext cx="2834640" cy="2834640"/>
          </a:xfrm>
          <a:prstGeom prst="roundRect">
            <a:avLst>
              <a:gd name="adj" fmla="val 4839"/>
            </a:avLst>
          </a:prstGeom>
          <a:solidFill>
            <a:srgbClr val="FFFFFF"/>
          </a:solidFill>
          <a:ln w="12700">
            <a:solidFill>
              <a:srgbClr val="D9E1DD"/>
            </a:solidFill>
            <a:prstDash val="solid"/>
          </a:ln>
        </p:spPr>
      </p:sp>
      <p:pic>
        <p:nvPicPr>
          <p:cNvPr id="55" name="qr_83" descr="QR code linking to saadh.info/pace2">    </p:cNvPr>
          <p:cNvPicPr>
            <a:picLocks noChangeAspect="1"/>
          </p:cNvPicPr>
          <p:nvPr/>
        </p:nvPicPr>
        <p:blipFill>
          <a:blip r:embed="rId1"/>
          <a:stretch>
            <a:fillRect/>
          </a:stretch>
        </p:blipFill>
        <p:spPr>
          <a:xfrm>
            <a:off x="8961120" y="1783080"/>
            <a:ext cx="2468880" cy="2468880"/>
          </a:xfrm>
          <a:prstGeom prst="rect">
            <a:avLst/>
          </a:prstGeom>
        </p:spPr>
      </p:pic>
      <p:sp>
        <p:nvSpPr>
          <p:cNvPr id="56" name="txt_84"/>
          <p:cNvSpPr txBox="1"/>
          <p:nvPr/>
        </p:nvSpPr>
        <p:spPr>
          <a:xfrm>
            <a:off x="8778240" y="4617720"/>
            <a:ext cx="2834640" cy="320040"/>
          </a:xfrm>
          <a:prstGeom prst="rect">
            <a:avLst/>
          </a:prstGeom>
          <a:noFill/>
          <a:ln/>
        </p:spPr>
        <p:txBody>
          <a:bodyPr wrap="square" lIns="0" tIns="0" rIns="0" bIns="0" rtlCol="0" anchor="t"/>
          <a:lstStyle/>
          <a:p>
            <a:pPr algn="ctr" indent="0" marL="0">
              <a:buNone/>
            </a:pPr>
            <a:r>
              <a:rPr lang="en-US" sz="1400" dirty="0">
                <a:solidFill>
                  <a:srgbClr val="5E6E68"/>
                </a:solidFill>
                <a:latin typeface="Inter" pitchFamily="34" charset="0"/>
                <a:ea typeface="Inter" pitchFamily="34" charset="-122"/>
                <a:cs typeface="Inter" pitchFamily="34" charset="-120"/>
              </a:rPr>
              <a:t>Slides, readings, and links</a:t>
            </a:r>
            <a:endParaRPr lang="en-US" sz="1400" dirty="0"/>
          </a:p>
        </p:txBody>
      </p:sp>
      <p:sp>
        <p:nvSpPr>
          <p:cNvPr id="57" name="txt_85"/>
          <p:cNvSpPr txBox="1"/>
          <p:nvPr/>
        </p:nvSpPr>
        <p:spPr>
          <a:xfrm>
            <a:off x="8778240" y="4937760"/>
            <a:ext cx="2834640" cy="411480"/>
          </a:xfrm>
          <a:prstGeom prst="rect">
            <a:avLst/>
          </a:prstGeom>
          <a:noFill/>
          <a:ln/>
        </p:spPr>
        <p:txBody>
          <a:bodyPr wrap="square" lIns="0" tIns="0" rIns="0" bIns="0" rtlCol="0" anchor="t"/>
          <a:lstStyle/>
          <a:p>
            <a:pPr algn="ctr" indent="0" marL="0">
              <a:buNone/>
            </a:pPr>
            <a:r>
              <a:rPr lang="en-US" sz="2000" b="1" u="sng" dirty="0">
                <a:solidFill>
                  <a:srgbClr val="1E6B4F"/>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saadh.info/pace2</a:t>
            </a:r>
            <a:endParaRPr lang="en-US" sz="2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Introductions</a:t>
            </a:r>
            <a:endParaRPr lang="en-US" sz="3000" dirty="0"/>
          </a:p>
        </p:txBody>
      </p:sp>
      <p:sp>
        <p:nvSpPr>
          <p:cNvPr id="3" name="time_chip_8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9:00 – 9:10  ·  10 min</a:t>
            </a:r>
            <a:endParaRPr lang="en-US" sz="1400" dirty="0"/>
          </a:p>
        </p:txBody>
      </p:sp>
      <p:sp>
        <p:nvSpPr>
          <p:cNvPr id="4" name="prog_welcome_87"/>
          <p:cNvSpPr/>
          <p:nvPr/>
        </p:nvSpPr>
        <p:spPr>
          <a:xfrm>
            <a:off x="548640" y="6400800"/>
            <a:ext cx="715244" cy="73152"/>
          </a:xfrm>
          <a:prstGeom prst="rect">
            <a:avLst/>
          </a:prstGeom>
          <a:solidFill>
            <a:srgbClr val="E8613A"/>
          </a:solidFill>
          <a:ln w="12700">
            <a:solidFill>
              <a:srgbClr val="E8613A"/>
            </a:solidFill>
            <a:prstDash val="solid"/>
          </a:ln>
        </p:spPr>
      </p:sp>
      <p:sp>
        <p:nvSpPr>
          <p:cNvPr id="5" name="prog_lbl_welcome_88"/>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6" name="prog_ai_89"/>
          <p:cNvSpPr/>
          <p:nvPr/>
        </p:nvSpPr>
        <p:spPr>
          <a:xfrm>
            <a:off x="1309604" y="6400800"/>
            <a:ext cx="1072866" cy="73152"/>
          </a:xfrm>
          <a:prstGeom prst="rect">
            <a:avLst/>
          </a:prstGeom>
          <a:solidFill>
            <a:srgbClr val="D9E1DD"/>
          </a:solidFill>
          <a:ln w="12700">
            <a:solidFill>
              <a:srgbClr val="D9E1DD"/>
            </a:solidFill>
            <a:prstDash val="solid"/>
          </a:ln>
        </p:spPr>
      </p:sp>
      <p:sp>
        <p:nvSpPr>
          <p:cNvPr id="7" name="prog_lbl_ai_90"/>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AI</a:t>
            </a:r>
            <a:endParaRPr lang="en-US" sz="1000" dirty="0"/>
          </a:p>
        </p:txBody>
      </p:sp>
      <p:sp>
        <p:nvSpPr>
          <p:cNvPr id="8" name="prog_pd_91"/>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92"/>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93"/>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94"/>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95"/>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96"/>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97"/>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98"/>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99"/>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100"/>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01"/>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102"/>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03"/>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104"/>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105"/>
          <p:cNvSpPr/>
          <p:nvPr/>
        </p:nvSpPr>
        <p:spPr>
          <a:xfrm>
            <a:off x="548640" y="1463040"/>
            <a:ext cx="3749040" cy="4572000"/>
          </a:xfrm>
          <a:prstGeom prst="roundRect">
            <a:avLst>
              <a:gd name="adj" fmla="val 4878"/>
            </a:avLst>
          </a:prstGeom>
          <a:solidFill>
            <a:srgbClr val="E8F2ED"/>
          </a:solidFill>
          <a:ln w="12700">
            <a:solidFill>
              <a:srgbClr val="E8F2ED"/>
            </a:solidFill>
            <a:prstDash val="solid"/>
          </a:ln>
        </p:spPr>
      </p:sp>
      <p:pic>
        <p:nvPicPr>
          <p:cNvPr id="23" name="headshot_106" descr="Headshot of Nicholas Mattei">    </p:cNvPr>
          <p:cNvPicPr>
            <a:picLocks noChangeAspect="1"/>
          </p:cNvPicPr>
          <p:nvPr/>
        </p:nvPicPr>
        <p:blipFill>
          <a:blip r:embed="rId1"/>
          <a:stretch>
            <a:fillRect/>
          </a:stretch>
        </p:blipFill>
        <p:spPr>
          <a:xfrm>
            <a:off x="1097280" y="1691640"/>
            <a:ext cx="2651760" cy="2651760"/>
          </a:xfrm>
          <a:prstGeom prst="rect">
            <a:avLst/>
          </a:prstGeom>
        </p:spPr>
      </p:pic>
      <p:sp>
        <p:nvSpPr>
          <p:cNvPr id="24" name="txt_107"/>
          <p:cNvSpPr txBox="1"/>
          <p:nvPr/>
        </p:nvSpPr>
        <p:spPr>
          <a:xfrm>
            <a:off x="548640" y="4526280"/>
            <a:ext cx="3749040" cy="384048"/>
          </a:xfrm>
          <a:prstGeom prst="rect">
            <a:avLst/>
          </a:prstGeom>
          <a:noFill/>
          <a:ln/>
        </p:spPr>
        <p:txBody>
          <a:bodyPr wrap="square" lIns="0" tIns="0" rIns="0" bIns="0" rtlCol="0" anchor="ctr"/>
          <a:lstStyle/>
          <a:p>
            <a:pPr algn="ctr" indent="0" marL="0">
              <a:buNone/>
            </a:pPr>
            <a:r>
              <a:rPr lang="en-US" sz="1700" b="1" u="sng" dirty="0">
                <a:solidFill>
                  <a:srgbClr val="1E6B4F"/>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nickmattei.net</a:t>
            </a:r>
            <a:endParaRPr lang="en-US" sz="1700" dirty="0"/>
          </a:p>
        </p:txBody>
      </p:sp>
      <p:sp>
        <p:nvSpPr>
          <p:cNvPr id="25" name="txt_108"/>
          <p:cNvSpPr txBox="1"/>
          <p:nvPr/>
        </p:nvSpPr>
        <p:spPr>
          <a:xfrm>
            <a:off x="4754880" y="1463040"/>
            <a:ext cx="6858000" cy="640080"/>
          </a:xfrm>
          <a:prstGeom prst="rect">
            <a:avLst/>
          </a:prstGeom>
          <a:noFill/>
          <a:ln/>
        </p:spPr>
        <p:txBody>
          <a:bodyPr wrap="square" lIns="0" tIns="0" rIns="0" bIns="0" rtlCol="0" anchor="t"/>
          <a:lstStyle/>
          <a:p>
            <a:pPr indent="0" marL="0">
              <a:buNone/>
            </a:pPr>
            <a:r>
              <a:rPr lang="en-US" sz="3400" b="1" dirty="0">
                <a:solidFill>
                  <a:srgbClr val="13221D"/>
                </a:solidFill>
                <a:latin typeface="Inter" pitchFamily="34" charset="0"/>
                <a:ea typeface="Inter" pitchFamily="34" charset="-122"/>
                <a:cs typeface="Inter" pitchFamily="34" charset="-120"/>
              </a:rPr>
              <a:t>Nicholas Mattei</a:t>
            </a:r>
            <a:endParaRPr lang="en-US" sz="3400" dirty="0"/>
          </a:p>
        </p:txBody>
      </p:sp>
      <p:sp>
        <p:nvSpPr>
          <p:cNvPr id="26" name="txt_109"/>
          <p:cNvSpPr txBox="1"/>
          <p:nvPr/>
        </p:nvSpPr>
        <p:spPr>
          <a:xfrm>
            <a:off x="4754880" y="2103120"/>
            <a:ext cx="6858000" cy="731520"/>
          </a:xfrm>
          <a:prstGeom prst="rect">
            <a:avLst/>
          </a:prstGeom>
          <a:noFill/>
          <a:ln/>
        </p:spPr>
        <p:txBody>
          <a:bodyPr wrap="square" lIns="0" tIns="0" rIns="0" bIns="0" rtlCol="0" anchor="t"/>
          <a:lstStyle/>
          <a:p>
            <a:pPr indent="0" marL="0">
              <a:buNone/>
            </a:pPr>
            <a:r>
              <a:rPr lang="en-US" sz="1600" dirty="0">
                <a:solidFill>
                  <a:srgbClr val="5E6E68"/>
                </a:solidFill>
                <a:latin typeface="Inter" pitchFamily="34" charset="0"/>
                <a:ea typeface="Inter" pitchFamily="34" charset="-122"/>
                <a:cs typeface="Inter" pitchFamily="34" charset="-120"/>
              </a:rPr>
              <a:t>Associate Professor of Computer Science, Tulane University</a:t>
            </a:r>
            <a:endParaRPr lang="en-US" sz="1600" dirty="0"/>
          </a:p>
          <a:p>
            <a:pPr indent="0" marL="0">
              <a:buNone/>
            </a:pPr>
            <a:r>
              <a:rPr lang="en-US" sz="1600" dirty="0">
                <a:solidFill>
                  <a:srgbClr val="5E6E68"/>
                </a:solidFill>
                <a:latin typeface="Inter" pitchFamily="34" charset="0"/>
                <a:ea typeface="Inter" pitchFamily="34" charset="-122"/>
                <a:cs typeface="Inter" pitchFamily="34" charset="-120"/>
              </a:rPr>
              <a:t>Co-Director, Tulane Center for Community-Engaged AI</a:t>
            </a:r>
            <a:endParaRPr lang="en-US" sz="1600" dirty="0"/>
          </a:p>
        </p:txBody>
      </p:sp>
      <p:sp>
        <p:nvSpPr>
          <p:cNvPr id="27" name="a1_txt_110"/>
          <p:cNvSpPr txBox="1"/>
          <p:nvPr/>
        </p:nvSpPr>
        <p:spPr>
          <a:xfrm>
            <a:off x="5074920" y="2926080"/>
            <a:ext cx="6492240" cy="502920"/>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AI, machine learning, and decision making with real-world stakeholders</a:t>
            </a:r>
            <a:endParaRPr lang="en-US" sz="1600" dirty="0"/>
          </a:p>
        </p:txBody>
      </p:sp>
      <p:sp>
        <p:nvSpPr>
          <p:cNvPr id="28" name="a1_dot_111"/>
          <p:cNvSpPr/>
          <p:nvPr/>
        </p:nvSpPr>
        <p:spPr>
          <a:xfrm>
            <a:off x="4773168" y="3108960"/>
            <a:ext cx="137160" cy="137160"/>
          </a:xfrm>
          <a:prstGeom prst="ellipse">
            <a:avLst/>
          </a:prstGeom>
          <a:solidFill>
            <a:srgbClr val="E8613A"/>
          </a:solidFill>
          <a:ln w="12700">
            <a:solidFill>
              <a:srgbClr val="E8613A"/>
            </a:solidFill>
            <a:prstDash val="solid"/>
          </a:ln>
        </p:spPr>
      </p:sp>
      <p:sp>
        <p:nvSpPr>
          <p:cNvPr id="29" name="a2_txt_112"/>
          <p:cNvSpPr txBox="1"/>
          <p:nvPr/>
        </p:nvSpPr>
        <p:spPr>
          <a:xfrm>
            <a:off x="5074920" y="3474720"/>
            <a:ext cx="6492240" cy="502920"/>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Community projects across New Orleans: civic tech, courts, utilities</a:t>
            </a:r>
            <a:endParaRPr lang="en-US" sz="1600" dirty="0"/>
          </a:p>
        </p:txBody>
      </p:sp>
      <p:sp>
        <p:nvSpPr>
          <p:cNvPr id="30" name="a2_dot_113"/>
          <p:cNvSpPr/>
          <p:nvPr/>
        </p:nvSpPr>
        <p:spPr>
          <a:xfrm>
            <a:off x="4773168" y="3657600"/>
            <a:ext cx="137160" cy="137160"/>
          </a:xfrm>
          <a:prstGeom prst="ellipse">
            <a:avLst/>
          </a:prstGeom>
          <a:solidFill>
            <a:srgbClr val="E8613A"/>
          </a:solidFill>
          <a:ln w="12700">
            <a:solidFill>
              <a:srgbClr val="E8613A"/>
            </a:solidFill>
            <a:prstDash val="solid"/>
          </a:ln>
        </p:spPr>
      </p:sp>
      <p:sp>
        <p:nvSpPr>
          <p:cNvPr id="31" name="a3_txt_114"/>
          <p:cNvSpPr txBox="1"/>
          <p:nvPr/>
        </p:nvSpPr>
        <p:spPr>
          <a:xfrm>
            <a:off x="5074920" y="4023360"/>
            <a:ext cx="6492240" cy="502920"/>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Co-author, Computing and Technology Ethics: Engaging Through Science Fiction (MIT Press)</a:t>
            </a:r>
            <a:endParaRPr lang="en-US" sz="1600" dirty="0"/>
          </a:p>
        </p:txBody>
      </p:sp>
      <p:sp>
        <p:nvSpPr>
          <p:cNvPr id="32" name="a3_dot_115"/>
          <p:cNvSpPr/>
          <p:nvPr/>
        </p:nvSpPr>
        <p:spPr>
          <a:xfrm>
            <a:off x="4773168" y="4206240"/>
            <a:ext cx="137160" cy="137160"/>
          </a:xfrm>
          <a:prstGeom prst="ellipse">
            <a:avLst/>
          </a:prstGeom>
          <a:solidFill>
            <a:srgbClr val="E8613A"/>
          </a:solidFill>
          <a:ln w="12700">
            <a:solidFill>
              <a:srgbClr val="E8613A"/>
            </a:solidFill>
            <a:prstDash val="solid"/>
          </a:ln>
        </p:spPr>
      </p:sp>
      <p:sp>
        <p:nvSpPr>
          <p:cNvPr id="33" name="a4_pill_116"/>
          <p:cNvSpPr txBox="1"/>
          <p:nvPr/>
        </p:nvSpPr>
        <p:spPr>
          <a:xfrm>
            <a:off x="4754880" y="4736592"/>
            <a:ext cx="1653235" cy="329184"/>
          </a:xfrm>
          <a:prstGeom prst="roundRect">
            <a:avLst>
              <a:gd name="adj" fmla="val 50000"/>
            </a:avLst>
          </a:prstGeom>
          <a:solidFill>
            <a:srgbClr val="D3E6DC"/>
          </a:solidFill>
          <a:ln/>
        </p:spPr>
        <p:txBody>
          <a:bodyPr wrap="square" lIns="0" tIns="0" rIns="0" bIns="0" rtlCol="0" anchor="ctr"/>
          <a:lstStyle/>
          <a:p>
            <a:pPr algn="ctr" indent="0" marL="0">
              <a:buNone/>
            </a:pPr>
            <a:r>
              <a:rPr lang="en-US" sz="1200" b="1" dirty="0">
                <a:solidFill>
                  <a:srgbClr val="0E3B2E"/>
                </a:solidFill>
                <a:latin typeface="Inter" pitchFamily="34" charset="0"/>
                <a:ea typeface="Inter" pitchFamily="34" charset="-122"/>
                <a:cs typeface="Inter" pitchFamily="34" charset="-120"/>
              </a:rPr>
              <a:t>Chair, ACM SIGAI</a:t>
            </a:r>
            <a:endParaRPr lang="en-US" sz="1200" dirty="0"/>
          </a:p>
        </p:txBody>
      </p:sp>
      <p:sp>
        <p:nvSpPr>
          <p:cNvPr id="34" name="a4_pill_117"/>
          <p:cNvSpPr txBox="1"/>
          <p:nvPr/>
        </p:nvSpPr>
        <p:spPr>
          <a:xfrm>
            <a:off x="6545275" y="4736592"/>
            <a:ext cx="1170432" cy="329184"/>
          </a:xfrm>
          <a:prstGeom prst="roundRect">
            <a:avLst>
              <a:gd name="adj" fmla="val 50000"/>
            </a:avLst>
          </a:prstGeom>
          <a:solidFill>
            <a:srgbClr val="D3E6DC"/>
          </a:solidFill>
          <a:ln/>
        </p:spPr>
        <p:txBody>
          <a:bodyPr wrap="square" lIns="0" tIns="0" rIns="0" bIns="0" rtlCol="0" anchor="ctr"/>
          <a:lstStyle/>
          <a:p>
            <a:pPr algn="ctr" indent="0" marL="0">
              <a:buNone/>
            </a:pPr>
            <a:r>
              <a:rPr lang="en-US" sz="1200" b="1" dirty="0">
                <a:solidFill>
                  <a:srgbClr val="0E3B2E"/>
                </a:solidFill>
                <a:latin typeface="Inter" pitchFamily="34" charset="0"/>
                <a:ea typeface="Inter" pitchFamily="34" charset="-122"/>
                <a:cs typeface="Inter" pitchFamily="34" charset="-120"/>
              </a:rPr>
              <a:t>NSF CAREER</a:t>
            </a:r>
            <a:endParaRPr lang="en-US" sz="1200" dirty="0"/>
          </a:p>
        </p:txBody>
      </p:sp>
      <p:sp>
        <p:nvSpPr>
          <p:cNvPr id="35" name="a4_pill_118"/>
          <p:cNvSpPr txBox="1"/>
          <p:nvPr/>
        </p:nvSpPr>
        <p:spPr>
          <a:xfrm>
            <a:off x="7852867" y="4736592"/>
            <a:ext cx="2216506" cy="329184"/>
          </a:xfrm>
          <a:prstGeom prst="roundRect">
            <a:avLst>
              <a:gd name="adj" fmla="val 50000"/>
            </a:avLst>
          </a:prstGeom>
          <a:solidFill>
            <a:srgbClr val="D3E6DC"/>
          </a:solidFill>
          <a:ln/>
        </p:spPr>
        <p:txBody>
          <a:bodyPr wrap="square" lIns="0" tIns="0" rIns="0" bIns="0" rtlCol="0" anchor="ctr"/>
          <a:lstStyle/>
          <a:p>
            <a:pPr algn="ctr" indent="0" marL="0">
              <a:buNone/>
            </a:pPr>
            <a:r>
              <a:rPr lang="en-US" sz="1200" b="1" dirty="0">
                <a:solidFill>
                  <a:srgbClr val="0E3B2E"/>
                </a:solidFill>
                <a:latin typeface="Inter" pitchFamily="34" charset="0"/>
                <a:ea typeface="Inter" pitchFamily="34" charset="-122"/>
                <a:cs typeface="Inter" pitchFamily="34" charset="-120"/>
              </a:rPr>
              <a:t>Prev. NASA · IBM · UNSW</a:t>
            </a:r>
            <a:endParaRPr lang="en-US" sz="1200" dirty="0"/>
          </a:p>
        </p:txBody>
      </p:sp>
      <p:sp>
        <p:nvSpPr>
          <p:cNvPr id="36" name="a4_txt_119"/>
          <p:cNvSpPr txBox="1"/>
          <p:nvPr/>
        </p:nvSpPr>
        <p:spPr>
          <a:xfrm>
            <a:off x="4754880" y="5349240"/>
            <a:ext cx="1188720" cy="365760"/>
          </a:xfrm>
          <a:prstGeom prst="rect">
            <a:avLst/>
          </a:prstGeom>
          <a:noFill/>
          <a:ln/>
        </p:spPr>
        <p:txBody>
          <a:bodyPr wrap="square" lIns="0" tIns="0" rIns="0" bIns="0" rtlCol="0" anchor="ctr"/>
          <a:lstStyle/>
          <a:p>
            <a:pPr indent="0" marL="0">
              <a:buNone/>
            </a:pPr>
            <a:r>
              <a:rPr lang="en-US" sz="1200" b="1" spc="150" kern="0" dirty="0">
                <a:solidFill>
                  <a:srgbClr val="5E6E68"/>
                </a:solidFill>
                <a:latin typeface="Inter" pitchFamily="34" charset="0"/>
                <a:ea typeface="Inter" pitchFamily="34" charset="-122"/>
                <a:cs typeface="Inter" pitchFamily="34" charset="-120"/>
              </a:rPr>
              <a:t>FUNDED BY</a:t>
            </a:r>
            <a:endParaRPr lang="en-US" sz="1200" dirty="0"/>
          </a:p>
        </p:txBody>
      </p:sp>
      <p:sp>
        <p:nvSpPr>
          <p:cNvPr id="37" name="a4_pill_120"/>
          <p:cNvSpPr txBox="1"/>
          <p:nvPr/>
        </p:nvSpPr>
        <p:spPr>
          <a:xfrm>
            <a:off x="5989320" y="5367528"/>
            <a:ext cx="607162" cy="329184"/>
          </a:xfrm>
          <a:prstGeom prst="roundRect">
            <a:avLst>
              <a:gd name="adj" fmla="val 50000"/>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NSF</a:t>
            </a:r>
            <a:endParaRPr lang="en-US" sz="1200" dirty="0"/>
          </a:p>
        </p:txBody>
      </p:sp>
      <p:sp>
        <p:nvSpPr>
          <p:cNvPr id="38" name="a4_pill_121"/>
          <p:cNvSpPr txBox="1"/>
          <p:nvPr/>
        </p:nvSpPr>
        <p:spPr>
          <a:xfrm>
            <a:off x="6733642" y="5367528"/>
            <a:ext cx="607162" cy="329184"/>
          </a:xfrm>
          <a:prstGeom prst="roundRect">
            <a:avLst>
              <a:gd name="adj" fmla="val 50000"/>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ONR</a:t>
            </a:r>
            <a:endParaRPr lang="en-US" sz="1200" dirty="0"/>
          </a:p>
        </p:txBody>
      </p:sp>
      <p:sp>
        <p:nvSpPr>
          <p:cNvPr id="39" name="a4_pill_122"/>
          <p:cNvSpPr txBox="1"/>
          <p:nvPr/>
        </p:nvSpPr>
        <p:spPr>
          <a:xfrm>
            <a:off x="7477963" y="5367528"/>
            <a:ext cx="607162" cy="329184"/>
          </a:xfrm>
          <a:prstGeom prst="roundRect">
            <a:avLst>
              <a:gd name="adj" fmla="val 50000"/>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DoE</a:t>
            </a:r>
            <a:endParaRPr lang="en-US" sz="1200" dirty="0"/>
          </a:p>
        </p:txBody>
      </p:sp>
      <p:sp>
        <p:nvSpPr>
          <p:cNvPr id="40" name="a4_pill_123"/>
          <p:cNvSpPr txBox="1"/>
          <p:nvPr/>
        </p:nvSpPr>
        <p:spPr>
          <a:xfrm>
            <a:off x="8222285" y="5367528"/>
            <a:ext cx="607162" cy="329184"/>
          </a:xfrm>
          <a:prstGeom prst="roundRect">
            <a:avLst>
              <a:gd name="adj" fmla="val 50000"/>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IBM</a:t>
            </a:r>
            <a:endParaRPr lang="en-US" sz="1200" dirty="0"/>
          </a:p>
        </p:txBody>
      </p:sp>
      <p:sp>
        <p:nvSpPr>
          <p:cNvPr id="41" name="a4_pill_124"/>
          <p:cNvSpPr txBox="1"/>
          <p:nvPr/>
        </p:nvSpPr>
        <p:spPr>
          <a:xfrm>
            <a:off x="8966606" y="5367528"/>
            <a:ext cx="848563" cy="329184"/>
          </a:xfrm>
          <a:prstGeom prst="roundRect">
            <a:avLst>
              <a:gd name="adj" fmla="val 50000"/>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Google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400"/>
                                        <p:tgtEl>
                                          <p:spTgt spid="2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400"/>
                                        <p:tgtEl>
                                          <p:spTgt spid="28"/>
                                        </p:tgtEl>
                                      </p:cBhvr>
                                    </p:animEffect>
                                  </p:childTnLst>
                                </p:cTn>
                              </p:par>
                            </p:childTnLst>
                          </p:cTn>
                        </p:par>
                        <p:par>
                          <p:cTn id="16" fill="hold">
                            <p:stCondLst>
                              <p:cond delay="400"/>
                            </p:stCondLst>
                            <p:childTnLst>
                              <p:par>
                                <p:cTn id="10" presetID="10" presetClass="entr" presetSubtype="0" fill="hold" grpId="0" nodeType="after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childTnLst>
                          </p:cTn>
                        </p:par>
                        <p:par>
                          <p:cTn id="23"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400"/>
                                        <p:tgtEl>
                                          <p:spTgt spid="3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par>
                          <p:cTn id="51"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9"/>
                                        </p:tgtEl>
                                        <p:attrNameLst>
                                          <p:attrName>style.visibility</p:attrName>
                                        </p:attrNameLst>
                                      </p:cBhvr>
                                      <p:to>
                                        <p:strVal val="visible"/>
                                      </p:to>
                                    </p:set>
                                    <p:animEffect transition="in" filter="fade">
                                      <p:cBhvr>
                                        <p:cTn id="44" dur="400"/>
                                        <p:tgtEl>
                                          <p:spTgt spid="3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400"/>
                                        <p:tgtEl>
                                          <p:spTgt spid="4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1"/>
                                        </p:tgtEl>
                                        <p:attrNameLst>
                                          <p:attrName>style.visibility</p:attrName>
                                        </p:attrNameLst>
                                      </p:cBhvr>
                                      <p:to>
                                        <p:strVal val="visible"/>
                                      </p:to>
                                    </p:set>
                                    <p:animEffect transition="in" filter="fade">
                                      <p:cBhvr>
                                        <p:cTn id="5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Introductions</a:t>
            </a:r>
            <a:endParaRPr lang="en-US" sz="3000" dirty="0"/>
          </a:p>
        </p:txBody>
      </p:sp>
      <p:sp>
        <p:nvSpPr>
          <p:cNvPr id="3" name="time_chip_12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9:00 – 9:10  ·  10 min</a:t>
            </a:r>
            <a:endParaRPr lang="en-US" sz="1400" dirty="0"/>
          </a:p>
        </p:txBody>
      </p:sp>
      <p:sp>
        <p:nvSpPr>
          <p:cNvPr id="4" name="prog_welcome_126"/>
          <p:cNvSpPr/>
          <p:nvPr/>
        </p:nvSpPr>
        <p:spPr>
          <a:xfrm>
            <a:off x="548640" y="6400800"/>
            <a:ext cx="715244" cy="73152"/>
          </a:xfrm>
          <a:prstGeom prst="rect">
            <a:avLst/>
          </a:prstGeom>
          <a:solidFill>
            <a:srgbClr val="E8613A"/>
          </a:solidFill>
          <a:ln w="12700">
            <a:solidFill>
              <a:srgbClr val="E8613A"/>
            </a:solidFill>
            <a:prstDash val="solid"/>
          </a:ln>
        </p:spPr>
      </p:sp>
      <p:sp>
        <p:nvSpPr>
          <p:cNvPr id="5" name="prog_lbl_welcome_127"/>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6" name="prog_ai_128"/>
          <p:cNvSpPr/>
          <p:nvPr/>
        </p:nvSpPr>
        <p:spPr>
          <a:xfrm>
            <a:off x="1309604" y="6400800"/>
            <a:ext cx="1072866" cy="73152"/>
          </a:xfrm>
          <a:prstGeom prst="rect">
            <a:avLst/>
          </a:prstGeom>
          <a:solidFill>
            <a:srgbClr val="D9E1DD"/>
          </a:solidFill>
          <a:ln w="12700">
            <a:solidFill>
              <a:srgbClr val="D9E1DD"/>
            </a:solidFill>
            <a:prstDash val="solid"/>
          </a:ln>
        </p:spPr>
      </p:sp>
      <p:sp>
        <p:nvSpPr>
          <p:cNvPr id="7" name="prog_lbl_ai_129"/>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AI</a:t>
            </a:r>
            <a:endParaRPr lang="en-US" sz="1000" dirty="0"/>
          </a:p>
        </p:txBody>
      </p:sp>
      <p:sp>
        <p:nvSpPr>
          <p:cNvPr id="8" name="prog_pd_130"/>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131"/>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132"/>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133"/>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134"/>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135"/>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136"/>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137"/>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38"/>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139"/>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40"/>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141"/>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42"/>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143"/>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144"/>
          <p:cNvSpPr/>
          <p:nvPr/>
        </p:nvSpPr>
        <p:spPr>
          <a:xfrm>
            <a:off x="548640" y="1463040"/>
            <a:ext cx="3749040" cy="4572000"/>
          </a:xfrm>
          <a:prstGeom prst="roundRect">
            <a:avLst>
              <a:gd name="adj" fmla="val 4878"/>
            </a:avLst>
          </a:prstGeom>
          <a:solidFill>
            <a:srgbClr val="E8F2ED"/>
          </a:solidFill>
          <a:ln w="12700">
            <a:solidFill>
              <a:srgbClr val="E8F2ED"/>
            </a:solidFill>
            <a:prstDash val="solid"/>
          </a:ln>
        </p:spPr>
      </p:sp>
      <p:pic>
        <p:nvPicPr>
          <p:cNvPr id="23" name="headshot_145" descr="Headshot of Saad Hassan">    </p:cNvPr>
          <p:cNvPicPr>
            <a:picLocks noChangeAspect="1"/>
          </p:cNvPicPr>
          <p:nvPr/>
        </p:nvPicPr>
        <p:blipFill>
          <a:blip r:embed="rId1"/>
          <a:stretch>
            <a:fillRect/>
          </a:stretch>
        </p:blipFill>
        <p:spPr>
          <a:xfrm>
            <a:off x="1097280" y="1691640"/>
            <a:ext cx="2651760" cy="2651760"/>
          </a:xfrm>
          <a:prstGeom prst="rect">
            <a:avLst/>
          </a:prstGeom>
        </p:spPr>
      </p:pic>
      <p:sp>
        <p:nvSpPr>
          <p:cNvPr id="24" name="txt_146"/>
          <p:cNvSpPr txBox="1"/>
          <p:nvPr/>
        </p:nvSpPr>
        <p:spPr>
          <a:xfrm>
            <a:off x="548640" y="4526280"/>
            <a:ext cx="3749040" cy="384048"/>
          </a:xfrm>
          <a:prstGeom prst="rect">
            <a:avLst/>
          </a:prstGeom>
          <a:noFill/>
          <a:ln/>
        </p:spPr>
        <p:txBody>
          <a:bodyPr wrap="square" lIns="0" tIns="0" rIns="0" bIns="0" rtlCol="0" anchor="ctr"/>
          <a:lstStyle/>
          <a:p>
            <a:pPr algn="ctr" indent="0" marL="0">
              <a:buNone/>
            </a:pPr>
            <a:r>
              <a:rPr lang="en-US" sz="1700" b="1" u="sng" dirty="0">
                <a:solidFill>
                  <a:srgbClr val="1E6B4F"/>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saadh.info</a:t>
            </a:r>
            <a:endParaRPr lang="en-US" sz="1700" dirty="0"/>
          </a:p>
        </p:txBody>
      </p:sp>
      <p:sp>
        <p:nvSpPr>
          <p:cNvPr id="25" name="txt_147"/>
          <p:cNvSpPr txBox="1"/>
          <p:nvPr/>
        </p:nvSpPr>
        <p:spPr>
          <a:xfrm>
            <a:off x="548640" y="4937760"/>
            <a:ext cx="3749040" cy="384048"/>
          </a:xfrm>
          <a:prstGeom prst="rect">
            <a:avLst/>
          </a:prstGeom>
          <a:noFill/>
          <a:ln/>
        </p:spPr>
        <p:txBody>
          <a:bodyPr wrap="square" lIns="0" tIns="0" rIns="0" bIns="0" rtlCol="0" anchor="ctr"/>
          <a:lstStyle/>
          <a:p>
            <a:pPr algn="ctr" indent="0" marL="0">
              <a:buNone/>
            </a:pPr>
            <a:r>
              <a:rPr lang="en-US" sz="1700" b="1" u="sng" dirty="0">
                <a:solidFill>
                  <a:srgbClr val="1E6B4F"/>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saadh.info/a11y</a:t>
            </a:r>
            <a:endParaRPr lang="en-US" sz="1700" dirty="0"/>
          </a:p>
        </p:txBody>
      </p:sp>
      <p:sp>
        <p:nvSpPr>
          <p:cNvPr id="26" name="txt_148"/>
          <p:cNvSpPr txBox="1"/>
          <p:nvPr/>
        </p:nvSpPr>
        <p:spPr>
          <a:xfrm>
            <a:off x="4754880" y="1463040"/>
            <a:ext cx="6858000" cy="640080"/>
          </a:xfrm>
          <a:prstGeom prst="rect">
            <a:avLst/>
          </a:prstGeom>
          <a:noFill/>
          <a:ln/>
        </p:spPr>
        <p:txBody>
          <a:bodyPr wrap="square" lIns="0" tIns="0" rIns="0" bIns="0" rtlCol="0" anchor="t"/>
          <a:lstStyle/>
          <a:p>
            <a:pPr indent="0" marL="0">
              <a:buNone/>
            </a:pPr>
            <a:r>
              <a:rPr lang="en-US" sz="3400" b="1" dirty="0">
                <a:solidFill>
                  <a:srgbClr val="13221D"/>
                </a:solidFill>
                <a:latin typeface="Inter" pitchFamily="34" charset="0"/>
                <a:ea typeface="Inter" pitchFamily="34" charset="-122"/>
                <a:cs typeface="Inter" pitchFamily="34" charset="-120"/>
              </a:rPr>
              <a:t>Saad Hassan</a:t>
            </a:r>
            <a:endParaRPr lang="en-US" sz="3400" dirty="0"/>
          </a:p>
        </p:txBody>
      </p:sp>
      <p:sp>
        <p:nvSpPr>
          <p:cNvPr id="27" name="txt_149"/>
          <p:cNvSpPr txBox="1"/>
          <p:nvPr/>
        </p:nvSpPr>
        <p:spPr>
          <a:xfrm>
            <a:off x="4754880" y="2103120"/>
            <a:ext cx="6858000" cy="731520"/>
          </a:xfrm>
          <a:prstGeom prst="rect">
            <a:avLst/>
          </a:prstGeom>
          <a:noFill/>
          <a:ln/>
        </p:spPr>
        <p:txBody>
          <a:bodyPr wrap="square" lIns="0" tIns="0" rIns="0" bIns="0" rtlCol="0" anchor="t"/>
          <a:lstStyle/>
          <a:p>
            <a:pPr indent="0" marL="0">
              <a:buNone/>
            </a:pPr>
            <a:r>
              <a:rPr lang="en-US" sz="1600" dirty="0">
                <a:solidFill>
                  <a:srgbClr val="5E6E68"/>
                </a:solidFill>
                <a:latin typeface="Inter" pitchFamily="34" charset="0"/>
                <a:ea typeface="Inter" pitchFamily="34" charset="-122"/>
                <a:cs typeface="Inter" pitchFamily="34" charset="-120"/>
              </a:rPr>
              <a:t>Assistant Professor of Computer Science, Tulane University</a:t>
            </a:r>
            <a:endParaRPr lang="en-US" sz="1600" dirty="0"/>
          </a:p>
          <a:p>
            <a:pPr indent="0" marL="0">
              <a:buNone/>
            </a:pPr>
            <a:r>
              <a:rPr lang="en-US" sz="1600" dirty="0">
                <a:solidFill>
                  <a:srgbClr val="5E6E68"/>
                </a:solidFill>
                <a:latin typeface="Inter" pitchFamily="34" charset="0"/>
                <a:ea typeface="Inter" pitchFamily="34" charset="-122"/>
                <a:cs typeface="Inter" pitchFamily="34" charset="-120"/>
              </a:rPr>
              <a:t>Director, NOLA A11y Lab  ·  Affiliate, Tulane CEAI</a:t>
            </a:r>
            <a:endParaRPr lang="en-US" sz="1600" dirty="0"/>
          </a:p>
        </p:txBody>
      </p:sp>
      <p:sp>
        <p:nvSpPr>
          <p:cNvPr id="28" name="a1_txt_150"/>
          <p:cNvSpPr txBox="1"/>
          <p:nvPr/>
        </p:nvSpPr>
        <p:spPr>
          <a:xfrm>
            <a:off x="5074920" y="2926080"/>
            <a:ext cx="6492240" cy="502920"/>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Human–AI systems that make communication, information, and public services accessible</a:t>
            </a:r>
            <a:endParaRPr lang="en-US" sz="1600" dirty="0"/>
          </a:p>
        </p:txBody>
      </p:sp>
      <p:sp>
        <p:nvSpPr>
          <p:cNvPr id="29" name="a1_dot_151"/>
          <p:cNvSpPr/>
          <p:nvPr/>
        </p:nvSpPr>
        <p:spPr>
          <a:xfrm>
            <a:off x="4773168" y="3108960"/>
            <a:ext cx="137160" cy="137160"/>
          </a:xfrm>
          <a:prstGeom prst="ellipse">
            <a:avLst/>
          </a:prstGeom>
          <a:solidFill>
            <a:srgbClr val="E8613A"/>
          </a:solidFill>
          <a:ln w="12700">
            <a:solidFill>
              <a:srgbClr val="E8613A"/>
            </a:solidFill>
            <a:prstDash val="solid"/>
          </a:ln>
        </p:spPr>
      </p:sp>
      <p:sp>
        <p:nvSpPr>
          <p:cNvPr id="30" name="a2_txt_152"/>
          <p:cNvSpPr txBox="1"/>
          <p:nvPr/>
        </p:nvSpPr>
        <p:spPr>
          <a:xfrm>
            <a:off x="5074920" y="3474720"/>
            <a:ext cx="6492240" cy="502920"/>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Sign language and captioning technologies with Deaf and hard-of-hearing communities</a:t>
            </a:r>
            <a:endParaRPr lang="en-US" sz="1600" dirty="0"/>
          </a:p>
        </p:txBody>
      </p:sp>
      <p:sp>
        <p:nvSpPr>
          <p:cNvPr id="31" name="a2_dot_153"/>
          <p:cNvSpPr/>
          <p:nvPr/>
        </p:nvSpPr>
        <p:spPr>
          <a:xfrm>
            <a:off x="4773168" y="3657600"/>
            <a:ext cx="137160" cy="137160"/>
          </a:xfrm>
          <a:prstGeom prst="ellipse">
            <a:avLst/>
          </a:prstGeom>
          <a:solidFill>
            <a:srgbClr val="E8613A"/>
          </a:solidFill>
          <a:ln w="12700">
            <a:solidFill>
              <a:srgbClr val="E8613A"/>
            </a:solidFill>
            <a:prstDash val="solid"/>
          </a:ln>
        </p:spPr>
      </p:sp>
      <p:sp>
        <p:nvSpPr>
          <p:cNvPr id="32" name="a3_txt_154"/>
          <p:cNvSpPr txBox="1"/>
          <p:nvPr/>
        </p:nvSpPr>
        <p:spPr>
          <a:xfrm>
            <a:off x="5074920" y="4023360"/>
            <a:ext cx="6492240" cy="502920"/>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Civic AI and accessibility dashboards with community organizations</a:t>
            </a:r>
            <a:endParaRPr lang="en-US" sz="1600" dirty="0"/>
          </a:p>
        </p:txBody>
      </p:sp>
      <p:sp>
        <p:nvSpPr>
          <p:cNvPr id="33" name="a3_dot_155"/>
          <p:cNvSpPr/>
          <p:nvPr/>
        </p:nvSpPr>
        <p:spPr>
          <a:xfrm>
            <a:off x="4773168" y="4206240"/>
            <a:ext cx="137160" cy="137160"/>
          </a:xfrm>
          <a:prstGeom prst="ellipse">
            <a:avLst/>
          </a:prstGeom>
          <a:solidFill>
            <a:srgbClr val="E8613A"/>
          </a:solidFill>
          <a:ln w="12700">
            <a:solidFill>
              <a:srgbClr val="E8613A"/>
            </a:solidFill>
            <a:prstDash val="solid"/>
          </a:ln>
        </p:spPr>
      </p:sp>
      <p:sp>
        <p:nvSpPr>
          <p:cNvPr id="34" name="a4_pill_156"/>
          <p:cNvSpPr txBox="1"/>
          <p:nvPr/>
        </p:nvSpPr>
        <p:spPr>
          <a:xfrm>
            <a:off x="4754880" y="4736592"/>
            <a:ext cx="1009498" cy="329184"/>
          </a:xfrm>
          <a:prstGeom prst="roundRect">
            <a:avLst>
              <a:gd name="adj" fmla="val 50000"/>
            </a:avLst>
          </a:prstGeom>
          <a:solidFill>
            <a:srgbClr val="D3E6DC"/>
          </a:solidFill>
          <a:ln/>
        </p:spPr>
        <p:txBody>
          <a:bodyPr wrap="square" lIns="0" tIns="0" rIns="0" bIns="0" rtlCol="0" anchor="ctr"/>
          <a:lstStyle/>
          <a:p>
            <a:pPr algn="ctr" indent="0" marL="0">
              <a:buNone/>
            </a:pPr>
            <a:r>
              <a:rPr lang="en-US" sz="1200" b="1" dirty="0">
                <a:solidFill>
                  <a:srgbClr val="0E3B2E"/>
                </a:solidFill>
                <a:latin typeface="Inter" pitchFamily="34" charset="0"/>
                <a:ea typeface="Inter" pitchFamily="34" charset="-122"/>
                <a:cs typeface="Inter" pitchFamily="34" charset="-120"/>
              </a:rPr>
              <a:t>PhD, RIT</a:t>
            </a:r>
            <a:endParaRPr lang="en-US" sz="1200" dirty="0"/>
          </a:p>
        </p:txBody>
      </p:sp>
      <p:sp>
        <p:nvSpPr>
          <p:cNvPr id="35" name="a4_pill_157"/>
          <p:cNvSpPr txBox="1"/>
          <p:nvPr/>
        </p:nvSpPr>
        <p:spPr>
          <a:xfrm>
            <a:off x="5901538" y="4736592"/>
            <a:ext cx="2216506" cy="329184"/>
          </a:xfrm>
          <a:prstGeom prst="roundRect">
            <a:avLst>
              <a:gd name="adj" fmla="val 50000"/>
            </a:avLst>
          </a:prstGeom>
          <a:solidFill>
            <a:srgbClr val="D3E6DC"/>
          </a:solidFill>
          <a:ln/>
        </p:spPr>
        <p:txBody>
          <a:bodyPr wrap="square" lIns="0" tIns="0" rIns="0" bIns="0" rtlCol="0" anchor="ctr"/>
          <a:lstStyle/>
          <a:p>
            <a:pPr algn="ctr" indent="0" marL="0">
              <a:buNone/>
            </a:pPr>
            <a:r>
              <a:rPr lang="en-US" sz="1200" b="1" dirty="0">
                <a:solidFill>
                  <a:srgbClr val="0E3B2E"/>
                </a:solidFill>
                <a:latin typeface="Inter" pitchFamily="34" charset="0"/>
                <a:ea typeface="Inter" pitchFamily="34" charset="-122"/>
                <a:cs typeface="Inter" pitchFamily="34" charset="-120"/>
              </a:rPr>
              <a:t>Visiting: Google &amp; Meta</a:t>
            </a:r>
            <a:endParaRPr lang="en-US" sz="1200" dirty="0"/>
          </a:p>
        </p:txBody>
      </p:sp>
      <p:sp>
        <p:nvSpPr>
          <p:cNvPr id="36" name="a4_pill_158"/>
          <p:cNvSpPr txBox="1"/>
          <p:nvPr/>
        </p:nvSpPr>
        <p:spPr>
          <a:xfrm>
            <a:off x="8255203" y="4736592"/>
            <a:ext cx="1331366" cy="329184"/>
          </a:xfrm>
          <a:prstGeom prst="roundRect">
            <a:avLst>
              <a:gd name="adj" fmla="val 50000"/>
            </a:avLst>
          </a:prstGeom>
          <a:solidFill>
            <a:srgbClr val="D3E6DC"/>
          </a:solidFill>
          <a:ln/>
        </p:spPr>
        <p:txBody>
          <a:bodyPr wrap="square" lIns="0" tIns="0" rIns="0" bIns="0" rtlCol="0" anchor="ctr"/>
          <a:lstStyle/>
          <a:p>
            <a:pPr algn="ctr" indent="0" marL="0">
              <a:buNone/>
            </a:pPr>
            <a:r>
              <a:rPr lang="en-US" sz="1200" b="1" dirty="0">
                <a:solidFill>
                  <a:srgbClr val="0E3B2E"/>
                </a:solidFill>
                <a:latin typeface="Inter" pitchFamily="34" charset="0"/>
                <a:ea typeface="Inter" pitchFamily="34" charset="-122"/>
                <a:cs typeface="Inter" pitchFamily="34" charset="-120"/>
              </a:rPr>
              <a:t>CHI · ASSETS</a:t>
            </a:r>
            <a:endParaRPr lang="en-US" sz="1200" dirty="0"/>
          </a:p>
        </p:txBody>
      </p:sp>
      <p:sp>
        <p:nvSpPr>
          <p:cNvPr id="37" name="a4_txt_159"/>
          <p:cNvSpPr txBox="1"/>
          <p:nvPr/>
        </p:nvSpPr>
        <p:spPr>
          <a:xfrm>
            <a:off x="4754880" y="5349240"/>
            <a:ext cx="1188720" cy="365760"/>
          </a:xfrm>
          <a:prstGeom prst="rect">
            <a:avLst/>
          </a:prstGeom>
          <a:noFill/>
          <a:ln/>
        </p:spPr>
        <p:txBody>
          <a:bodyPr wrap="square" lIns="0" tIns="0" rIns="0" bIns="0" rtlCol="0" anchor="ctr"/>
          <a:lstStyle/>
          <a:p>
            <a:pPr indent="0" marL="0">
              <a:buNone/>
            </a:pPr>
            <a:r>
              <a:rPr lang="en-US" sz="1200" b="1" spc="150" kern="0" dirty="0">
                <a:solidFill>
                  <a:srgbClr val="5E6E68"/>
                </a:solidFill>
                <a:latin typeface="Inter" pitchFamily="34" charset="0"/>
                <a:ea typeface="Inter" pitchFamily="34" charset="-122"/>
                <a:cs typeface="Inter" pitchFamily="34" charset="-120"/>
              </a:rPr>
              <a:t>FUNDED BY</a:t>
            </a:r>
            <a:endParaRPr lang="en-US" sz="1200" dirty="0"/>
          </a:p>
        </p:txBody>
      </p:sp>
      <p:sp>
        <p:nvSpPr>
          <p:cNvPr id="38" name="a4_pill_160"/>
          <p:cNvSpPr txBox="1"/>
          <p:nvPr/>
        </p:nvSpPr>
        <p:spPr>
          <a:xfrm>
            <a:off x="5989320" y="5367528"/>
            <a:ext cx="607162" cy="329184"/>
          </a:xfrm>
          <a:prstGeom prst="roundRect">
            <a:avLst>
              <a:gd name="adj" fmla="val 50000"/>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NSF</a:t>
            </a:r>
            <a:endParaRPr lang="en-US" sz="1200" dirty="0"/>
          </a:p>
        </p:txBody>
      </p:sp>
      <p:sp>
        <p:nvSpPr>
          <p:cNvPr id="39" name="a4_pill_161"/>
          <p:cNvSpPr txBox="1"/>
          <p:nvPr/>
        </p:nvSpPr>
        <p:spPr>
          <a:xfrm>
            <a:off x="6733642" y="5367528"/>
            <a:ext cx="1894637" cy="329184"/>
          </a:xfrm>
          <a:prstGeom prst="roundRect">
            <a:avLst>
              <a:gd name="adj" fmla="val 50000"/>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LA Board of Regents</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400"/>
                                        <p:tgtEl>
                                          <p:spTgt spid="2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400"/>
                                        <p:tgtEl>
                                          <p:spTgt spid="29"/>
                                        </p:tgtEl>
                                      </p:cBhvr>
                                    </p:animEffect>
                                  </p:childTnLst>
                                </p:cTn>
                              </p:par>
                            </p:childTnLst>
                          </p:cTn>
                        </p:par>
                        <p:par>
                          <p:cTn id="16" fill="hold">
                            <p:stCondLst>
                              <p:cond delay="400"/>
                            </p:stCondLst>
                            <p:childTnLst>
                              <p:par>
                                <p:cTn id="10" presetID="10" presetClass="entr" presetSubtype="0" fill="hold" grpId="0" nodeType="after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00"/>
                                        <p:tgtEl>
                                          <p:spTgt spid="31"/>
                                        </p:tgtEl>
                                      </p:cBhvr>
                                    </p:animEffect>
                                  </p:childTnLst>
                                </p:cTn>
                              </p:par>
                            </p:childTnLst>
                          </p:cTn>
                        </p:par>
                        <p:par>
                          <p:cTn id="23"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par>
                          <p:cTn id="42"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400"/>
                                        <p:tgtEl>
                                          <p:spTgt spid="3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400"/>
                                        <p:tgtEl>
                                          <p:spTgt spid="3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400"/>
                                        <p:tgtEl>
                                          <p:spTgt spid="3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Let's get to know you</a:t>
            </a:r>
            <a:endParaRPr lang="en-US" sz="3000" dirty="0"/>
          </a:p>
        </p:txBody>
      </p:sp>
      <p:sp>
        <p:nvSpPr>
          <p:cNvPr id="3" name="time_chip_16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9:00 – 9:10  ·  10 min</a:t>
            </a:r>
            <a:endParaRPr lang="en-US" sz="1400" dirty="0"/>
          </a:p>
        </p:txBody>
      </p:sp>
      <p:sp>
        <p:nvSpPr>
          <p:cNvPr id="4" name="prog_welcome_163"/>
          <p:cNvSpPr/>
          <p:nvPr/>
        </p:nvSpPr>
        <p:spPr>
          <a:xfrm>
            <a:off x="548640" y="6400800"/>
            <a:ext cx="715244" cy="73152"/>
          </a:xfrm>
          <a:prstGeom prst="rect">
            <a:avLst/>
          </a:prstGeom>
          <a:solidFill>
            <a:srgbClr val="E8613A"/>
          </a:solidFill>
          <a:ln w="12700">
            <a:solidFill>
              <a:srgbClr val="E8613A"/>
            </a:solidFill>
            <a:prstDash val="solid"/>
          </a:ln>
        </p:spPr>
      </p:sp>
      <p:sp>
        <p:nvSpPr>
          <p:cNvPr id="5" name="prog_lbl_welcome_164"/>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6" name="prog_ai_165"/>
          <p:cNvSpPr/>
          <p:nvPr/>
        </p:nvSpPr>
        <p:spPr>
          <a:xfrm>
            <a:off x="1309604" y="6400800"/>
            <a:ext cx="1072866" cy="73152"/>
          </a:xfrm>
          <a:prstGeom prst="rect">
            <a:avLst/>
          </a:prstGeom>
          <a:solidFill>
            <a:srgbClr val="D9E1DD"/>
          </a:solidFill>
          <a:ln w="12700">
            <a:solidFill>
              <a:srgbClr val="D9E1DD"/>
            </a:solidFill>
            <a:prstDash val="solid"/>
          </a:ln>
        </p:spPr>
      </p:sp>
      <p:sp>
        <p:nvSpPr>
          <p:cNvPr id="7" name="prog_lbl_ai_166"/>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AI</a:t>
            </a:r>
            <a:endParaRPr lang="en-US" sz="1000" dirty="0"/>
          </a:p>
        </p:txBody>
      </p:sp>
      <p:sp>
        <p:nvSpPr>
          <p:cNvPr id="8" name="prog_pd_167"/>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168"/>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169"/>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170"/>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171"/>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172"/>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173"/>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174"/>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75"/>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176"/>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77"/>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178"/>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79"/>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180"/>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181"/>
          <p:cNvSpPr/>
          <p:nvPr/>
        </p:nvSpPr>
        <p:spPr>
          <a:xfrm>
            <a:off x="548640" y="1600200"/>
            <a:ext cx="3520440" cy="3108960"/>
          </a:xfrm>
          <a:prstGeom prst="roundRect">
            <a:avLst>
              <a:gd name="adj" fmla="val 3529"/>
            </a:avLst>
          </a:prstGeom>
          <a:solidFill>
            <a:srgbClr val="E8F2ED"/>
          </a:solidFill>
          <a:ln w="12700">
            <a:solidFill>
              <a:srgbClr val="E8F2ED"/>
            </a:solidFill>
            <a:prstDash val="solid"/>
          </a:ln>
        </p:spPr>
      </p:sp>
      <p:sp>
        <p:nvSpPr>
          <p:cNvPr id="23" name="c1_num_182"/>
          <p:cNvSpPr txBox="1"/>
          <p:nvPr/>
        </p:nvSpPr>
        <p:spPr>
          <a:xfrm>
            <a:off x="868680" y="1920240"/>
            <a:ext cx="640080" cy="640080"/>
          </a:xfrm>
          <a:prstGeom prst="ellipse">
            <a:avLst/>
          </a:prstGeom>
          <a:solidFill>
            <a:srgbClr val="E8613A"/>
          </a:solid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24" name="c1_txt_183"/>
          <p:cNvSpPr txBox="1"/>
          <p:nvPr/>
        </p:nvSpPr>
        <p:spPr>
          <a:xfrm>
            <a:off x="868680" y="2788920"/>
            <a:ext cx="2926080" cy="914400"/>
          </a:xfrm>
          <a:prstGeom prst="rect">
            <a:avLst/>
          </a:prstGeom>
          <a:noFill/>
          <a:ln/>
        </p:spPr>
        <p:txBody>
          <a:bodyPr wrap="square" lIns="0" tIns="0" rIns="0" bIns="0" rtlCol="0" anchor="t"/>
          <a:lstStyle/>
          <a:p>
            <a:pPr indent="0" marL="0">
              <a:buNone/>
            </a:pPr>
            <a:r>
              <a:rPr lang="en-US" sz="2200" b="1" dirty="0">
                <a:solidFill>
                  <a:srgbClr val="13221D"/>
                </a:solidFill>
                <a:latin typeface="Inter" pitchFamily="34" charset="0"/>
                <a:ea typeface="Inter" pitchFamily="34" charset="-122"/>
                <a:cs typeface="Inter" pitchFamily="34" charset="-120"/>
              </a:rPr>
              <a:t>Your name</a:t>
            </a:r>
            <a:endParaRPr lang="en-US" sz="2200" dirty="0"/>
          </a:p>
        </p:txBody>
      </p:sp>
      <p:sp>
        <p:nvSpPr>
          <p:cNvPr id="25" name="c1_txt_184"/>
          <p:cNvSpPr txBox="1"/>
          <p:nvPr/>
        </p:nvSpPr>
        <p:spPr>
          <a:xfrm>
            <a:off x="868680" y="3749040"/>
            <a:ext cx="2926080" cy="731520"/>
          </a:xfrm>
          <a:prstGeom prst="rect">
            <a:avLst/>
          </a:prstGeom>
          <a:noFill/>
          <a:ln/>
        </p:spPr>
        <p:txBody>
          <a:bodyPr wrap="square" lIns="0" tIns="0" rIns="0" bIns="0" rtlCol="0" anchor="t"/>
          <a:lstStyle/>
          <a:p>
            <a:pPr indent="0" marL="0">
              <a:buNone/>
            </a:pPr>
            <a:r>
              <a:rPr lang="en-US" sz="1500" dirty="0">
                <a:solidFill>
                  <a:srgbClr val="5E6E68"/>
                </a:solidFill>
                <a:latin typeface="Inter" pitchFamily="34" charset="0"/>
                <a:ea typeface="Inter" pitchFamily="34" charset="-122"/>
                <a:cs typeface="Inter" pitchFamily="34" charset="-120"/>
              </a:rPr>
              <a:t>and how you'd like to be called</a:t>
            </a:r>
            <a:endParaRPr lang="en-US" sz="1500" dirty="0"/>
          </a:p>
        </p:txBody>
      </p:sp>
      <p:sp>
        <p:nvSpPr>
          <p:cNvPr id="26" name="c2_card_185"/>
          <p:cNvSpPr/>
          <p:nvPr/>
        </p:nvSpPr>
        <p:spPr>
          <a:xfrm>
            <a:off x="4297680" y="1600200"/>
            <a:ext cx="3520440" cy="3108960"/>
          </a:xfrm>
          <a:prstGeom prst="roundRect">
            <a:avLst>
              <a:gd name="adj" fmla="val 3529"/>
            </a:avLst>
          </a:prstGeom>
          <a:solidFill>
            <a:srgbClr val="E8F2ED"/>
          </a:solidFill>
          <a:ln w="12700">
            <a:solidFill>
              <a:srgbClr val="E8F2ED"/>
            </a:solidFill>
            <a:prstDash val="solid"/>
          </a:ln>
        </p:spPr>
      </p:sp>
      <p:sp>
        <p:nvSpPr>
          <p:cNvPr id="27" name="c2_num_186"/>
          <p:cNvSpPr txBox="1"/>
          <p:nvPr/>
        </p:nvSpPr>
        <p:spPr>
          <a:xfrm>
            <a:off x="4617720" y="1920240"/>
            <a:ext cx="640080" cy="640080"/>
          </a:xfrm>
          <a:prstGeom prst="ellipse">
            <a:avLst/>
          </a:prstGeom>
          <a:solidFill>
            <a:srgbClr val="E8613A"/>
          </a:solid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28" name="c2_txt_187"/>
          <p:cNvSpPr txBox="1"/>
          <p:nvPr/>
        </p:nvSpPr>
        <p:spPr>
          <a:xfrm>
            <a:off x="4617720" y="2788920"/>
            <a:ext cx="2926080" cy="914400"/>
          </a:xfrm>
          <a:prstGeom prst="rect">
            <a:avLst/>
          </a:prstGeom>
          <a:noFill/>
          <a:ln/>
        </p:spPr>
        <p:txBody>
          <a:bodyPr wrap="square" lIns="0" tIns="0" rIns="0" bIns="0" rtlCol="0" anchor="t"/>
          <a:lstStyle/>
          <a:p>
            <a:pPr indent="0" marL="0">
              <a:buNone/>
            </a:pPr>
            <a:r>
              <a:rPr lang="en-US" sz="2200" b="1" dirty="0">
                <a:solidFill>
                  <a:srgbClr val="13221D"/>
                </a:solidFill>
                <a:latin typeface="Inter" pitchFamily="34" charset="0"/>
                <a:ea typeface="Inter" pitchFamily="34" charset="-122"/>
                <a:cs typeface="Inter" pitchFamily="34" charset="-120"/>
              </a:rPr>
              <a:t>Your affiliation</a:t>
            </a:r>
            <a:endParaRPr lang="en-US" sz="2200" dirty="0"/>
          </a:p>
        </p:txBody>
      </p:sp>
      <p:sp>
        <p:nvSpPr>
          <p:cNvPr id="29" name="c2_txt_188"/>
          <p:cNvSpPr txBox="1"/>
          <p:nvPr/>
        </p:nvSpPr>
        <p:spPr>
          <a:xfrm>
            <a:off x="4617720" y="3749040"/>
            <a:ext cx="2926080" cy="731520"/>
          </a:xfrm>
          <a:prstGeom prst="rect">
            <a:avLst/>
          </a:prstGeom>
          <a:noFill/>
          <a:ln/>
        </p:spPr>
        <p:txBody>
          <a:bodyPr wrap="square" lIns="0" tIns="0" rIns="0" bIns="0" rtlCol="0" anchor="t"/>
          <a:lstStyle/>
          <a:p>
            <a:pPr indent="0" marL="0">
              <a:buNone/>
            </a:pPr>
            <a:r>
              <a:rPr lang="en-US" sz="1500" dirty="0">
                <a:solidFill>
                  <a:srgbClr val="5E6E68"/>
                </a:solidFill>
                <a:latin typeface="Inter" pitchFamily="34" charset="0"/>
                <a:ea typeface="Inter" pitchFamily="34" charset="-122"/>
                <a:cs typeface="Inter" pitchFamily="34" charset="-120"/>
              </a:rPr>
              <a:t>institution, office, or organization</a:t>
            </a:r>
            <a:endParaRPr lang="en-US" sz="1500" dirty="0"/>
          </a:p>
        </p:txBody>
      </p:sp>
      <p:sp>
        <p:nvSpPr>
          <p:cNvPr id="30" name="c3_card_189"/>
          <p:cNvSpPr/>
          <p:nvPr/>
        </p:nvSpPr>
        <p:spPr>
          <a:xfrm>
            <a:off x="8046720" y="1600200"/>
            <a:ext cx="3520440" cy="3108960"/>
          </a:xfrm>
          <a:prstGeom prst="roundRect">
            <a:avLst>
              <a:gd name="adj" fmla="val 3529"/>
            </a:avLst>
          </a:prstGeom>
          <a:solidFill>
            <a:srgbClr val="E8F2ED"/>
          </a:solidFill>
          <a:ln w="12700">
            <a:solidFill>
              <a:srgbClr val="E8F2ED"/>
            </a:solidFill>
            <a:prstDash val="solid"/>
          </a:ln>
        </p:spPr>
      </p:sp>
      <p:sp>
        <p:nvSpPr>
          <p:cNvPr id="31" name="c3_num_190"/>
          <p:cNvSpPr txBox="1"/>
          <p:nvPr/>
        </p:nvSpPr>
        <p:spPr>
          <a:xfrm>
            <a:off x="8366760" y="1920240"/>
            <a:ext cx="640080" cy="640080"/>
          </a:xfrm>
          <a:prstGeom prst="ellipse">
            <a:avLst/>
          </a:prstGeom>
          <a:solidFill>
            <a:srgbClr val="E8613A"/>
          </a:solid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32" name="c3_txt_191"/>
          <p:cNvSpPr txBox="1"/>
          <p:nvPr/>
        </p:nvSpPr>
        <p:spPr>
          <a:xfrm>
            <a:off x="8366760" y="2788920"/>
            <a:ext cx="2926080" cy="914400"/>
          </a:xfrm>
          <a:prstGeom prst="rect">
            <a:avLst/>
          </a:prstGeom>
          <a:noFill/>
          <a:ln/>
        </p:spPr>
        <p:txBody>
          <a:bodyPr wrap="square" lIns="0" tIns="0" rIns="0" bIns="0" rtlCol="0" anchor="t"/>
          <a:lstStyle/>
          <a:p>
            <a:pPr indent="0" marL="0">
              <a:buNone/>
            </a:pPr>
            <a:r>
              <a:rPr lang="en-US" sz="2200" b="1" dirty="0">
                <a:solidFill>
                  <a:srgbClr val="13221D"/>
                </a:solidFill>
                <a:latin typeface="Inter" pitchFamily="34" charset="0"/>
                <a:ea typeface="Inter" pitchFamily="34" charset="-122"/>
                <a:cs typeface="Inter" pitchFamily="34" charset="-120"/>
              </a:rPr>
              <a:t>One word about AI</a:t>
            </a:r>
            <a:endParaRPr lang="en-US" sz="2200" dirty="0"/>
          </a:p>
        </p:txBody>
      </p:sp>
      <p:sp>
        <p:nvSpPr>
          <p:cNvPr id="33" name="c3_txt_192"/>
          <p:cNvSpPr txBox="1"/>
          <p:nvPr/>
        </p:nvSpPr>
        <p:spPr>
          <a:xfrm>
            <a:off x="8366760" y="3749040"/>
            <a:ext cx="2926080" cy="731520"/>
          </a:xfrm>
          <a:prstGeom prst="rect">
            <a:avLst/>
          </a:prstGeom>
          <a:noFill/>
          <a:ln/>
        </p:spPr>
        <p:txBody>
          <a:bodyPr wrap="square" lIns="0" tIns="0" rIns="0" bIns="0" rtlCol="0" anchor="t"/>
          <a:lstStyle/>
          <a:p>
            <a:pPr indent="0" marL="0">
              <a:buNone/>
            </a:pPr>
            <a:r>
              <a:rPr lang="en-US" sz="1500" dirty="0">
                <a:solidFill>
                  <a:srgbClr val="5E6E68"/>
                </a:solidFill>
                <a:latin typeface="Inter" pitchFamily="34" charset="0"/>
                <a:ea typeface="Inter" pitchFamily="34" charset="-122"/>
                <a:cs typeface="Inter" pitchFamily="34" charset="-120"/>
              </a:rPr>
              <a:t>how you feel about it right now</a:t>
            </a:r>
            <a:endParaRPr lang="en-US" sz="1500" dirty="0"/>
          </a:p>
        </p:txBody>
      </p:sp>
      <p:sp>
        <p:nvSpPr>
          <p:cNvPr id="34" name="pill_193"/>
          <p:cNvSpPr txBox="1"/>
          <p:nvPr/>
        </p:nvSpPr>
        <p:spPr>
          <a:xfrm>
            <a:off x="548640" y="5120640"/>
            <a:ext cx="2743200" cy="411480"/>
          </a:xfrm>
          <a:prstGeom prst="roundRect">
            <a:avLst>
              <a:gd name="adj" fmla="val 40000"/>
            </a:avLst>
          </a:prstGeom>
          <a:solidFill>
            <a:srgbClr val="FCE7DF"/>
          </a:solidFill>
          <a:ln/>
        </p:spPr>
        <p:txBody>
          <a:bodyPr wrap="square" lIns="0" tIns="0" rIns="0" bIns="0" rtlCol="0" anchor="ctr"/>
          <a:lstStyle/>
          <a:p>
            <a:pPr algn="ctr" indent="0" marL="0">
              <a:buNone/>
            </a:pPr>
            <a:r>
              <a:rPr lang="en-US" sz="1400" b="1" dirty="0">
                <a:solidFill>
                  <a:srgbClr val="E8613A"/>
                </a:solidFill>
                <a:latin typeface="Inter" pitchFamily="34" charset="0"/>
                <a:ea typeface="Inter" pitchFamily="34" charset="-122"/>
                <a:cs typeface="Inter" pitchFamily="34" charset="-120"/>
              </a:rPr>
              <a:t>About 30 seconds each</a:t>
            </a:r>
            <a:endParaRPr lang="en-US" sz="1400" dirty="0"/>
          </a:p>
        </p:txBody>
      </p:sp>
      <p:sp>
        <p:nvSpPr>
          <p:cNvPr id="35" name="txt_194"/>
          <p:cNvSpPr txBox="1"/>
          <p:nvPr/>
        </p:nvSpPr>
        <p:spPr>
          <a:xfrm>
            <a:off x="3474720" y="5120640"/>
            <a:ext cx="7315200" cy="411480"/>
          </a:xfrm>
          <a:prstGeom prst="rect">
            <a:avLst/>
          </a:prstGeom>
          <a:noFill/>
          <a:ln/>
        </p:spPr>
        <p:txBody>
          <a:bodyPr wrap="square" lIns="0" tIns="0" rIns="0" bIns="0" rtlCol="0" anchor="ctr"/>
          <a:lstStyle/>
          <a:p>
            <a:pPr indent="0" marL="0">
              <a:buNone/>
            </a:pPr>
            <a:r>
              <a:rPr lang="en-US" sz="1500" dirty="0">
                <a:solidFill>
                  <a:srgbClr val="5E6E68"/>
                </a:solidFill>
                <a:latin typeface="Inter" pitchFamily="34" charset="0"/>
                <a:ea typeface="Inter" pitchFamily="34" charset="-122"/>
                <a:cs typeface="Inter" pitchFamily="34" charset="-120"/>
              </a:rPr>
              <a:t>The pre-workshop survey covers the rest, so keep it short.</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 fill="hold">
                      <p:stCondLst>
                        <p:cond delay="indefinite"/>
                      </p:stCondLst>
                      <p:childTnLst>
                        <p:par>
                          <p:cTn id="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childTnLst>
                          </p:cTn>
                        </p:par>
                      </p:childTnLst>
                    </p:cTn>
                  </p:par>
                  <p:par>
                    <p:cTn id="30" fill="hold">
                      <p:stCondLst>
                        <p:cond delay="indefinite"/>
                      </p:stCondLst>
                      <p:childTnLst>
                        <p:par>
                          <p:cTn id="29"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childTnLst>
                          </p:cTn>
                        </p:par>
                      </p:childTnLst>
                    </p:cTn>
                  </p:par>
                  <p:par>
                    <p:cTn id="44" fill="hold">
                      <p:stCondLst>
                        <p:cond delay="indefinite"/>
                      </p:stCondLst>
                      <p:childTnLst>
                        <p:par>
                          <p:cTn id="43"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40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400"/>
                                        <p:tgtEl>
                                          <p:spTgt spid="3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me_chip_19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3" name="prog_welcome_196"/>
          <p:cNvSpPr/>
          <p:nvPr/>
        </p:nvSpPr>
        <p:spPr>
          <a:xfrm>
            <a:off x="548640" y="6400800"/>
            <a:ext cx="715244" cy="73152"/>
          </a:xfrm>
          <a:prstGeom prst="rect">
            <a:avLst/>
          </a:prstGeom>
          <a:solidFill>
            <a:srgbClr val="A9C4B8"/>
          </a:solidFill>
          <a:ln w="12700">
            <a:solidFill>
              <a:srgbClr val="A9C4B8"/>
            </a:solidFill>
            <a:prstDash val="solid"/>
          </a:ln>
        </p:spPr>
      </p:sp>
      <p:sp>
        <p:nvSpPr>
          <p:cNvPr id="4" name="prog_lbl_welcome_197"/>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198"/>
          <p:cNvSpPr/>
          <p:nvPr/>
        </p:nvSpPr>
        <p:spPr>
          <a:xfrm>
            <a:off x="1309604" y="6400800"/>
            <a:ext cx="1072866" cy="73152"/>
          </a:xfrm>
          <a:prstGeom prst="rect">
            <a:avLst/>
          </a:prstGeom>
          <a:solidFill>
            <a:srgbClr val="E8613A"/>
          </a:solidFill>
          <a:ln w="12700">
            <a:solidFill>
              <a:srgbClr val="E8613A"/>
            </a:solidFill>
            <a:prstDash val="solid"/>
          </a:ln>
        </p:spPr>
      </p:sp>
      <p:sp>
        <p:nvSpPr>
          <p:cNvPr id="6" name="prog_lbl_ai_199"/>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7" name="prog_pd_200"/>
          <p:cNvSpPr/>
          <p:nvPr/>
        </p:nvSpPr>
        <p:spPr>
          <a:xfrm>
            <a:off x="2428189" y="6400800"/>
            <a:ext cx="1072866" cy="73152"/>
          </a:xfrm>
          <a:prstGeom prst="rect">
            <a:avLst/>
          </a:prstGeom>
          <a:solidFill>
            <a:srgbClr val="2A5A4A"/>
          </a:solidFill>
          <a:ln w="12700">
            <a:solidFill>
              <a:srgbClr val="2A5A4A"/>
            </a:solidFill>
            <a:prstDash val="solid"/>
          </a:ln>
        </p:spPr>
      </p:sp>
      <p:sp>
        <p:nvSpPr>
          <p:cNvPr id="8" name="prog_lbl_pd_201"/>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Design</a:t>
            </a:r>
            <a:endParaRPr lang="en-US" sz="1000" dirty="0"/>
          </a:p>
        </p:txBody>
      </p:sp>
      <p:sp>
        <p:nvSpPr>
          <p:cNvPr id="9" name="prog_reflect_202"/>
          <p:cNvSpPr/>
          <p:nvPr/>
        </p:nvSpPr>
        <p:spPr>
          <a:xfrm>
            <a:off x="3546775" y="6400800"/>
            <a:ext cx="1072866" cy="73152"/>
          </a:xfrm>
          <a:prstGeom prst="rect">
            <a:avLst/>
          </a:prstGeom>
          <a:solidFill>
            <a:srgbClr val="2A5A4A"/>
          </a:solidFill>
          <a:ln w="12700">
            <a:solidFill>
              <a:srgbClr val="2A5A4A"/>
            </a:solidFill>
            <a:prstDash val="solid"/>
          </a:ln>
        </p:spPr>
      </p:sp>
      <p:sp>
        <p:nvSpPr>
          <p:cNvPr id="10" name="prog_lbl_reflect_203"/>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Reflect</a:t>
            </a:r>
            <a:endParaRPr lang="en-US" sz="1000" dirty="0"/>
          </a:p>
        </p:txBody>
      </p:sp>
      <p:sp>
        <p:nvSpPr>
          <p:cNvPr id="11" name="prog_share_204"/>
          <p:cNvSpPr/>
          <p:nvPr/>
        </p:nvSpPr>
        <p:spPr>
          <a:xfrm>
            <a:off x="4665360" y="6400800"/>
            <a:ext cx="1072866" cy="73152"/>
          </a:xfrm>
          <a:prstGeom prst="rect">
            <a:avLst/>
          </a:prstGeom>
          <a:solidFill>
            <a:srgbClr val="2A5A4A"/>
          </a:solidFill>
          <a:ln w="12700">
            <a:solidFill>
              <a:srgbClr val="2A5A4A"/>
            </a:solidFill>
            <a:prstDash val="solid"/>
          </a:ln>
        </p:spPr>
      </p:sp>
      <p:sp>
        <p:nvSpPr>
          <p:cNvPr id="12" name="prog_lbl_share_205"/>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Share</a:t>
            </a:r>
            <a:endParaRPr lang="en-US" sz="1000" dirty="0"/>
          </a:p>
        </p:txBody>
      </p:sp>
      <p:sp>
        <p:nvSpPr>
          <p:cNvPr id="13" name="prog_break_206"/>
          <p:cNvSpPr/>
          <p:nvPr/>
        </p:nvSpPr>
        <p:spPr>
          <a:xfrm>
            <a:off x="5783946" y="6400800"/>
            <a:ext cx="1072866" cy="73152"/>
          </a:xfrm>
          <a:prstGeom prst="rect">
            <a:avLst/>
          </a:prstGeom>
          <a:solidFill>
            <a:srgbClr val="2A5A4A"/>
          </a:solidFill>
          <a:ln w="12700">
            <a:solidFill>
              <a:srgbClr val="2A5A4A"/>
            </a:solidFill>
            <a:prstDash val="solid"/>
          </a:ln>
        </p:spPr>
      </p:sp>
      <p:sp>
        <p:nvSpPr>
          <p:cNvPr id="14" name="prog_lbl_break_207"/>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Break</a:t>
            </a:r>
            <a:endParaRPr lang="en-US" sz="1000" dirty="0"/>
          </a:p>
        </p:txBody>
      </p:sp>
      <p:sp>
        <p:nvSpPr>
          <p:cNvPr id="15" name="prog_breakout_208"/>
          <p:cNvSpPr/>
          <p:nvPr/>
        </p:nvSpPr>
        <p:spPr>
          <a:xfrm>
            <a:off x="6902531" y="6400800"/>
            <a:ext cx="3218597" cy="73152"/>
          </a:xfrm>
          <a:prstGeom prst="rect">
            <a:avLst/>
          </a:prstGeom>
          <a:solidFill>
            <a:srgbClr val="2A5A4A"/>
          </a:solidFill>
          <a:ln w="12700">
            <a:solidFill>
              <a:srgbClr val="2A5A4A"/>
            </a:solidFill>
            <a:prstDash val="solid"/>
          </a:ln>
        </p:spPr>
      </p:sp>
      <p:sp>
        <p:nvSpPr>
          <p:cNvPr id="16" name="prog_lbl_breakout_209"/>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210"/>
          <p:cNvSpPr/>
          <p:nvPr/>
        </p:nvSpPr>
        <p:spPr>
          <a:xfrm>
            <a:off x="10166848" y="6400800"/>
            <a:ext cx="715244" cy="73152"/>
          </a:xfrm>
          <a:prstGeom prst="rect">
            <a:avLst/>
          </a:prstGeom>
          <a:solidFill>
            <a:srgbClr val="2A5A4A"/>
          </a:solidFill>
          <a:ln w="12700">
            <a:solidFill>
              <a:srgbClr val="2A5A4A"/>
            </a:solidFill>
            <a:prstDash val="solid"/>
          </a:ln>
        </p:spPr>
      </p:sp>
      <p:sp>
        <p:nvSpPr>
          <p:cNvPr id="18" name="prog_lbl_report_211"/>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212"/>
          <p:cNvSpPr/>
          <p:nvPr/>
        </p:nvSpPr>
        <p:spPr>
          <a:xfrm>
            <a:off x="10927812" y="6400800"/>
            <a:ext cx="715244" cy="73152"/>
          </a:xfrm>
          <a:prstGeom prst="rect">
            <a:avLst/>
          </a:prstGeom>
          <a:solidFill>
            <a:srgbClr val="2A5A4A"/>
          </a:solidFill>
          <a:ln w="12700">
            <a:solidFill>
              <a:srgbClr val="2A5A4A"/>
            </a:solidFill>
            <a:prstDash val="solid"/>
          </a:ln>
        </p:spPr>
      </p:sp>
      <p:sp>
        <p:nvSpPr>
          <p:cNvPr id="20" name="prog_lbl_close_213"/>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1" name="txt_214"/>
          <p:cNvSpPr txBox="1"/>
          <p:nvPr/>
        </p:nvSpPr>
        <p:spPr>
          <a:xfrm>
            <a:off x="548640" y="1828800"/>
            <a:ext cx="4572000" cy="365760"/>
          </a:xfrm>
          <a:prstGeom prst="rect">
            <a:avLst/>
          </a:prstGeom>
          <a:noFill/>
          <a:ln/>
        </p:spPr>
        <p:txBody>
          <a:bodyPr wrap="square" lIns="0" tIns="0" rIns="0" bIns="0" rtlCol="0" anchor="t"/>
          <a:lstStyle/>
          <a:p>
            <a:pPr indent="0" marL="0">
              <a:buNone/>
            </a:pPr>
            <a:r>
              <a:rPr lang="en-US" sz="1400" b="1" spc="300" kern="0" dirty="0">
                <a:solidFill>
                  <a:srgbClr val="F2B33D"/>
                </a:solidFill>
                <a:latin typeface="Inter" pitchFamily="34" charset="0"/>
                <a:ea typeface="Inter" pitchFamily="34" charset="-122"/>
                <a:cs typeface="Inter" pitchFamily="34" charset="-120"/>
              </a:rPr>
              <a:t>PART 1</a:t>
            </a:r>
            <a:endParaRPr lang="en-US" sz="1400" dirty="0"/>
          </a:p>
        </p:txBody>
      </p:sp>
      <p:sp>
        <p:nvSpPr>
          <p:cNvPr id="22" name="txt_215"/>
          <p:cNvSpPr txBox="1"/>
          <p:nvPr/>
        </p:nvSpPr>
        <p:spPr>
          <a:xfrm>
            <a:off x="548640" y="2240280"/>
            <a:ext cx="5852160" cy="1737360"/>
          </a:xfrm>
          <a:prstGeom prst="rect">
            <a:avLst/>
          </a:prstGeom>
          <a:noFill/>
          <a:ln/>
        </p:spPr>
        <p:txBody>
          <a:bodyPr wrap="square" lIns="0" tIns="0" rIns="0" bIns="0" rtlCol="0" anchor="t"/>
          <a:lstStyle/>
          <a:p>
            <a:pPr indent="0" marL="0">
              <a:buNone/>
            </a:pPr>
            <a:r>
              <a:rPr lang="en-US" sz="4200" b="1" dirty="0">
                <a:solidFill>
                  <a:srgbClr val="FFFFFF"/>
                </a:solidFill>
                <a:latin typeface="Inter" pitchFamily="34" charset="0"/>
                <a:ea typeface="Inter" pitchFamily="34" charset="-122"/>
                <a:cs typeface="Inter" pitchFamily="34" charset="-120"/>
              </a:rPr>
              <a:t>What is AI, and where are we?</a:t>
            </a:r>
            <a:endParaRPr lang="en-US" sz="4200" dirty="0"/>
          </a:p>
        </p:txBody>
      </p:sp>
      <p:sp>
        <p:nvSpPr>
          <p:cNvPr id="23" name="txt_216"/>
          <p:cNvSpPr txBox="1"/>
          <p:nvPr/>
        </p:nvSpPr>
        <p:spPr>
          <a:xfrm>
            <a:off x="548640" y="4114800"/>
            <a:ext cx="5486400" cy="411480"/>
          </a:xfrm>
          <a:prstGeom prst="rect">
            <a:avLst/>
          </a:prstGeom>
          <a:noFill/>
          <a:ln/>
        </p:spPr>
        <p:txBody>
          <a:bodyPr wrap="square" lIns="0" tIns="0" rIns="0" bIns="0" rtlCol="0" anchor="t"/>
          <a:lstStyle/>
          <a:p>
            <a:pPr indent="0" marL="0">
              <a:buNone/>
            </a:pPr>
            <a:r>
              <a:rPr lang="en-US" sz="2000" b="1" dirty="0">
                <a:solidFill>
                  <a:srgbClr val="FFFFFF"/>
                </a:solidFill>
                <a:latin typeface="Inter" pitchFamily="34" charset="0"/>
                <a:ea typeface="Inter" pitchFamily="34" charset="-122"/>
                <a:cs typeface="Inter" pitchFamily="34" charset="-120"/>
              </a:rPr>
              <a:t>Nicholas Mattei</a:t>
            </a:r>
            <a:endParaRPr lang="en-US" sz="2000" dirty="0"/>
          </a:p>
        </p:txBody>
      </p:sp>
      <p:sp>
        <p:nvSpPr>
          <p:cNvPr id="24" name="card_217"/>
          <p:cNvSpPr/>
          <p:nvPr/>
        </p:nvSpPr>
        <p:spPr>
          <a:xfrm>
            <a:off x="6903720" y="1371600"/>
            <a:ext cx="4736592" cy="4480560"/>
          </a:xfrm>
          <a:prstGeom prst="roundRect">
            <a:avLst>
              <a:gd name="adj" fmla="val 4082"/>
            </a:avLst>
          </a:prstGeom>
          <a:solidFill>
            <a:srgbClr val="FFFFFF"/>
          </a:solidFill>
          <a:ln w="12700">
            <a:solidFill>
              <a:srgbClr val="FFFFFF"/>
            </a:solidFill>
            <a:prstDash val="solid"/>
          </a:ln>
        </p:spPr>
      </p:sp>
      <p:pic>
        <p:nvPicPr>
          <p:cNvPr id="25" name="img_ai_cartoon_218" descr="/home/claude/assets/ai_cartoon.png">    </p:cNvPr>
          <p:cNvPicPr>
            <a:picLocks noChangeAspect="1"/>
          </p:cNvPicPr>
          <p:nvPr/>
        </p:nvPicPr>
        <p:blipFill>
          <a:blip r:embed="rId1"/>
          <a:stretch>
            <a:fillRect/>
          </a:stretch>
        </p:blipFill>
        <p:spPr>
          <a:xfrm>
            <a:off x="7132320" y="2492106"/>
            <a:ext cx="4279392" cy="2239548"/>
          </a:xfrm>
          <a:prstGeom prst="rect">
            <a:avLst/>
          </a:prstGeom>
        </p:spPr>
      </p:pic>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AI is already everywhere</a:t>
            </a:r>
            <a:endParaRPr lang="en-US" sz="3000" dirty="0"/>
          </a:p>
        </p:txBody>
      </p:sp>
      <p:sp>
        <p:nvSpPr>
          <p:cNvPr id="3" name="time_chip_219"/>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220"/>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221"/>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22"/>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223"/>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24"/>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225"/>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26"/>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227"/>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28"/>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229"/>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30"/>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231"/>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32"/>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233"/>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34"/>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235"/>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36"/>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237"/>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238"/>
          <p:cNvSpPr txBox="1"/>
          <p:nvPr/>
        </p:nvSpPr>
        <p:spPr>
          <a:xfrm>
            <a:off x="548640" y="1371600"/>
            <a:ext cx="10515600" cy="457200"/>
          </a:xfrm>
          <a:prstGeom prst="rect">
            <a:avLst/>
          </a:prstGeom>
          <a:noFill/>
          <a:ln/>
        </p:spPr>
        <p:txBody>
          <a:bodyPr wrap="square" lIns="0" tIns="0" rIns="0" bIns="0" rtlCol="0" anchor="t"/>
          <a:lstStyle/>
          <a:p>
            <a:pPr indent="0" marL="0">
              <a:buNone/>
            </a:pPr>
            <a:r>
              <a:rPr lang="en-US" sz="1800" dirty="0">
                <a:solidFill>
                  <a:srgbClr val="5E6E68"/>
                </a:solidFill>
                <a:latin typeface="Inter" pitchFamily="34" charset="0"/>
                <a:ea typeface="Inter" pitchFamily="34" charset="-122"/>
                <a:cs typeface="Inter" pitchFamily="34" charset="-120"/>
              </a:rPr>
              <a:t>Feeds, search, prices, matches, rides, loans: most of it has run on AI for years.</a:t>
            </a:r>
            <a:endParaRPr lang="en-US" sz="1800" dirty="0"/>
          </a:p>
        </p:txBody>
      </p:sp>
      <p:sp>
        <p:nvSpPr>
          <p:cNvPr id="23" name="a1_card_239"/>
          <p:cNvSpPr/>
          <p:nvPr/>
        </p:nvSpPr>
        <p:spPr>
          <a:xfrm>
            <a:off x="548640" y="2103120"/>
            <a:ext cx="1691640" cy="1691640"/>
          </a:xfrm>
          <a:prstGeom prst="roundRect">
            <a:avLst>
              <a:gd name="adj" fmla="val 6486"/>
            </a:avLst>
          </a:prstGeom>
          <a:solidFill>
            <a:srgbClr val="FFFFFF"/>
          </a:solidFill>
          <a:ln w="12700">
            <a:solidFill>
              <a:srgbClr val="D9E1DD"/>
            </a:solidFill>
            <a:prstDash val="solid"/>
          </a:ln>
        </p:spPr>
      </p:sp>
      <p:pic>
        <p:nvPicPr>
          <p:cNvPr id="24" name="a1_img_lg_amazon_240" descr="/home/claude/assets/lg_amazon.png">    </p:cNvPr>
          <p:cNvPicPr>
            <a:picLocks noChangeAspect="1"/>
          </p:cNvPicPr>
          <p:nvPr/>
        </p:nvPicPr>
        <p:blipFill>
          <a:blip r:embed="rId1"/>
          <a:stretch>
            <a:fillRect/>
          </a:stretch>
        </p:blipFill>
        <p:spPr>
          <a:xfrm>
            <a:off x="777240" y="2632417"/>
            <a:ext cx="1234440" cy="633046"/>
          </a:xfrm>
          <a:prstGeom prst="rect">
            <a:avLst/>
          </a:prstGeom>
        </p:spPr>
      </p:pic>
      <p:sp>
        <p:nvSpPr>
          <p:cNvPr id="25" name="a1_card_241"/>
          <p:cNvSpPr/>
          <p:nvPr/>
        </p:nvSpPr>
        <p:spPr>
          <a:xfrm>
            <a:off x="2428646" y="2103120"/>
            <a:ext cx="1691640" cy="1691640"/>
          </a:xfrm>
          <a:prstGeom prst="roundRect">
            <a:avLst>
              <a:gd name="adj" fmla="val 6486"/>
            </a:avLst>
          </a:prstGeom>
          <a:solidFill>
            <a:srgbClr val="FFFFFF"/>
          </a:solidFill>
          <a:ln w="12700">
            <a:solidFill>
              <a:srgbClr val="D9E1DD"/>
            </a:solidFill>
            <a:prstDash val="solid"/>
          </a:ln>
        </p:spPr>
      </p:sp>
      <p:pic>
        <p:nvPicPr>
          <p:cNvPr id="26" name="a1_img_lg_netflix_242" descr="/home/claude/assets/lg_netflix.png">    </p:cNvPr>
          <p:cNvPicPr>
            <a:picLocks noChangeAspect="1"/>
          </p:cNvPicPr>
          <p:nvPr/>
        </p:nvPicPr>
        <p:blipFill>
          <a:blip r:embed="rId2"/>
          <a:stretch>
            <a:fillRect/>
          </a:stretch>
        </p:blipFill>
        <p:spPr>
          <a:xfrm>
            <a:off x="2657246" y="2558253"/>
            <a:ext cx="1234440" cy="781374"/>
          </a:xfrm>
          <a:prstGeom prst="rect">
            <a:avLst/>
          </a:prstGeom>
        </p:spPr>
      </p:pic>
      <p:sp>
        <p:nvSpPr>
          <p:cNvPr id="27" name="a1_card_243"/>
          <p:cNvSpPr/>
          <p:nvPr/>
        </p:nvSpPr>
        <p:spPr>
          <a:xfrm>
            <a:off x="4308653" y="2103120"/>
            <a:ext cx="1691640" cy="1691640"/>
          </a:xfrm>
          <a:prstGeom prst="roundRect">
            <a:avLst>
              <a:gd name="adj" fmla="val 6486"/>
            </a:avLst>
          </a:prstGeom>
          <a:solidFill>
            <a:srgbClr val="FFFFFF"/>
          </a:solidFill>
          <a:ln w="12700">
            <a:solidFill>
              <a:srgbClr val="D9E1DD"/>
            </a:solidFill>
            <a:prstDash val="solid"/>
          </a:ln>
        </p:spPr>
      </p:sp>
      <p:pic>
        <p:nvPicPr>
          <p:cNvPr id="28" name="a1_img_lg_spotify_244" descr="/home/claude/assets/lg_spotify.png">    </p:cNvPr>
          <p:cNvPicPr>
            <a:picLocks noChangeAspect="1"/>
          </p:cNvPicPr>
          <p:nvPr/>
        </p:nvPicPr>
        <p:blipFill>
          <a:blip r:embed="rId3"/>
          <a:stretch>
            <a:fillRect/>
          </a:stretch>
        </p:blipFill>
        <p:spPr>
          <a:xfrm>
            <a:off x="4537253" y="2741554"/>
            <a:ext cx="1234440" cy="414772"/>
          </a:xfrm>
          <a:prstGeom prst="rect">
            <a:avLst/>
          </a:prstGeom>
        </p:spPr>
      </p:pic>
      <p:sp>
        <p:nvSpPr>
          <p:cNvPr id="29" name="a2_card_245"/>
          <p:cNvSpPr/>
          <p:nvPr/>
        </p:nvSpPr>
        <p:spPr>
          <a:xfrm>
            <a:off x="6188659" y="2103120"/>
            <a:ext cx="1691640" cy="1691640"/>
          </a:xfrm>
          <a:prstGeom prst="roundRect">
            <a:avLst>
              <a:gd name="adj" fmla="val 6486"/>
            </a:avLst>
          </a:prstGeom>
          <a:solidFill>
            <a:srgbClr val="FFFFFF"/>
          </a:solidFill>
          <a:ln w="12700">
            <a:solidFill>
              <a:srgbClr val="D9E1DD"/>
            </a:solidFill>
            <a:prstDash val="solid"/>
          </a:ln>
        </p:spPr>
      </p:sp>
      <p:pic>
        <p:nvPicPr>
          <p:cNvPr id="30" name="a2_img_lg_airbnb_246" descr="/home/claude/assets/lg_airbnb.png">    </p:cNvPr>
          <p:cNvPicPr>
            <a:picLocks noChangeAspect="1"/>
          </p:cNvPicPr>
          <p:nvPr/>
        </p:nvPicPr>
        <p:blipFill>
          <a:blip r:embed="rId4"/>
          <a:stretch>
            <a:fillRect/>
          </a:stretch>
        </p:blipFill>
        <p:spPr>
          <a:xfrm>
            <a:off x="6506941" y="2331720"/>
            <a:ext cx="1055077" cy="1234440"/>
          </a:xfrm>
          <a:prstGeom prst="rect">
            <a:avLst/>
          </a:prstGeom>
        </p:spPr>
      </p:pic>
      <p:sp>
        <p:nvSpPr>
          <p:cNvPr id="31" name="a2_card_247"/>
          <p:cNvSpPr/>
          <p:nvPr/>
        </p:nvSpPr>
        <p:spPr>
          <a:xfrm>
            <a:off x="8068666" y="2103120"/>
            <a:ext cx="1691640" cy="1691640"/>
          </a:xfrm>
          <a:prstGeom prst="roundRect">
            <a:avLst>
              <a:gd name="adj" fmla="val 6486"/>
            </a:avLst>
          </a:prstGeom>
          <a:solidFill>
            <a:srgbClr val="FFFFFF"/>
          </a:solidFill>
          <a:ln w="12700">
            <a:solidFill>
              <a:srgbClr val="D9E1DD"/>
            </a:solidFill>
            <a:prstDash val="solid"/>
          </a:ln>
        </p:spPr>
      </p:sp>
      <p:pic>
        <p:nvPicPr>
          <p:cNvPr id="32" name="a2_img_lg_ubereats_248" descr="/home/claude/assets/lg_ubereats.png">    </p:cNvPr>
          <p:cNvPicPr>
            <a:picLocks noChangeAspect="1"/>
          </p:cNvPicPr>
          <p:nvPr/>
        </p:nvPicPr>
        <p:blipFill>
          <a:blip r:embed="rId5"/>
          <a:stretch>
            <a:fillRect/>
          </a:stretch>
        </p:blipFill>
        <p:spPr>
          <a:xfrm>
            <a:off x="8297266" y="2331720"/>
            <a:ext cx="1234440" cy="1234440"/>
          </a:xfrm>
          <a:prstGeom prst="rect">
            <a:avLst/>
          </a:prstGeom>
        </p:spPr>
      </p:pic>
      <p:sp>
        <p:nvSpPr>
          <p:cNvPr id="33" name="a2_card_249"/>
          <p:cNvSpPr/>
          <p:nvPr/>
        </p:nvSpPr>
        <p:spPr>
          <a:xfrm>
            <a:off x="9948672" y="2103120"/>
            <a:ext cx="1691640" cy="1691640"/>
          </a:xfrm>
          <a:prstGeom prst="roundRect">
            <a:avLst>
              <a:gd name="adj" fmla="val 6486"/>
            </a:avLst>
          </a:prstGeom>
          <a:solidFill>
            <a:srgbClr val="FFFFFF"/>
          </a:solidFill>
          <a:ln w="12700">
            <a:solidFill>
              <a:srgbClr val="D9E1DD"/>
            </a:solidFill>
            <a:prstDash val="solid"/>
          </a:ln>
        </p:spPr>
      </p:sp>
      <p:pic>
        <p:nvPicPr>
          <p:cNvPr id="34" name="a2_img_lg_instagram_250" descr="/home/claude/assets/lg_instagram.png">    </p:cNvPr>
          <p:cNvPicPr>
            <a:picLocks noChangeAspect="1"/>
          </p:cNvPicPr>
          <p:nvPr/>
        </p:nvPicPr>
        <p:blipFill>
          <a:blip r:embed="rId6"/>
          <a:stretch>
            <a:fillRect/>
          </a:stretch>
        </p:blipFill>
        <p:spPr>
          <a:xfrm>
            <a:off x="10177272" y="2493147"/>
            <a:ext cx="1234440" cy="911586"/>
          </a:xfrm>
          <a:prstGeom prst="rect">
            <a:avLst/>
          </a:prstGeom>
        </p:spPr>
      </p:pic>
      <p:sp>
        <p:nvSpPr>
          <p:cNvPr id="35" name="a3_card_251"/>
          <p:cNvSpPr/>
          <p:nvPr/>
        </p:nvSpPr>
        <p:spPr>
          <a:xfrm>
            <a:off x="548640" y="4069080"/>
            <a:ext cx="1691640" cy="1691640"/>
          </a:xfrm>
          <a:prstGeom prst="roundRect">
            <a:avLst>
              <a:gd name="adj" fmla="val 6486"/>
            </a:avLst>
          </a:prstGeom>
          <a:solidFill>
            <a:srgbClr val="FFFFFF"/>
          </a:solidFill>
          <a:ln w="12700">
            <a:solidFill>
              <a:srgbClr val="D9E1DD"/>
            </a:solidFill>
            <a:prstDash val="solid"/>
          </a:ln>
        </p:spPr>
      </p:sp>
      <p:pic>
        <p:nvPicPr>
          <p:cNvPr id="36" name="a3_img_lg_tiktok_252" descr="/home/claude/assets/lg_tiktok.png">    </p:cNvPr>
          <p:cNvPicPr>
            <a:picLocks noChangeAspect="1"/>
          </p:cNvPicPr>
          <p:nvPr/>
        </p:nvPicPr>
        <p:blipFill>
          <a:blip r:embed="rId7"/>
          <a:stretch>
            <a:fillRect/>
          </a:stretch>
        </p:blipFill>
        <p:spPr>
          <a:xfrm>
            <a:off x="861216" y="4297680"/>
            <a:ext cx="1066489" cy="1234440"/>
          </a:xfrm>
          <a:prstGeom prst="rect">
            <a:avLst/>
          </a:prstGeom>
        </p:spPr>
      </p:pic>
      <p:sp>
        <p:nvSpPr>
          <p:cNvPr id="37" name="a3_card_253"/>
          <p:cNvSpPr/>
          <p:nvPr/>
        </p:nvSpPr>
        <p:spPr>
          <a:xfrm>
            <a:off x="2428646" y="4069080"/>
            <a:ext cx="1691640" cy="1691640"/>
          </a:xfrm>
          <a:prstGeom prst="roundRect">
            <a:avLst>
              <a:gd name="adj" fmla="val 6486"/>
            </a:avLst>
          </a:prstGeom>
          <a:solidFill>
            <a:srgbClr val="FFFFFF"/>
          </a:solidFill>
          <a:ln w="12700">
            <a:solidFill>
              <a:srgbClr val="D9E1DD"/>
            </a:solidFill>
            <a:prstDash val="solid"/>
          </a:ln>
        </p:spPr>
      </p:sp>
      <p:pic>
        <p:nvPicPr>
          <p:cNvPr id="38" name="a3_img_lg_linkedin_254" descr="/home/claude/assets/lg_linkedin.png">    </p:cNvPr>
          <p:cNvPicPr>
            <a:picLocks noChangeAspect="1"/>
          </p:cNvPicPr>
          <p:nvPr/>
        </p:nvPicPr>
        <p:blipFill>
          <a:blip r:embed="rId8"/>
          <a:stretch>
            <a:fillRect/>
          </a:stretch>
        </p:blipFill>
        <p:spPr>
          <a:xfrm>
            <a:off x="2657246" y="4644866"/>
            <a:ext cx="1234440" cy="540068"/>
          </a:xfrm>
          <a:prstGeom prst="rect">
            <a:avLst/>
          </a:prstGeom>
        </p:spPr>
      </p:pic>
      <p:sp>
        <p:nvSpPr>
          <p:cNvPr id="39" name="a3_card_255"/>
          <p:cNvSpPr/>
          <p:nvPr/>
        </p:nvSpPr>
        <p:spPr>
          <a:xfrm>
            <a:off x="4308653" y="4069080"/>
            <a:ext cx="1691640" cy="1691640"/>
          </a:xfrm>
          <a:prstGeom prst="roundRect">
            <a:avLst>
              <a:gd name="adj" fmla="val 6486"/>
            </a:avLst>
          </a:prstGeom>
          <a:solidFill>
            <a:srgbClr val="FFFFFF"/>
          </a:solidFill>
          <a:ln w="12700">
            <a:solidFill>
              <a:srgbClr val="D9E1DD"/>
            </a:solidFill>
            <a:prstDash val="solid"/>
          </a:ln>
        </p:spPr>
      </p:sp>
      <p:pic>
        <p:nvPicPr>
          <p:cNvPr id="40" name="a3_img_lg_booking_256" descr="/home/claude/assets/lg_booking.png">    </p:cNvPr>
          <p:cNvPicPr>
            <a:picLocks noChangeAspect="1"/>
          </p:cNvPicPr>
          <p:nvPr/>
        </p:nvPicPr>
        <p:blipFill>
          <a:blip r:embed="rId9"/>
          <a:stretch>
            <a:fillRect/>
          </a:stretch>
        </p:blipFill>
        <p:spPr>
          <a:xfrm>
            <a:off x="4537253" y="4563128"/>
            <a:ext cx="1234440" cy="703544"/>
          </a:xfrm>
          <a:prstGeom prst="rect">
            <a:avLst/>
          </a:prstGeom>
        </p:spPr>
      </p:pic>
      <p:sp>
        <p:nvSpPr>
          <p:cNvPr id="41" name="a4_card_257"/>
          <p:cNvSpPr/>
          <p:nvPr/>
        </p:nvSpPr>
        <p:spPr>
          <a:xfrm>
            <a:off x="6188659" y="4069080"/>
            <a:ext cx="1691640" cy="1691640"/>
          </a:xfrm>
          <a:prstGeom prst="roundRect">
            <a:avLst>
              <a:gd name="adj" fmla="val 6486"/>
            </a:avLst>
          </a:prstGeom>
          <a:solidFill>
            <a:srgbClr val="FFFFFF"/>
          </a:solidFill>
          <a:ln w="12700">
            <a:solidFill>
              <a:srgbClr val="D9E1DD"/>
            </a:solidFill>
            <a:prstDash val="solid"/>
          </a:ln>
        </p:spPr>
      </p:sp>
      <p:pic>
        <p:nvPicPr>
          <p:cNvPr id="42" name="a4_img_lg_ebay_258" descr="/home/claude/assets/lg_ebay.png">    </p:cNvPr>
          <p:cNvPicPr>
            <a:picLocks noChangeAspect="1"/>
          </p:cNvPicPr>
          <p:nvPr/>
        </p:nvPicPr>
        <p:blipFill>
          <a:blip r:embed="rId10"/>
          <a:stretch>
            <a:fillRect/>
          </a:stretch>
        </p:blipFill>
        <p:spPr>
          <a:xfrm>
            <a:off x="6417259" y="4591966"/>
            <a:ext cx="1234440" cy="645867"/>
          </a:xfrm>
          <a:prstGeom prst="rect">
            <a:avLst/>
          </a:prstGeom>
        </p:spPr>
      </p:pic>
      <p:sp>
        <p:nvSpPr>
          <p:cNvPr id="43" name="a4_card_259"/>
          <p:cNvSpPr/>
          <p:nvPr/>
        </p:nvSpPr>
        <p:spPr>
          <a:xfrm>
            <a:off x="8068666" y="4069080"/>
            <a:ext cx="1691640" cy="1691640"/>
          </a:xfrm>
          <a:prstGeom prst="roundRect">
            <a:avLst>
              <a:gd name="adj" fmla="val 6486"/>
            </a:avLst>
          </a:prstGeom>
          <a:solidFill>
            <a:srgbClr val="FFFFFF"/>
          </a:solidFill>
          <a:ln w="12700">
            <a:solidFill>
              <a:srgbClr val="D9E1DD"/>
            </a:solidFill>
            <a:prstDash val="solid"/>
          </a:ln>
        </p:spPr>
      </p:sp>
      <p:pic>
        <p:nvPicPr>
          <p:cNvPr id="44" name="a4_img_lg_facebook_260" descr="/home/claude/assets/lg_facebook.png">    </p:cNvPr>
          <p:cNvPicPr>
            <a:picLocks noChangeAspect="1"/>
          </p:cNvPicPr>
          <p:nvPr/>
        </p:nvPicPr>
        <p:blipFill>
          <a:blip r:embed="rId11"/>
          <a:stretch>
            <a:fillRect/>
          </a:stretch>
        </p:blipFill>
        <p:spPr>
          <a:xfrm>
            <a:off x="8297266" y="4304246"/>
            <a:ext cx="1234440" cy="1221308"/>
          </a:xfrm>
          <a:prstGeom prst="rect">
            <a:avLst/>
          </a:prstGeom>
        </p:spPr>
      </p:pic>
      <p:sp>
        <p:nvSpPr>
          <p:cNvPr id="45" name="a4_card_261"/>
          <p:cNvSpPr/>
          <p:nvPr/>
        </p:nvSpPr>
        <p:spPr>
          <a:xfrm>
            <a:off x="9948672" y="4069080"/>
            <a:ext cx="1691640" cy="1691640"/>
          </a:xfrm>
          <a:prstGeom prst="roundRect">
            <a:avLst>
              <a:gd name="adj" fmla="val 6486"/>
            </a:avLst>
          </a:prstGeom>
          <a:solidFill>
            <a:srgbClr val="FFFFFF"/>
          </a:solidFill>
          <a:ln w="12700">
            <a:solidFill>
              <a:srgbClr val="D9E1DD"/>
            </a:solidFill>
            <a:prstDash val="solid"/>
          </a:ln>
        </p:spPr>
      </p:sp>
      <p:pic>
        <p:nvPicPr>
          <p:cNvPr id="46" name="a4_img_lg_nyt_262" descr="/home/claude/assets/lg_nyt.png">    </p:cNvPr>
          <p:cNvPicPr>
            <a:picLocks noChangeAspect="1"/>
          </p:cNvPicPr>
          <p:nvPr/>
        </p:nvPicPr>
        <p:blipFill>
          <a:blip r:embed="rId12"/>
          <a:stretch>
            <a:fillRect/>
          </a:stretch>
        </p:blipFill>
        <p:spPr>
          <a:xfrm>
            <a:off x="10177272" y="4512473"/>
            <a:ext cx="1234440" cy="80485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21"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23"/>
                                        </p:tgtEl>
                                        <p:attrNameLst>
                                          <p:attrName>style.visibility</p:attrName>
                                        </p:attrNameLst>
                                      </p:cBhvr>
                                      <p:to>
                                        <p:strVal val="visible"/>
                                      </p:to>
                                    </p:set>
                                    <p:animEffect transition="in" filter="fade">
                                      <p:cBhvr>
                                        <p:cTn id="5" dur="400"/>
                                        <p:tgtEl>
                                          <p:spTgt spid="2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4"/>
                                        </p:tgtEl>
                                        <p:attrNameLst>
                                          <p:attrName>style.visibility</p:attrName>
                                        </p:attrNameLst>
                                      </p:cBhvr>
                                      <p:to>
                                        <p:strVal val="visible"/>
                                      </p:to>
                                    </p:set>
                                    <p:animEffect transition="in" filter="fade">
                                      <p:cBhvr>
                                        <p:cTn id="8" dur="400"/>
                                        <p:tgtEl>
                                          <p:spTgt spid="2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400"/>
                                        <p:tgtEl>
                                          <p:spTgt spid="2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fade">
                                      <p:cBhvr>
                                        <p:cTn id="14" dur="400"/>
                                        <p:tgtEl>
                                          <p:spTgt spid="2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00"/>
                                        <p:tgtEl>
                                          <p:spTgt spid="28"/>
                                        </p:tgtEl>
                                      </p:cBhvr>
                                    </p:animEffect>
                                  </p:childTnLst>
                                </p:cTn>
                              </p:par>
                            </p:childTnLst>
                          </p:cTn>
                        </p:par>
                        <p:par>
                          <p:cTn id="40"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400"/>
                                        <p:tgtEl>
                                          <p:spTgt spid="3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4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childTnLst>
                          </p:cTn>
                        </p:par>
                        <p:par>
                          <p:cTn id="59" fill="hold">
                            <p:stCondLst>
                              <p:cond delay="800"/>
                            </p:stCondLst>
                            <p:childTnLst>
                              <p:par>
                                <p:cTn id="41" presetID="10" presetClass="entr" presetSubtype="0" fill="hold" grpId="0"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00"/>
                                        <p:tgtEl>
                                          <p:spTgt spid="3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400"/>
                                        <p:tgtEl>
                                          <p:spTgt spid="3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00"/>
                                        <p:tgtEl>
                                          <p:spTgt spid="3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400"/>
                                        <p:tgtEl>
                                          <p:spTgt spid="3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400"/>
                                        <p:tgtEl>
                                          <p:spTgt spid="40"/>
                                        </p:tgtEl>
                                      </p:cBhvr>
                                    </p:animEffect>
                                  </p:childTnLst>
                                </p:cTn>
                              </p:par>
                            </p:childTnLst>
                          </p:cTn>
                        </p:par>
                        <p:par>
                          <p:cTn id="78" fill="hold">
                            <p:stCondLst>
                              <p:cond delay="1200"/>
                            </p:stCondLst>
                            <p:childTnLst>
                              <p:par>
                                <p:cTn id="60" presetID="10" presetClass="entr" presetSubtype="0" fill="hold" grpId="0" nodeType="after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400"/>
                                        <p:tgtEl>
                                          <p:spTgt spid="4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42"/>
                                        </p:tgtEl>
                                        <p:attrNameLst>
                                          <p:attrName>style.visibility</p:attrName>
                                        </p:attrNameLst>
                                      </p:cBhvr>
                                      <p:to>
                                        <p:strVal val="visible"/>
                                      </p:to>
                                    </p:set>
                                    <p:animEffect transition="in" filter="fade">
                                      <p:cBhvr>
                                        <p:cTn id="65" dur="400"/>
                                        <p:tgtEl>
                                          <p:spTgt spid="4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400"/>
                                        <p:tgtEl>
                                          <p:spTgt spid="4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400"/>
                                        <p:tgtEl>
                                          <p:spTgt spid="4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5" grpId="0" animBg="1"/>
      <p:bldP spid="27" grpId="0" animBg="1"/>
      <p:bldP spid="29" grpId="0" animBg="1"/>
      <p:bldP spid="31" grpId="0" animBg="1"/>
      <p:bldP spid="33" grpId="0" animBg="1"/>
      <p:bldP spid="35" grpId="0" animBg="1"/>
      <p:bldP spid="37" grpId="0" animBg="1"/>
      <p:bldP spid="39" grpId="0" animBg="1"/>
      <p:bldP spid="41" grpId="0" animBg="1"/>
      <p:bldP spid="43" grpId="0" animBg="1"/>
      <p:bldP spid="4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Three ways to tell a computer what to do</a:t>
            </a:r>
            <a:endParaRPr lang="en-US" sz="3000" dirty="0"/>
          </a:p>
        </p:txBody>
      </p:sp>
      <p:sp>
        <p:nvSpPr>
          <p:cNvPr id="3" name="time_chip_263"/>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264"/>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265"/>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66"/>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267"/>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68"/>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269"/>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70"/>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271"/>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72"/>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273"/>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74"/>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275"/>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76"/>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277"/>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78"/>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279"/>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80"/>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281"/>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282"/>
          <p:cNvSpPr/>
          <p:nvPr/>
        </p:nvSpPr>
        <p:spPr>
          <a:xfrm>
            <a:off x="548640" y="1508760"/>
            <a:ext cx="3520440" cy="4343400"/>
          </a:xfrm>
          <a:prstGeom prst="roundRect">
            <a:avLst>
              <a:gd name="adj" fmla="val 3117"/>
            </a:avLst>
          </a:prstGeom>
          <a:solidFill>
            <a:srgbClr val="E8F2ED"/>
          </a:solidFill>
          <a:ln w="12700">
            <a:solidFill>
              <a:srgbClr val="E8F2ED"/>
            </a:solidFill>
            <a:prstDash val="solid"/>
          </a:ln>
        </p:spPr>
      </p:sp>
      <p:sp>
        <p:nvSpPr>
          <p:cNvPr id="23" name="c1_num_283"/>
          <p:cNvSpPr txBox="1"/>
          <p:nvPr/>
        </p:nvSpPr>
        <p:spPr>
          <a:xfrm>
            <a:off x="868680" y="1783080"/>
            <a:ext cx="685800" cy="685800"/>
          </a:xfrm>
          <a:prstGeom prst="ellipse">
            <a:avLst/>
          </a:prstGeom>
          <a:solidFill>
            <a:srgbClr val="1E6B4F"/>
          </a:solid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24" name="c1_txt_284"/>
          <p:cNvSpPr txBox="1"/>
          <p:nvPr/>
        </p:nvSpPr>
        <p:spPr>
          <a:xfrm>
            <a:off x="868680" y="2697480"/>
            <a:ext cx="2926080" cy="822960"/>
          </a:xfrm>
          <a:prstGeom prst="rect">
            <a:avLst/>
          </a:prstGeom>
          <a:noFill/>
          <a:ln/>
        </p:spPr>
        <p:txBody>
          <a:bodyPr wrap="square" lIns="0" tIns="0" rIns="0" bIns="0" rtlCol="0" anchor="t"/>
          <a:lstStyle/>
          <a:p>
            <a:pPr indent="0" marL="0">
              <a:buNone/>
            </a:pPr>
            <a:r>
              <a:rPr lang="en-US" sz="2200" b="1" dirty="0">
                <a:solidFill>
                  <a:srgbClr val="13221D"/>
                </a:solidFill>
                <a:latin typeface="Inter" pitchFamily="34" charset="0"/>
                <a:ea typeface="Inter" pitchFamily="34" charset="-122"/>
                <a:cs typeface="Inter" pitchFamily="34" charset="-120"/>
              </a:rPr>
              <a:t>Traditional programming</a:t>
            </a:r>
            <a:endParaRPr lang="en-US" sz="2200" dirty="0"/>
          </a:p>
        </p:txBody>
      </p:sp>
      <p:sp>
        <p:nvSpPr>
          <p:cNvPr id="25" name="c1_txt_285"/>
          <p:cNvSpPr txBox="1"/>
          <p:nvPr/>
        </p:nvSpPr>
        <p:spPr>
          <a:xfrm>
            <a:off x="868680" y="3520440"/>
            <a:ext cx="2926080" cy="137160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The computer does exactly what you tell it, whether you meant it or not.</a:t>
            </a:r>
            <a:endParaRPr lang="en-US" sz="1600" dirty="0"/>
          </a:p>
        </p:txBody>
      </p:sp>
      <p:sp>
        <p:nvSpPr>
          <p:cNvPr id="26" name="c1_pill_286"/>
          <p:cNvSpPr txBox="1"/>
          <p:nvPr/>
        </p:nvSpPr>
        <p:spPr>
          <a:xfrm>
            <a:off x="868680" y="5166360"/>
            <a:ext cx="2880360" cy="329184"/>
          </a:xfrm>
          <a:prstGeom prst="roundRect">
            <a:avLst>
              <a:gd name="adj" fmla="val 50000"/>
            </a:avLst>
          </a:prstGeom>
          <a:solidFill>
            <a:srgbClr val="D3E6DC"/>
          </a:solidFill>
          <a:ln/>
        </p:spPr>
        <p:txBody>
          <a:bodyPr wrap="square" lIns="0" tIns="0" rIns="0" bIns="0" rtlCol="0" anchor="ctr"/>
          <a:lstStyle/>
          <a:p>
            <a:pPr algn="ctr" indent="0" marL="0">
              <a:buNone/>
            </a:pPr>
            <a:r>
              <a:rPr lang="en-US" sz="1200" b="1" dirty="0">
                <a:solidFill>
                  <a:srgbClr val="0E3B2E"/>
                </a:solidFill>
                <a:latin typeface="Inter" pitchFamily="34" charset="0"/>
                <a:ea typeface="Inter" pitchFamily="34" charset="-122"/>
                <a:cs typeface="Inter" pitchFamily="34" charset="-120"/>
              </a:rPr>
              <a:t>Rules written by people</a:t>
            </a:r>
            <a:endParaRPr lang="en-US" sz="1200" dirty="0"/>
          </a:p>
        </p:txBody>
      </p:sp>
      <p:sp>
        <p:nvSpPr>
          <p:cNvPr id="27" name="c2_card_287"/>
          <p:cNvSpPr/>
          <p:nvPr/>
        </p:nvSpPr>
        <p:spPr>
          <a:xfrm>
            <a:off x="4297680" y="1508760"/>
            <a:ext cx="3520440" cy="4343400"/>
          </a:xfrm>
          <a:prstGeom prst="roundRect">
            <a:avLst>
              <a:gd name="adj" fmla="val 3117"/>
            </a:avLst>
          </a:prstGeom>
          <a:solidFill>
            <a:srgbClr val="E8F2ED"/>
          </a:solidFill>
          <a:ln w="12700">
            <a:solidFill>
              <a:srgbClr val="E8F2ED"/>
            </a:solidFill>
            <a:prstDash val="solid"/>
          </a:ln>
        </p:spPr>
      </p:sp>
      <p:sp>
        <p:nvSpPr>
          <p:cNvPr id="28" name="c2_num_288"/>
          <p:cNvSpPr txBox="1"/>
          <p:nvPr/>
        </p:nvSpPr>
        <p:spPr>
          <a:xfrm>
            <a:off x="4617720" y="1783080"/>
            <a:ext cx="685800" cy="685800"/>
          </a:xfrm>
          <a:prstGeom prst="ellipse">
            <a:avLst/>
          </a:prstGeom>
          <a:solidFill>
            <a:srgbClr val="1E6B4F"/>
          </a:solid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29" name="c2_txt_289"/>
          <p:cNvSpPr txBox="1"/>
          <p:nvPr/>
        </p:nvSpPr>
        <p:spPr>
          <a:xfrm>
            <a:off x="4617720" y="2697480"/>
            <a:ext cx="2926080" cy="822960"/>
          </a:xfrm>
          <a:prstGeom prst="rect">
            <a:avLst/>
          </a:prstGeom>
          <a:noFill/>
          <a:ln/>
        </p:spPr>
        <p:txBody>
          <a:bodyPr wrap="square" lIns="0" tIns="0" rIns="0" bIns="0" rtlCol="0" anchor="t"/>
          <a:lstStyle/>
          <a:p>
            <a:pPr indent="0" marL="0">
              <a:buNone/>
            </a:pPr>
            <a:r>
              <a:rPr lang="en-US" sz="2200" b="1" dirty="0">
                <a:solidFill>
                  <a:srgbClr val="13221D"/>
                </a:solidFill>
                <a:latin typeface="Inter" pitchFamily="34" charset="0"/>
                <a:ea typeface="Inter" pitchFamily="34" charset="-122"/>
                <a:cs typeface="Inter" pitchFamily="34" charset="-120"/>
              </a:rPr>
              <a:t>Machine learning</a:t>
            </a:r>
            <a:endParaRPr lang="en-US" sz="2200" dirty="0"/>
          </a:p>
        </p:txBody>
      </p:sp>
      <p:sp>
        <p:nvSpPr>
          <p:cNvPr id="30" name="c2_txt_290"/>
          <p:cNvSpPr txBox="1"/>
          <p:nvPr/>
        </p:nvSpPr>
        <p:spPr>
          <a:xfrm>
            <a:off x="4617720" y="3520440"/>
            <a:ext cx="2926080" cy="137160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Learns patterns from data to predict, classify, and recommend.</a:t>
            </a:r>
            <a:endParaRPr lang="en-US" sz="1600" dirty="0"/>
          </a:p>
        </p:txBody>
      </p:sp>
      <p:sp>
        <p:nvSpPr>
          <p:cNvPr id="31" name="c2_pill_291"/>
          <p:cNvSpPr txBox="1"/>
          <p:nvPr/>
        </p:nvSpPr>
        <p:spPr>
          <a:xfrm>
            <a:off x="4617720" y="5166360"/>
            <a:ext cx="2880360" cy="329184"/>
          </a:xfrm>
          <a:prstGeom prst="roundRect">
            <a:avLst>
              <a:gd name="adj" fmla="val 50000"/>
            </a:avLst>
          </a:prstGeom>
          <a:solidFill>
            <a:srgbClr val="D3E6DC"/>
          </a:solidFill>
          <a:ln/>
        </p:spPr>
        <p:txBody>
          <a:bodyPr wrap="square" lIns="0" tIns="0" rIns="0" bIns="0" rtlCol="0" anchor="ctr"/>
          <a:lstStyle/>
          <a:p>
            <a:pPr algn="ctr" indent="0" marL="0">
              <a:buNone/>
            </a:pPr>
            <a:r>
              <a:rPr lang="en-US" sz="1200" b="1" dirty="0">
                <a:solidFill>
                  <a:srgbClr val="0E3B2E"/>
                </a:solidFill>
                <a:latin typeface="Inter" pitchFamily="34" charset="0"/>
                <a:ea typeface="Inter" pitchFamily="34" charset="-122"/>
                <a:cs typeface="Inter" pitchFamily="34" charset="-120"/>
              </a:rPr>
              <a:t>Rules learned from data</a:t>
            </a:r>
            <a:endParaRPr lang="en-US" sz="1200" dirty="0"/>
          </a:p>
        </p:txBody>
      </p:sp>
      <p:sp>
        <p:nvSpPr>
          <p:cNvPr id="32" name="c3_card_292"/>
          <p:cNvSpPr/>
          <p:nvPr/>
        </p:nvSpPr>
        <p:spPr>
          <a:xfrm>
            <a:off x="8046720" y="1508760"/>
            <a:ext cx="3520440" cy="4343400"/>
          </a:xfrm>
          <a:prstGeom prst="roundRect">
            <a:avLst>
              <a:gd name="adj" fmla="val 3117"/>
            </a:avLst>
          </a:prstGeom>
          <a:solidFill>
            <a:srgbClr val="0E3B2E"/>
          </a:solidFill>
          <a:ln w="12700">
            <a:solidFill>
              <a:srgbClr val="0E3B2E"/>
            </a:solidFill>
            <a:prstDash val="solid"/>
          </a:ln>
        </p:spPr>
      </p:sp>
      <p:sp>
        <p:nvSpPr>
          <p:cNvPr id="33" name="c3_num_293"/>
          <p:cNvSpPr txBox="1"/>
          <p:nvPr/>
        </p:nvSpPr>
        <p:spPr>
          <a:xfrm>
            <a:off x="8366760" y="1783080"/>
            <a:ext cx="685800" cy="685800"/>
          </a:xfrm>
          <a:prstGeom prst="ellipse">
            <a:avLst/>
          </a:prstGeom>
          <a:solidFill>
            <a:srgbClr val="E8613A"/>
          </a:solid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34" name="c3_txt_294"/>
          <p:cNvSpPr txBox="1"/>
          <p:nvPr/>
        </p:nvSpPr>
        <p:spPr>
          <a:xfrm>
            <a:off x="8366760" y="2697480"/>
            <a:ext cx="2926080" cy="822960"/>
          </a:xfrm>
          <a:prstGeom prst="rect">
            <a:avLst/>
          </a:prstGeom>
          <a:noFill/>
          <a:ln/>
        </p:spPr>
        <p:txBody>
          <a:bodyPr wrap="square" lIns="0" tIns="0" rIns="0" bIns="0" rtlCol="0" anchor="t"/>
          <a:lstStyle/>
          <a:p>
            <a:pPr indent="0" marL="0">
              <a:buNone/>
            </a:pPr>
            <a:r>
              <a:rPr lang="en-US" sz="2200" b="1" dirty="0">
                <a:solidFill>
                  <a:srgbClr val="FFFFFF"/>
                </a:solidFill>
                <a:latin typeface="Inter" pitchFamily="34" charset="0"/>
                <a:ea typeface="Inter" pitchFamily="34" charset="-122"/>
                <a:cs typeface="Inter" pitchFamily="34" charset="-120"/>
              </a:rPr>
              <a:t>Generative AI</a:t>
            </a:r>
            <a:endParaRPr lang="en-US" sz="2200" dirty="0"/>
          </a:p>
        </p:txBody>
      </p:sp>
      <p:sp>
        <p:nvSpPr>
          <p:cNvPr id="35" name="c3_txt_295"/>
          <p:cNvSpPr txBox="1"/>
          <p:nvPr/>
        </p:nvSpPr>
        <p:spPr>
          <a:xfrm>
            <a:off x="8366760" y="3520440"/>
            <a:ext cx="2926080" cy="1371600"/>
          </a:xfrm>
          <a:prstGeom prst="rect">
            <a:avLst/>
          </a:prstGeom>
          <a:noFill/>
          <a:ln/>
        </p:spPr>
        <p:txBody>
          <a:bodyPr wrap="square" lIns="0" tIns="0" rIns="0" bIns="0" rtlCol="0" anchor="t"/>
          <a:lstStyle/>
          <a:p>
            <a:pPr indent="0" marL="0">
              <a:buNone/>
            </a:pPr>
            <a:r>
              <a:rPr lang="en-US" sz="1600" dirty="0">
                <a:solidFill>
                  <a:srgbClr val="D7E7DF"/>
                </a:solidFill>
                <a:latin typeface="Inter" pitchFamily="34" charset="0"/>
                <a:ea typeface="Inter" pitchFamily="34" charset="-122"/>
                <a:cs typeface="Inter" pitchFamily="34" charset="-120"/>
              </a:rPr>
              <a:t>Trained broadly to do many things. Wonderful new behavior, but hard to predict exactly.</a:t>
            </a:r>
            <a:endParaRPr lang="en-US" sz="1600" dirty="0"/>
          </a:p>
        </p:txBody>
      </p:sp>
      <p:sp>
        <p:nvSpPr>
          <p:cNvPr id="36" name="c3_pill_296"/>
          <p:cNvSpPr txBox="1"/>
          <p:nvPr/>
        </p:nvSpPr>
        <p:spPr>
          <a:xfrm>
            <a:off x="8366760" y="5166360"/>
            <a:ext cx="2880360" cy="329184"/>
          </a:xfrm>
          <a:prstGeom prst="roundRect">
            <a:avLst>
              <a:gd name="adj" fmla="val 50000"/>
            </a:avLst>
          </a:prstGeom>
          <a:solidFill>
            <a:srgbClr val="174A3A"/>
          </a:solidFill>
          <a:ln/>
        </p:spPr>
        <p:txBody>
          <a:bodyPr wrap="square" lIns="0" tIns="0" rIns="0" bIns="0" rtlCol="0" anchor="ctr"/>
          <a:lstStyle/>
          <a:p>
            <a:pPr algn="ctr" indent="0" marL="0">
              <a:buNone/>
            </a:pPr>
            <a:r>
              <a:rPr lang="en-US" sz="1200" b="1" dirty="0">
                <a:solidFill>
                  <a:srgbClr val="F2B33D"/>
                </a:solidFill>
                <a:latin typeface="Inter" pitchFamily="34" charset="0"/>
                <a:ea typeface="Inter" pitchFamily="34" charset="-122"/>
                <a:cs typeface="Inter" pitchFamily="34" charset="-120"/>
              </a:rPr>
              <a:t>Text, images, code on demand</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1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36" fill="hold">
                      <p:stCondLst>
                        <p:cond delay="indefinite"/>
                      </p:stCondLst>
                      <p:childTnLst>
                        <p:par>
                          <p:cTn id="35"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childTnLst>
                          </p:cTn>
                        </p:par>
                      </p:childTnLst>
                    </p:cTn>
                  </p:par>
                  <p:par>
                    <p:cTn id="53" fill="hold">
                      <p:stCondLst>
                        <p:cond delay="indefinite"/>
                      </p:stCondLst>
                      <p:childTnLst>
                        <p:par>
                          <p:cTn id="52"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From autocomplete to agents</a:t>
            </a:r>
            <a:endParaRPr lang="en-US" sz="3000" dirty="0"/>
          </a:p>
        </p:txBody>
      </p:sp>
      <p:sp>
        <p:nvSpPr>
          <p:cNvPr id="3" name="time_chip_297"/>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298"/>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299"/>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300"/>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301"/>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302"/>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303"/>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304"/>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305"/>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306"/>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307"/>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308"/>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309"/>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310"/>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311"/>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312"/>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313"/>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314"/>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315"/>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316"/>
          <p:cNvSpPr/>
          <p:nvPr/>
        </p:nvSpPr>
        <p:spPr>
          <a:xfrm>
            <a:off x="548640" y="1600200"/>
            <a:ext cx="2560320" cy="3566160"/>
          </a:xfrm>
          <a:prstGeom prst="roundRect">
            <a:avLst>
              <a:gd name="adj" fmla="val 4286"/>
            </a:avLst>
          </a:prstGeom>
          <a:solidFill>
            <a:srgbClr val="E8F2ED"/>
          </a:solidFill>
          <a:ln w="12700">
            <a:solidFill>
              <a:srgbClr val="E8F2ED"/>
            </a:solidFill>
            <a:prstDash val="solid"/>
          </a:ln>
        </p:spPr>
      </p:sp>
      <p:sp>
        <p:nvSpPr>
          <p:cNvPr id="23" name="c1_txt_317"/>
          <p:cNvSpPr txBox="1"/>
          <p:nvPr/>
        </p:nvSpPr>
        <p:spPr>
          <a:xfrm>
            <a:off x="822960" y="1828800"/>
            <a:ext cx="914400" cy="457200"/>
          </a:xfrm>
          <a:prstGeom prst="rect">
            <a:avLst/>
          </a:prstGeom>
          <a:noFill/>
          <a:ln/>
        </p:spPr>
        <p:txBody>
          <a:bodyPr wrap="square" lIns="0" tIns="0" rIns="0" bIns="0" rtlCol="0" anchor="t"/>
          <a:lstStyle/>
          <a:p>
            <a:pPr indent="0" marL="0">
              <a:buNone/>
            </a:pPr>
            <a:r>
              <a:rPr lang="en-US" sz="1800" b="1" dirty="0">
                <a:solidFill>
                  <a:srgbClr val="1E6B4F"/>
                </a:solidFill>
                <a:latin typeface="Inter" pitchFamily="34" charset="0"/>
                <a:ea typeface="Inter" pitchFamily="34" charset="-122"/>
                <a:cs typeface="Inter" pitchFamily="34" charset="-120"/>
              </a:rPr>
              <a:t>01</a:t>
            </a:r>
            <a:endParaRPr lang="en-US" sz="1800" dirty="0"/>
          </a:p>
        </p:txBody>
      </p:sp>
      <p:sp>
        <p:nvSpPr>
          <p:cNvPr id="24" name="c1_txt_318"/>
          <p:cNvSpPr txBox="1"/>
          <p:nvPr/>
        </p:nvSpPr>
        <p:spPr>
          <a:xfrm>
            <a:off x="822960" y="2286000"/>
            <a:ext cx="2103120" cy="82296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Large language model</a:t>
            </a:r>
            <a:endParaRPr lang="en-US" sz="2000" dirty="0"/>
          </a:p>
        </p:txBody>
      </p:sp>
      <p:sp>
        <p:nvSpPr>
          <p:cNvPr id="25" name="c1_txt_319"/>
          <p:cNvSpPr txBox="1"/>
          <p:nvPr/>
        </p:nvSpPr>
        <p:spPr>
          <a:xfrm>
            <a:off x="822960" y="3154680"/>
            <a:ext cx="2103120" cy="685800"/>
          </a:xfrm>
          <a:prstGeom prst="rect">
            <a:avLst/>
          </a:prstGeom>
          <a:noFill/>
          <a:ln/>
        </p:spPr>
        <p:txBody>
          <a:bodyPr wrap="square" lIns="0" tIns="0" rIns="0" bIns="0" rtlCol="0" anchor="t"/>
          <a:lstStyle/>
          <a:p>
            <a:pPr indent="0" marL="0">
              <a:buNone/>
            </a:pPr>
            <a:r>
              <a:rPr lang="en-US" sz="1600" b="1" dirty="0">
                <a:solidFill>
                  <a:srgbClr val="1E6B4F"/>
                </a:solidFill>
                <a:latin typeface="Inter" pitchFamily="34" charset="0"/>
                <a:ea typeface="Inter" pitchFamily="34" charset="-122"/>
                <a:cs typeface="Inter" pitchFamily="34" charset="-120"/>
              </a:rPr>
              <a:t>Guess the next word</a:t>
            </a:r>
            <a:endParaRPr lang="en-US" sz="1600" dirty="0"/>
          </a:p>
        </p:txBody>
      </p:sp>
      <p:sp>
        <p:nvSpPr>
          <p:cNvPr id="26" name="c1_txt_320"/>
          <p:cNvSpPr txBox="1"/>
          <p:nvPr/>
        </p:nvSpPr>
        <p:spPr>
          <a:xfrm>
            <a:off x="822960" y="3840480"/>
            <a:ext cx="2103120" cy="11887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Words in, word out. Trained on huge amounts of text.</a:t>
            </a:r>
            <a:endParaRPr lang="en-US" sz="1400" dirty="0"/>
          </a:p>
        </p:txBody>
      </p:sp>
      <p:sp>
        <p:nvSpPr>
          <p:cNvPr id="27" name="c2_txt_321"/>
          <p:cNvSpPr txBox="1"/>
          <p:nvPr/>
        </p:nvSpPr>
        <p:spPr>
          <a:xfrm>
            <a:off x="3090672" y="3108960"/>
            <a:ext cx="320040" cy="548640"/>
          </a:xfrm>
          <a:prstGeom prst="rect">
            <a:avLst/>
          </a:prstGeom>
          <a:noFill/>
          <a:ln/>
        </p:spPr>
        <p:txBody>
          <a:bodyPr wrap="square" lIns="0" tIns="0" rIns="0" bIns="0" rtlCol="0" anchor="ctr"/>
          <a:lstStyle/>
          <a:p>
            <a:pPr algn="ctr" indent="0" marL="0">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28" name="c2_card_322"/>
          <p:cNvSpPr/>
          <p:nvPr/>
        </p:nvSpPr>
        <p:spPr>
          <a:xfrm>
            <a:off x="3392424" y="1600200"/>
            <a:ext cx="2560320" cy="3566160"/>
          </a:xfrm>
          <a:prstGeom prst="roundRect">
            <a:avLst>
              <a:gd name="adj" fmla="val 4286"/>
            </a:avLst>
          </a:prstGeom>
          <a:solidFill>
            <a:srgbClr val="E8F2ED"/>
          </a:solidFill>
          <a:ln w="12700">
            <a:solidFill>
              <a:srgbClr val="E8F2ED"/>
            </a:solidFill>
            <a:prstDash val="solid"/>
          </a:ln>
        </p:spPr>
      </p:sp>
      <p:sp>
        <p:nvSpPr>
          <p:cNvPr id="29" name="c2_txt_323"/>
          <p:cNvSpPr txBox="1"/>
          <p:nvPr/>
        </p:nvSpPr>
        <p:spPr>
          <a:xfrm>
            <a:off x="3666744" y="1828800"/>
            <a:ext cx="914400" cy="457200"/>
          </a:xfrm>
          <a:prstGeom prst="rect">
            <a:avLst/>
          </a:prstGeom>
          <a:noFill/>
          <a:ln/>
        </p:spPr>
        <p:txBody>
          <a:bodyPr wrap="square" lIns="0" tIns="0" rIns="0" bIns="0" rtlCol="0" anchor="t"/>
          <a:lstStyle/>
          <a:p>
            <a:pPr indent="0" marL="0">
              <a:buNone/>
            </a:pPr>
            <a:r>
              <a:rPr lang="en-US" sz="1800" b="1" dirty="0">
                <a:solidFill>
                  <a:srgbClr val="1E6B4F"/>
                </a:solidFill>
                <a:latin typeface="Inter" pitchFamily="34" charset="0"/>
                <a:ea typeface="Inter" pitchFamily="34" charset="-122"/>
                <a:cs typeface="Inter" pitchFamily="34" charset="-120"/>
              </a:rPr>
              <a:t>02</a:t>
            </a:r>
            <a:endParaRPr lang="en-US" sz="1800" dirty="0"/>
          </a:p>
        </p:txBody>
      </p:sp>
      <p:sp>
        <p:nvSpPr>
          <p:cNvPr id="30" name="c2_txt_324"/>
          <p:cNvSpPr txBox="1"/>
          <p:nvPr/>
        </p:nvSpPr>
        <p:spPr>
          <a:xfrm>
            <a:off x="3666744" y="2286000"/>
            <a:ext cx="2103120" cy="82296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Chatbot</a:t>
            </a:r>
            <a:endParaRPr lang="en-US" sz="2000" dirty="0"/>
          </a:p>
        </p:txBody>
      </p:sp>
      <p:sp>
        <p:nvSpPr>
          <p:cNvPr id="31" name="c2_txt_325"/>
          <p:cNvSpPr txBox="1"/>
          <p:nvPr/>
        </p:nvSpPr>
        <p:spPr>
          <a:xfrm>
            <a:off x="3666744" y="3154680"/>
            <a:ext cx="2103120" cy="685800"/>
          </a:xfrm>
          <a:prstGeom prst="rect">
            <a:avLst/>
          </a:prstGeom>
          <a:noFill/>
          <a:ln/>
        </p:spPr>
        <p:txBody>
          <a:bodyPr wrap="square" lIns="0" tIns="0" rIns="0" bIns="0" rtlCol="0" anchor="t"/>
          <a:lstStyle/>
          <a:p>
            <a:pPr indent="0" marL="0">
              <a:buNone/>
            </a:pPr>
            <a:r>
              <a:rPr lang="en-US" sz="1600" b="1" dirty="0">
                <a:solidFill>
                  <a:srgbClr val="1E6B4F"/>
                </a:solidFill>
                <a:latin typeface="Inter" pitchFamily="34" charset="0"/>
                <a:ea typeface="Inter" pitchFamily="34" charset="-122"/>
                <a:cs typeface="Inter" pitchFamily="34" charset="-120"/>
              </a:rPr>
              <a:t>Hold a conversation</a:t>
            </a:r>
            <a:endParaRPr lang="en-US" sz="1600" dirty="0"/>
          </a:p>
        </p:txBody>
      </p:sp>
      <p:sp>
        <p:nvSpPr>
          <p:cNvPr id="32" name="c2_txt_326"/>
          <p:cNvSpPr txBox="1"/>
          <p:nvPr/>
        </p:nvSpPr>
        <p:spPr>
          <a:xfrm>
            <a:off x="3666744" y="3840480"/>
            <a:ext cx="2103120" cy="11887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Tuned with human feedback to follow instructions.</a:t>
            </a:r>
            <a:endParaRPr lang="en-US" sz="1400" dirty="0"/>
          </a:p>
        </p:txBody>
      </p:sp>
      <p:sp>
        <p:nvSpPr>
          <p:cNvPr id="33" name="c3_txt_327"/>
          <p:cNvSpPr txBox="1"/>
          <p:nvPr/>
        </p:nvSpPr>
        <p:spPr>
          <a:xfrm>
            <a:off x="5934456" y="3108960"/>
            <a:ext cx="320040" cy="548640"/>
          </a:xfrm>
          <a:prstGeom prst="rect">
            <a:avLst/>
          </a:prstGeom>
          <a:noFill/>
          <a:ln/>
        </p:spPr>
        <p:txBody>
          <a:bodyPr wrap="square" lIns="0" tIns="0" rIns="0" bIns="0" rtlCol="0" anchor="ctr"/>
          <a:lstStyle/>
          <a:p>
            <a:pPr algn="ctr" indent="0" marL="0">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34" name="c3_card_328"/>
          <p:cNvSpPr/>
          <p:nvPr/>
        </p:nvSpPr>
        <p:spPr>
          <a:xfrm>
            <a:off x="6236208" y="1600200"/>
            <a:ext cx="2560320" cy="3566160"/>
          </a:xfrm>
          <a:prstGeom prst="roundRect">
            <a:avLst>
              <a:gd name="adj" fmla="val 4286"/>
            </a:avLst>
          </a:prstGeom>
          <a:solidFill>
            <a:srgbClr val="E8F2ED"/>
          </a:solidFill>
          <a:ln w="12700">
            <a:solidFill>
              <a:srgbClr val="E8F2ED"/>
            </a:solidFill>
            <a:prstDash val="solid"/>
          </a:ln>
        </p:spPr>
      </p:sp>
      <p:sp>
        <p:nvSpPr>
          <p:cNvPr id="35" name="c3_txt_329"/>
          <p:cNvSpPr txBox="1"/>
          <p:nvPr/>
        </p:nvSpPr>
        <p:spPr>
          <a:xfrm>
            <a:off x="6510528" y="1828800"/>
            <a:ext cx="914400" cy="457200"/>
          </a:xfrm>
          <a:prstGeom prst="rect">
            <a:avLst/>
          </a:prstGeom>
          <a:noFill/>
          <a:ln/>
        </p:spPr>
        <p:txBody>
          <a:bodyPr wrap="square" lIns="0" tIns="0" rIns="0" bIns="0" rtlCol="0" anchor="t"/>
          <a:lstStyle/>
          <a:p>
            <a:pPr indent="0" marL="0">
              <a:buNone/>
            </a:pPr>
            <a:r>
              <a:rPr lang="en-US" sz="1800" b="1" dirty="0">
                <a:solidFill>
                  <a:srgbClr val="1E6B4F"/>
                </a:solidFill>
                <a:latin typeface="Inter" pitchFamily="34" charset="0"/>
                <a:ea typeface="Inter" pitchFamily="34" charset="-122"/>
                <a:cs typeface="Inter" pitchFamily="34" charset="-120"/>
              </a:rPr>
              <a:t>03</a:t>
            </a:r>
            <a:endParaRPr lang="en-US" sz="1800" dirty="0"/>
          </a:p>
        </p:txBody>
      </p:sp>
      <p:sp>
        <p:nvSpPr>
          <p:cNvPr id="36" name="c3_txt_330"/>
          <p:cNvSpPr txBox="1"/>
          <p:nvPr/>
        </p:nvSpPr>
        <p:spPr>
          <a:xfrm>
            <a:off x="6510528" y="2286000"/>
            <a:ext cx="2103120" cy="82296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Reasoning model</a:t>
            </a:r>
            <a:endParaRPr lang="en-US" sz="2000" dirty="0"/>
          </a:p>
        </p:txBody>
      </p:sp>
      <p:sp>
        <p:nvSpPr>
          <p:cNvPr id="37" name="c3_txt_331"/>
          <p:cNvSpPr txBox="1"/>
          <p:nvPr/>
        </p:nvSpPr>
        <p:spPr>
          <a:xfrm>
            <a:off x="6510528" y="3154680"/>
            <a:ext cx="2103120" cy="685800"/>
          </a:xfrm>
          <a:prstGeom prst="rect">
            <a:avLst/>
          </a:prstGeom>
          <a:noFill/>
          <a:ln/>
        </p:spPr>
        <p:txBody>
          <a:bodyPr wrap="square" lIns="0" tIns="0" rIns="0" bIns="0" rtlCol="0" anchor="t"/>
          <a:lstStyle/>
          <a:p>
            <a:pPr indent="0" marL="0">
              <a:buNone/>
            </a:pPr>
            <a:r>
              <a:rPr lang="en-US" sz="1600" b="1" dirty="0">
                <a:solidFill>
                  <a:srgbClr val="1E6B4F"/>
                </a:solidFill>
                <a:latin typeface="Inter" pitchFamily="34" charset="0"/>
                <a:ea typeface="Inter" pitchFamily="34" charset="-122"/>
                <a:cs typeface="Inter" pitchFamily="34" charset="-120"/>
              </a:rPr>
              <a:t>Work through a problem</a:t>
            </a:r>
            <a:endParaRPr lang="en-US" sz="1600" dirty="0"/>
          </a:p>
        </p:txBody>
      </p:sp>
      <p:sp>
        <p:nvSpPr>
          <p:cNvPr id="38" name="c3_txt_332"/>
          <p:cNvSpPr txBox="1"/>
          <p:nvPr/>
        </p:nvSpPr>
        <p:spPr>
          <a:xfrm>
            <a:off x="6510528" y="3840480"/>
            <a:ext cx="2103120" cy="11887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Writes hidden steps before it answers.</a:t>
            </a:r>
            <a:endParaRPr lang="en-US" sz="1400" dirty="0"/>
          </a:p>
        </p:txBody>
      </p:sp>
      <p:sp>
        <p:nvSpPr>
          <p:cNvPr id="39" name="c4_txt_333"/>
          <p:cNvSpPr txBox="1"/>
          <p:nvPr/>
        </p:nvSpPr>
        <p:spPr>
          <a:xfrm>
            <a:off x="8778240" y="3108960"/>
            <a:ext cx="320040" cy="548640"/>
          </a:xfrm>
          <a:prstGeom prst="rect">
            <a:avLst/>
          </a:prstGeom>
          <a:noFill/>
          <a:ln/>
        </p:spPr>
        <p:txBody>
          <a:bodyPr wrap="square" lIns="0" tIns="0" rIns="0" bIns="0" rtlCol="0" anchor="ctr"/>
          <a:lstStyle/>
          <a:p>
            <a:pPr algn="ctr" indent="0" marL="0">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40" name="c4_card_334"/>
          <p:cNvSpPr/>
          <p:nvPr/>
        </p:nvSpPr>
        <p:spPr>
          <a:xfrm>
            <a:off x="9079992" y="1600200"/>
            <a:ext cx="2560320" cy="3566160"/>
          </a:xfrm>
          <a:prstGeom prst="roundRect">
            <a:avLst>
              <a:gd name="adj" fmla="val 4286"/>
            </a:avLst>
          </a:prstGeom>
          <a:solidFill>
            <a:srgbClr val="FCE7DF"/>
          </a:solidFill>
          <a:ln w="12700">
            <a:solidFill>
              <a:srgbClr val="FCE7DF"/>
            </a:solidFill>
            <a:prstDash val="solid"/>
          </a:ln>
        </p:spPr>
      </p:sp>
      <p:sp>
        <p:nvSpPr>
          <p:cNvPr id="41" name="c4_txt_335"/>
          <p:cNvSpPr txBox="1"/>
          <p:nvPr/>
        </p:nvSpPr>
        <p:spPr>
          <a:xfrm>
            <a:off x="9354312" y="1828800"/>
            <a:ext cx="914400" cy="457200"/>
          </a:xfrm>
          <a:prstGeom prst="rect">
            <a:avLst/>
          </a:prstGeom>
          <a:noFill/>
          <a:ln/>
        </p:spPr>
        <p:txBody>
          <a:bodyPr wrap="square" lIns="0" tIns="0" rIns="0" bIns="0" rtlCol="0" anchor="t"/>
          <a:lstStyle/>
          <a:p>
            <a:pPr indent="0" marL="0">
              <a:buNone/>
            </a:pPr>
            <a:r>
              <a:rPr lang="en-US" sz="1800" b="1" dirty="0">
                <a:solidFill>
                  <a:srgbClr val="E8613A"/>
                </a:solidFill>
                <a:latin typeface="Inter" pitchFamily="34" charset="0"/>
                <a:ea typeface="Inter" pitchFamily="34" charset="-122"/>
                <a:cs typeface="Inter" pitchFamily="34" charset="-120"/>
              </a:rPr>
              <a:t>04</a:t>
            </a:r>
            <a:endParaRPr lang="en-US" sz="1800" dirty="0"/>
          </a:p>
        </p:txBody>
      </p:sp>
      <p:sp>
        <p:nvSpPr>
          <p:cNvPr id="42" name="c4_txt_336"/>
          <p:cNvSpPr txBox="1"/>
          <p:nvPr/>
        </p:nvSpPr>
        <p:spPr>
          <a:xfrm>
            <a:off x="9354312" y="2286000"/>
            <a:ext cx="2103120" cy="82296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Agentic system</a:t>
            </a:r>
            <a:endParaRPr lang="en-US" sz="2000" dirty="0"/>
          </a:p>
        </p:txBody>
      </p:sp>
      <p:sp>
        <p:nvSpPr>
          <p:cNvPr id="43" name="c4_txt_337"/>
          <p:cNvSpPr txBox="1"/>
          <p:nvPr/>
        </p:nvSpPr>
        <p:spPr>
          <a:xfrm>
            <a:off x="9354312" y="3154680"/>
            <a:ext cx="2103120" cy="685800"/>
          </a:xfrm>
          <a:prstGeom prst="rect">
            <a:avLst/>
          </a:prstGeom>
          <a:noFill/>
          <a:ln/>
        </p:spPr>
        <p:txBody>
          <a:bodyPr wrap="square" lIns="0" tIns="0" rIns="0" bIns="0" rtlCol="0" anchor="t"/>
          <a:lstStyle/>
          <a:p>
            <a:pPr indent="0" marL="0">
              <a:buNone/>
            </a:pPr>
            <a:r>
              <a:rPr lang="en-US" sz="1600" b="1" dirty="0">
                <a:solidFill>
                  <a:srgbClr val="E8613A"/>
                </a:solidFill>
                <a:latin typeface="Inter" pitchFamily="34" charset="0"/>
                <a:ea typeface="Inter" pitchFamily="34" charset="-122"/>
                <a:cs typeface="Inter" pitchFamily="34" charset="-120"/>
              </a:rPr>
              <a:t>Act in the world</a:t>
            </a:r>
            <a:endParaRPr lang="en-US" sz="1600" dirty="0"/>
          </a:p>
        </p:txBody>
      </p:sp>
      <p:sp>
        <p:nvSpPr>
          <p:cNvPr id="44" name="c4_txt_338"/>
          <p:cNvSpPr txBox="1"/>
          <p:nvPr/>
        </p:nvSpPr>
        <p:spPr>
          <a:xfrm>
            <a:off x="9354312" y="3840480"/>
            <a:ext cx="2103120" cy="11887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Searches the web, runs code, sends email, edits files.</a:t>
            </a:r>
            <a:endParaRPr lang="en-US" sz="1400" dirty="0"/>
          </a:p>
        </p:txBody>
      </p:sp>
      <p:sp>
        <p:nvSpPr>
          <p:cNvPr id="45" name="c5_txt_339"/>
          <p:cNvSpPr txBox="1"/>
          <p:nvPr/>
        </p:nvSpPr>
        <p:spPr>
          <a:xfrm>
            <a:off x="548640" y="5486400"/>
            <a:ext cx="10058400" cy="457200"/>
          </a:xfrm>
          <a:prstGeom prst="rect">
            <a:avLst/>
          </a:prstGeom>
          <a:noFill/>
          <a:ln/>
        </p:spPr>
        <p:txBody>
          <a:bodyPr wrap="square" lIns="0" tIns="0" rIns="0" bIns="0" rtlCol="0" anchor="t"/>
          <a:lstStyle/>
          <a:p>
            <a:pPr indent="0" marL="0">
              <a:buNone/>
            </a:pPr>
            <a:r>
              <a:rPr lang="en-US" sz="1800" b="1" dirty="0">
                <a:solidFill>
                  <a:srgbClr val="13221D"/>
                </a:solidFill>
                <a:latin typeface="Inter" pitchFamily="34" charset="0"/>
                <a:ea typeface="Inter" pitchFamily="34" charset="-122"/>
                <a:cs typeface="Inter" pitchFamily="34" charset="-120"/>
              </a:rPr>
              <a:t>Each step adds capability, and each step adds new ways to fail.</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1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39" fill="hold">
                      <p:stCondLst>
                        <p:cond delay="indefinite"/>
                      </p:stCondLst>
                      <p:childTnLst>
                        <p:par>
                          <p:cTn id="38"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59" fill="hold">
                      <p:stCondLst>
                        <p:cond delay="indefinite"/>
                      </p:stCondLst>
                      <p:childTnLst>
                        <p:par>
                          <p:cTn id="58"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childTnLst>
                          </p:cTn>
                        </p:par>
                      </p:childTnLst>
                    </p:cTn>
                  </p:par>
                  <p:par>
                    <p:cTn id="79" fill="hold">
                      <p:stCondLst>
                        <p:cond delay="indefinite"/>
                      </p:stCondLst>
                      <p:childTnLst>
                        <p:par>
                          <p:cTn id="78"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9"/>
                                        </p:tgtEl>
                                        <p:attrNameLst>
                                          <p:attrName>style.visibility</p:attrName>
                                        </p:attrNameLst>
                                      </p:cBhvr>
                                      <p:to>
                                        <p:strVal val="visible"/>
                                      </p:to>
                                    </p:set>
                                    <p:animEffect transition="in" filter="fade">
                                      <p:cBhvr>
                                        <p:cTn id="62" dur="400"/>
                                        <p:tgtEl>
                                          <p:spTgt spid="39"/>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childTnLst>
                          </p:cTn>
                        </p:par>
                      </p:childTnLst>
                    </p:cTn>
                  </p:par>
                  <p:par>
                    <p:cTn id="84" fill="hold">
                      <p:stCondLst>
                        <p:cond delay="indefinite"/>
                      </p:stCondLst>
                      <p:childTnLst>
                        <p:par>
                          <p:cTn id="83"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45"/>
                                        </p:tgtEl>
                                        <p:attrNameLst>
                                          <p:attrName>style.visibility</p:attrName>
                                        </p:attrNameLst>
                                      </p:cBhvr>
                                      <p:to>
                                        <p:strVal val="visible"/>
                                      </p:to>
                                    </p:set>
                                    <p:animEffect transition="in" filter="fade">
                                      <p:cBhvr>
                                        <p:cTn id="8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The good, the bad, and the ugl-AI</a:t>
            </a:r>
            <a:endParaRPr lang="en-US" sz="3000" dirty="0"/>
          </a:p>
        </p:txBody>
      </p:sp>
      <p:sp>
        <p:nvSpPr>
          <p:cNvPr id="3" name="time_chip_340"/>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341"/>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342"/>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343"/>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344"/>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345"/>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346"/>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347"/>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348"/>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349"/>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350"/>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351"/>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352"/>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353"/>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354"/>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355"/>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356"/>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357"/>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358"/>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359"/>
          <p:cNvSpPr/>
          <p:nvPr/>
        </p:nvSpPr>
        <p:spPr>
          <a:xfrm>
            <a:off x="548640" y="1463040"/>
            <a:ext cx="3520440" cy="4526280"/>
          </a:xfrm>
          <a:prstGeom prst="roundRect">
            <a:avLst>
              <a:gd name="adj" fmla="val 3117"/>
            </a:avLst>
          </a:prstGeom>
          <a:solidFill>
            <a:srgbClr val="E8F2ED"/>
          </a:solidFill>
          <a:ln w="12700">
            <a:solidFill>
              <a:srgbClr val="E8F2ED"/>
            </a:solidFill>
            <a:prstDash val="solid"/>
          </a:ln>
        </p:spPr>
      </p:sp>
      <p:sp>
        <p:nvSpPr>
          <p:cNvPr id="23" name="c1_card_360"/>
          <p:cNvSpPr/>
          <p:nvPr/>
        </p:nvSpPr>
        <p:spPr>
          <a:xfrm>
            <a:off x="777240" y="1691640"/>
            <a:ext cx="3063240" cy="1600200"/>
          </a:xfrm>
          <a:prstGeom prst="roundRect">
            <a:avLst>
              <a:gd name="adj" fmla="val 6857"/>
            </a:avLst>
          </a:prstGeom>
          <a:solidFill>
            <a:srgbClr val="FFFFFF"/>
          </a:solidFill>
          <a:ln w="12700">
            <a:solidFill>
              <a:srgbClr val="FFFFFF"/>
            </a:solidFill>
            <a:prstDash val="solid"/>
          </a:ln>
        </p:spPr>
      </p:sp>
      <p:pic>
        <p:nvPicPr>
          <p:cNvPr id="24" name="c1_img_the_good_361" descr="/home/claude/assets/the_good.png">    </p:cNvPr>
          <p:cNvPicPr>
            <a:picLocks noChangeAspect="1"/>
          </p:cNvPicPr>
          <p:nvPr/>
        </p:nvPicPr>
        <p:blipFill>
          <a:blip r:embed="rId1"/>
          <a:stretch>
            <a:fillRect/>
          </a:stretch>
        </p:blipFill>
        <p:spPr>
          <a:xfrm>
            <a:off x="1103462" y="1755648"/>
            <a:ext cx="2410795" cy="1463040"/>
          </a:xfrm>
          <a:prstGeom prst="rect">
            <a:avLst/>
          </a:prstGeom>
        </p:spPr>
      </p:pic>
      <p:sp>
        <p:nvSpPr>
          <p:cNvPr id="25" name="c1_txt_362"/>
          <p:cNvSpPr txBox="1"/>
          <p:nvPr/>
        </p:nvSpPr>
        <p:spPr>
          <a:xfrm>
            <a:off x="1051560" y="3566160"/>
            <a:ext cx="2788920" cy="73152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Protein structure prediction (AlphaFold)</a:t>
            </a:r>
            <a:endParaRPr lang="en-US" sz="1600" dirty="0"/>
          </a:p>
        </p:txBody>
      </p:sp>
      <p:sp>
        <p:nvSpPr>
          <p:cNvPr id="26" name="c1_dot_363"/>
          <p:cNvSpPr/>
          <p:nvPr/>
        </p:nvSpPr>
        <p:spPr>
          <a:xfrm>
            <a:off x="822960" y="3657600"/>
            <a:ext cx="118872" cy="118872"/>
          </a:xfrm>
          <a:prstGeom prst="ellipse">
            <a:avLst/>
          </a:prstGeom>
          <a:solidFill>
            <a:srgbClr val="1E6B4F"/>
          </a:solidFill>
          <a:ln w="12700">
            <a:solidFill>
              <a:srgbClr val="FFFFFF"/>
            </a:solidFill>
            <a:prstDash val="solid"/>
          </a:ln>
        </p:spPr>
      </p:sp>
      <p:sp>
        <p:nvSpPr>
          <p:cNvPr id="27" name="c1_txt_364"/>
          <p:cNvSpPr txBox="1"/>
          <p:nvPr/>
        </p:nvSpPr>
        <p:spPr>
          <a:xfrm>
            <a:off x="1051560" y="4343400"/>
            <a:ext cx="2788920" cy="73152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Real progress on language tasks</a:t>
            </a:r>
            <a:endParaRPr lang="en-US" sz="1600" dirty="0"/>
          </a:p>
        </p:txBody>
      </p:sp>
      <p:sp>
        <p:nvSpPr>
          <p:cNvPr id="28" name="c1_dot_365"/>
          <p:cNvSpPr/>
          <p:nvPr/>
        </p:nvSpPr>
        <p:spPr>
          <a:xfrm>
            <a:off x="822960" y="4434840"/>
            <a:ext cx="118872" cy="118872"/>
          </a:xfrm>
          <a:prstGeom prst="ellipse">
            <a:avLst/>
          </a:prstGeom>
          <a:solidFill>
            <a:srgbClr val="1E6B4F"/>
          </a:solidFill>
          <a:ln w="12700">
            <a:solidFill>
              <a:srgbClr val="FFFFFF"/>
            </a:solidFill>
            <a:prstDash val="solid"/>
          </a:ln>
        </p:spPr>
      </p:sp>
      <p:sp>
        <p:nvSpPr>
          <p:cNvPr id="29" name="c2_card_366"/>
          <p:cNvSpPr/>
          <p:nvPr/>
        </p:nvSpPr>
        <p:spPr>
          <a:xfrm>
            <a:off x="4297680" y="1463040"/>
            <a:ext cx="3520440" cy="4526280"/>
          </a:xfrm>
          <a:prstGeom prst="roundRect">
            <a:avLst>
              <a:gd name="adj" fmla="val 3117"/>
            </a:avLst>
          </a:prstGeom>
          <a:solidFill>
            <a:srgbClr val="E8F2ED"/>
          </a:solidFill>
          <a:ln w="12700">
            <a:solidFill>
              <a:srgbClr val="E8F2ED"/>
            </a:solidFill>
            <a:prstDash val="solid"/>
          </a:ln>
        </p:spPr>
      </p:sp>
      <p:sp>
        <p:nvSpPr>
          <p:cNvPr id="30" name="c2_card_367"/>
          <p:cNvSpPr/>
          <p:nvPr/>
        </p:nvSpPr>
        <p:spPr>
          <a:xfrm>
            <a:off x="4526280" y="1691640"/>
            <a:ext cx="3063240" cy="1600200"/>
          </a:xfrm>
          <a:prstGeom prst="roundRect">
            <a:avLst>
              <a:gd name="adj" fmla="val 6857"/>
            </a:avLst>
          </a:prstGeom>
          <a:solidFill>
            <a:srgbClr val="FFFFFF"/>
          </a:solidFill>
          <a:ln w="12700">
            <a:solidFill>
              <a:srgbClr val="FFFFFF"/>
            </a:solidFill>
            <a:prstDash val="solid"/>
          </a:ln>
        </p:spPr>
      </p:sp>
      <p:pic>
        <p:nvPicPr>
          <p:cNvPr id="31" name="c2_img_the_bad_368" descr="/home/claude/assets/the_bad.png">    </p:cNvPr>
          <p:cNvPicPr>
            <a:picLocks noChangeAspect="1"/>
          </p:cNvPicPr>
          <p:nvPr/>
        </p:nvPicPr>
        <p:blipFill>
          <a:blip r:embed="rId2"/>
          <a:stretch>
            <a:fillRect/>
          </a:stretch>
        </p:blipFill>
        <p:spPr>
          <a:xfrm>
            <a:off x="5156479" y="1755648"/>
            <a:ext cx="1802843" cy="1463040"/>
          </a:xfrm>
          <a:prstGeom prst="rect">
            <a:avLst/>
          </a:prstGeom>
        </p:spPr>
      </p:pic>
      <p:sp>
        <p:nvSpPr>
          <p:cNvPr id="32" name="c2_txt_369"/>
          <p:cNvSpPr txBox="1"/>
          <p:nvPr/>
        </p:nvSpPr>
        <p:spPr>
          <a:xfrm>
            <a:off x="4800600" y="3566160"/>
            <a:ext cx="2788920" cy="73152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Rising electricity costs</a:t>
            </a:r>
            <a:endParaRPr lang="en-US" sz="1600" dirty="0"/>
          </a:p>
        </p:txBody>
      </p:sp>
      <p:sp>
        <p:nvSpPr>
          <p:cNvPr id="33" name="c2_dot_370"/>
          <p:cNvSpPr/>
          <p:nvPr/>
        </p:nvSpPr>
        <p:spPr>
          <a:xfrm>
            <a:off x="4572000" y="3657600"/>
            <a:ext cx="118872" cy="118872"/>
          </a:xfrm>
          <a:prstGeom prst="ellipse">
            <a:avLst/>
          </a:prstGeom>
          <a:solidFill>
            <a:srgbClr val="1E6B4F"/>
          </a:solidFill>
          <a:ln w="12700">
            <a:solidFill>
              <a:srgbClr val="FFFFFF"/>
            </a:solidFill>
            <a:prstDash val="solid"/>
          </a:ln>
        </p:spPr>
      </p:sp>
      <p:sp>
        <p:nvSpPr>
          <p:cNvPr id="34" name="c2_txt_371"/>
          <p:cNvSpPr txBox="1"/>
          <p:nvPr/>
        </p:nvSpPr>
        <p:spPr>
          <a:xfrm>
            <a:off x="4800600" y="4343400"/>
            <a:ext cx="2788920" cy="73152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Copyright and intellectual property</a:t>
            </a:r>
            <a:endParaRPr lang="en-US" sz="1600" dirty="0"/>
          </a:p>
        </p:txBody>
      </p:sp>
      <p:sp>
        <p:nvSpPr>
          <p:cNvPr id="35" name="c2_dot_372"/>
          <p:cNvSpPr/>
          <p:nvPr/>
        </p:nvSpPr>
        <p:spPr>
          <a:xfrm>
            <a:off x="4572000" y="4434840"/>
            <a:ext cx="118872" cy="118872"/>
          </a:xfrm>
          <a:prstGeom prst="ellipse">
            <a:avLst/>
          </a:prstGeom>
          <a:solidFill>
            <a:srgbClr val="1E6B4F"/>
          </a:solidFill>
          <a:ln w="12700">
            <a:solidFill>
              <a:srgbClr val="FFFFFF"/>
            </a:solidFill>
            <a:prstDash val="solid"/>
          </a:ln>
        </p:spPr>
      </p:sp>
      <p:sp>
        <p:nvSpPr>
          <p:cNvPr id="36" name="c3_card_373"/>
          <p:cNvSpPr/>
          <p:nvPr/>
        </p:nvSpPr>
        <p:spPr>
          <a:xfrm>
            <a:off x="8046720" y="1463040"/>
            <a:ext cx="3520440" cy="4526280"/>
          </a:xfrm>
          <a:prstGeom prst="roundRect">
            <a:avLst>
              <a:gd name="adj" fmla="val 3117"/>
            </a:avLst>
          </a:prstGeom>
          <a:solidFill>
            <a:srgbClr val="FCE7DF"/>
          </a:solidFill>
          <a:ln w="12700">
            <a:solidFill>
              <a:srgbClr val="FCE7DF"/>
            </a:solidFill>
            <a:prstDash val="solid"/>
          </a:ln>
        </p:spPr>
      </p:sp>
      <p:sp>
        <p:nvSpPr>
          <p:cNvPr id="37" name="c3_card_374"/>
          <p:cNvSpPr/>
          <p:nvPr/>
        </p:nvSpPr>
        <p:spPr>
          <a:xfrm>
            <a:off x="8275320" y="1691640"/>
            <a:ext cx="3063240" cy="1600200"/>
          </a:xfrm>
          <a:prstGeom prst="roundRect">
            <a:avLst>
              <a:gd name="adj" fmla="val 6857"/>
            </a:avLst>
          </a:prstGeom>
          <a:solidFill>
            <a:srgbClr val="FFFFFF"/>
          </a:solidFill>
          <a:ln w="12700">
            <a:solidFill>
              <a:srgbClr val="FFFFFF"/>
            </a:solidFill>
            <a:prstDash val="solid"/>
          </a:ln>
        </p:spPr>
      </p:sp>
      <p:pic>
        <p:nvPicPr>
          <p:cNvPr id="38" name="c3_img_the_ugly_375" descr="/home/claude/assets/the_ugly.png">    </p:cNvPr>
          <p:cNvPicPr>
            <a:picLocks noChangeAspect="1"/>
          </p:cNvPicPr>
          <p:nvPr/>
        </p:nvPicPr>
        <p:blipFill>
          <a:blip r:embed="rId3"/>
          <a:stretch>
            <a:fillRect/>
          </a:stretch>
        </p:blipFill>
        <p:spPr>
          <a:xfrm>
            <a:off x="8738689" y="1755648"/>
            <a:ext cx="2136503" cy="1463040"/>
          </a:xfrm>
          <a:prstGeom prst="rect">
            <a:avLst/>
          </a:prstGeom>
        </p:spPr>
      </p:pic>
      <p:sp>
        <p:nvSpPr>
          <p:cNvPr id="39" name="c3_txt_376"/>
          <p:cNvSpPr txBox="1"/>
          <p:nvPr/>
        </p:nvSpPr>
        <p:spPr>
          <a:xfrm>
            <a:off x="8549640" y="3566160"/>
            <a:ext cx="2788920" cy="73152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Question answering, but it makes things up</a:t>
            </a:r>
            <a:endParaRPr lang="en-US" sz="1600" dirty="0"/>
          </a:p>
        </p:txBody>
      </p:sp>
      <p:sp>
        <p:nvSpPr>
          <p:cNvPr id="40" name="c3_dot_377"/>
          <p:cNvSpPr/>
          <p:nvPr/>
        </p:nvSpPr>
        <p:spPr>
          <a:xfrm>
            <a:off x="8321040" y="3657600"/>
            <a:ext cx="118872" cy="118872"/>
          </a:xfrm>
          <a:prstGeom prst="ellipse">
            <a:avLst/>
          </a:prstGeom>
          <a:solidFill>
            <a:srgbClr val="E8613A"/>
          </a:solidFill>
          <a:ln w="12700">
            <a:solidFill>
              <a:srgbClr val="FFFFFF"/>
            </a:solidFill>
            <a:prstDash val="solid"/>
          </a:ln>
        </p:spPr>
      </p:sp>
      <p:sp>
        <p:nvSpPr>
          <p:cNvPr id="41" name="c3_txt_378"/>
          <p:cNvSpPr txBox="1"/>
          <p:nvPr/>
        </p:nvSpPr>
        <p:spPr>
          <a:xfrm>
            <a:off x="8549640" y="4343400"/>
            <a:ext cx="2788920" cy="73152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Study aid, but it can block learning</a:t>
            </a:r>
            <a:endParaRPr lang="en-US" sz="1600" dirty="0"/>
          </a:p>
        </p:txBody>
      </p:sp>
      <p:sp>
        <p:nvSpPr>
          <p:cNvPr id="42" name="c3_dot_379"/>
          <p:cNvSpPr/>
          <p:nvPr/>
        </p:nvSpPr>
        <p:spPr>
          <a:xfrm>
            <a:off x="8321040" y="4434840"/>
            <a:ext cx="118872" cy="118872"/>
          </a:xfrm>
          <a:prstGeom prst="ellipse">
            <a:avLst/>
          </a:prstGeom>
          <a:solidFill>
            <a:srgbClr val="E8613A"/>
          </a:solidFill>
          <a:ln w="12700">
            <a:solidFill>
              <a:srgbClr val="FFFFFF"/>
            </a:solidFill>
            <a:prstDash val="solid"/>
          </a:ln>
        </p:spPr>
      </p:sp>
      <p:sp>
        <p:nvSpPr>
          <p:cNvPr id="43" name="c3_txt_380"/>
          <p:cNvSpPr txBox="1"/>
          <p:nvPr/>
        </p:nvSpPr>
        <p:spPr>
          <a:xfrm>
            <a:off x="8549640" y="5120640"/>
            <a:ext cx="2788920" cy="73152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Companionship, but people can spiral</a:t>
            </a:r>
            <a:endParaRPr lang="en-US" sz="1600" dirty="0"/>
          </a:p>
        </p:txBody>
      </p:sp>
      <p:sp>
        <p:nvSpPr>
          <p:cNvPr id="44" name="c3_dot_381"/>
          <p:cNvSpPr/>
          <p:nvPr/>
        </p:nvSpPr>
        <p:spPr>
          <a:xfrm>
            <a:off x="8321040" y="5212080"/>
            <a:ext cx="118872" cy="118872"/>
          </a:xfrm>
          <a:prstGeom prst="ellipse">
            <a:avLst/>
          </a:prstGeom>
          <a:solidFill>
            <a:srgbClr val="E8613A"/>
          </a:solidFill>
          <a:ln w="12700">
            <a:solidFill>
              <a:srgbClr val="FFFFFF"/>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stCondLst>
                      <p:childTnLst>
                        <p:par>
                          <p:cTn id="2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childTnLst>
                          </p:cTn>
                        </p:par>
                      </p:childTnLst>
                    </p:cTn>
                  </p:par>
                  <p:par>
                    <p:cTn id="48" fill="hold">
                      <p:stCondLst>
                        <p:cond delay="indefinite"/>
                      </p:stCondLst>
                      <p:childTnLst>
                        <p:par>
                          <p:cTn id="47"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childTnLst>
                          </p:cTn>
                        </p:par>
                      </p:childTnLst>
                    </p:cTn>
                  </p:par>
                  <p:par>
                    <p:cTn id="77" fill="hold">
                      <p:stCondLst>
                        <p:cond delay="indefinite"/>
                      </p:stCondLst>
                      <p:childTnLst>
                        <p:par>
                          <p:cTn id="76"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5"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P spid="4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Fluent, confident, and wrong</a:t>
            </a:r>
            <a:endParaRPr lang="en-US" sz="3000" dirty="0"/>
          </a:p>
        </p:txBody>
      </p:sp>
      <p:sp>
        <p:nvSpPr>
          <p:cNvPr id="3" name="time_chip_38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383"/>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384"/>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385"/>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386"/>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387"/>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388"/>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389"/>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390"/>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391"/>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392"/>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393"/>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394"/>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395"/>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396"/>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397"/>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398"/>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399"/>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400"/>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401"/>
          <p:cNvSpPr/>
          <p:nvPr/>
        </p:nvSpPr>
        <p:spPr>
          <a:xfrm>
            <a:off x="548640" y="1417320"/>
            <a:ext cx="6309360" cy="4572000"/>
          </a:xfrm>
          <a:prstGeom prst="roundRect">
            <a:avLst>
              <a:gd name="adj" fmla="val 2400"/>
            </a:avLst>
          </a:prstGeom>
          <a:solidFill>
            <a:srgbClr val="F4F8F6"/>
          </a:solidFill>
          <a:ln w="12700">
            <a:solidFill>
              <a:srgbClr val="D9E1DD"/>
            </a:solidFill>
            <a:prstDash val="solid"/>
          </a:ln>
        </p:spPr>
      </p:sp>
      <p:pic>
        <p:nvPicPr>
          <p:cNvPr id="23" name="img_chatgpt_provost_402" descr="/home/claude/assets/chatgpt_provost.png">    </p:cNvPr>
          <p:cNvPicPr>
            <a:picLocks noChangeAspect="1"/>
          </p:cNvPicPr>
          <p:nvPr/>
        </p:nvPicPr>
        <p:blipFill>
          <a:blip r:embed="rId1"/>
          <a:stretch>
            <a:fillRect/>
          </a:stretch>
        </p:blipFill>
        <p:spPr>
          <a:xfrm>
            <a:off x="777240" y="1618534"/>
            <a:ext cx="5852160" cy="4169572"/>
          </a:xfrm>
          <a:prstGeom prst="rect">
            <a:avLst/>
          </a:prstGeom>
          <a:effectLst>
            <a:outerShdw sx="100000" sy="100000" kx="0" ky="0" algn="bl" rotWithShape="0" blurRad="101600" dist="25400" dir="5400000">
              <a:srgbClr val="000000">
                <a:alpha val="18000"/>
              </a:srgbClr>
            </a:outerShdw>
          </a:effectLst>
        </p:spPr>
      </p:pic>
      <p:sp>
        <p:nvSpPr>
          <p:cNvPr id="24" name="c1_txt_403"/>
          <p:cNvSpPr txBox="1"/>
          <p:nvPr/>
        </p:nvSpPr>
        <p:spPr>
          <a:xfrm>
            <a:off x="7315200" y="1600200"/>
            <a:ext cx="4297680" cy="173736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Ask a chatbot about Tulane's provost and you get a detailed, polished biography, with details that are made up.</a:t>
            </a:r>
            <a:endParaRPr lang="en-US" sz="2000" dirty="0"/>
          </a:p>
        </p:txBody>
      </p:sp>
      <p:sp>
        <p:nvSpPr>
          <p:cNvPr id="25" name="c2_card_404"/>
          <p:cNvSpPr/>
          <p:nvPr/>
        </p:nvSpPr>
        <p:spPr>
          <a:xfrm>
            <a:off x="7315200" y="3520440"/>
            <a:ext cx="4325112" cy="1508760"/>
          </a:xfrm>
          <a:prstGeom prst="roundRect">
            <a:avLst>
              <a:gd name="adj" fmla="val 7273"/>
            </a:avLst>
          </a:prstGeom>
          <a:solidFill>
            <a:srgbClr val="E8F2ED"/>
          </a:solidFill>
          <a:ln w="12700">
            <a:solidFill>
              <a:srgbClr val="E8F2ED"/>
            </a:solidFill>
            <a:prstDash val="solid"/>
          </a:ln>
        </p:spPr>
      </p:sp>
      <p:sp>
        <p:nvSpPr>
          <p:cNvPr id="26" name="c2_txt_405"/>
          <p:cNvSpPr txBox="1"/>
          <p:nvPr/>
        </p:nvSpPr>
        <p:spPr>
          <a:xfrm>
            <a:off x="7543800" y="3657600"/>
            <a:ext cx="3931920" cy="1280160"/>
          </a:xfrm>
          <a:prstGeom prst="rect">
            <a:avLst/>
          </a:prstGeom>
          <a:noFill/>
          <a:ln/>
        </p:spPr>
        <p:txBody>
          <a:bodyPr wrap="square" lIns="0" tIns="0" rIns="0" bIns="0" rtlCol="0" anchor="t"/>
          <a:lstStyle/>
          <a:p>
            <a:pPr indent="0" marL="0">
              <a:buNone/>
            </a:pPr>
            <a:r>
              <a:rPr lang="en-US" sz="1500" dirty="0">
                <a:solidFill>
                  <a:srgbClr val="13221D"/>
                </a:solidFill>
                <a:latin typeface="Inter" pitchFamily="34" charset="0"/>
                <a:ea typeface="Inter" pitchFamily="34" charset="-122"/>
                <a:cs typeface="Inter" pitchFamily="34" charset="-120"/>
              </a:rPr>
              <a:t>Often called “hallucination.” Nick avoids the word: it anthropomorphizes a random number generator.</a:t>
            </a:r>
            <a:endParaRPr lang="en-US" sz="1500" dirty="0"/>
          </a:p>
        </p:txBody>
      </p:sp>
      <p:sp>
        <p:nvSpPr>
          <p:cNvPr id="27" name="c3_txt_406"/>
          <p:cNvSpPr txBox="1"/>
          <p:nvPr/>
        </p:nvSpPr>
        <p:spPr>
          <a:xfrm>
            <a:off x="7315200" y="5303520"/>
            <a:ext cx="4297680" cy="548640"/>
          </a:xfrm>
          <a:prstGeom prst="rect">
            <a:avLst/>
          </a:prstGeom>
          <a:noFill/>
          <a:ln/>
        </p:spPr>
        <p:txBody>
          <a:bodyPr wrap="square" lIns="0" tIns="0" rIns="0" bIns="0" rtlCol="0" anchor="t"/>
          <a:lstStyle/>
          <a:p>
            <a:pPr indent="0" marL="0">
              <a:buNone/>
            </a:pPr>
            <a:r>
              <a:rPr lang="en-US" sz="1600" b="1" dirty="0">
                <a:solidFill>
                  <a:srgbClr val="E8613A"/>
                </a:solidFill>
                <a:latin typeface="Inter" pitchFamily="34" charset="0"/>
                <a:ea typeface="Inter" pitchFamily="34" charset="-122"/>
                <a:cs typeface="Inter" pitchFamily="34" charset="-120"/>
              </a:rPr>
              <a:t>Check every output. Test, test, and test again.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childTnLst>
                          </p:cTn>
                        </p:par>
                      </p:childTnLst>
                    </p:cTn>
                  </p:par>
                  <p:par>
                    <p:cTn id="15" fill="hold">
                      <p:stCondLst>
                        <p:cond delay="indefinite"/>
                      </p:stCondLst>
                      <p:childTnLst>
                        <p:par>
                          <p:cTn id="14" fill="hold">
                            <p:stCondLst>
                              <p:cond delay="0"/>
                            </p:stCondLst>
                            <p:childTnLst>
                              <p:par>
                                <p:cTn id="8" presetID="10" presetClass="entr" presetSubtype="0" fill="hold" grpId="0" nodeType="click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childTnLst>
                          </p:cTn>
                        </p:par>
                      </p:childTnLst>
                    </p:cTn>
                  </p:par>
                  <p:par>
                    <p:cTn id="20" fill="hold">
                      <p:stCondLst>
                        <p:cond delay="indefinite"/>
                      </p:stCondLst>
                      <p:childTnLst>
                        <p:par>
                          <p:cTn id="19"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What's at stake, right here in New Orleans</a:t>
            </a:r>
            <a:endParaRPr lang="en-US" sz="3000" dirty="0"/>
          </a:p>
        </p:txBody>
      </p:sp>
      <p:sp>
        <p:nvSpPr>
          <p:cNvPr id="3" name="time_chip_407"/>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408"/>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409"/>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410"/>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411"/>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412"/>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413"/>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414"/>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415"/>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416"/>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417"/>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418"/>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419"/>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420"/>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421"/>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422"/>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423"/>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424"/>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425"/>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426"/>
          <p:cNvSpPr/>
          <p:nvPr/>
        </p:nvSpPr>
        <p:spPr>
          <a:xfrm>
            <a:off x="548640" y="1508760"/>
            <a:ext cx="3520440" cy="3017520"/>
          </a:xfrm>
          <a:prstGeom prst="roundRect">
            <a:avLst>
              <a:gd name="adj" fmla="val 3636"/>
            </a:avLst>
          </a:prstGeom>
          <a:solidFill>
            <a:srgbClr val="FFFFFF"/>
          </a:solidFill>
          <a:ln w="12700">
            <a:solidFill>
              <a:srgbClr val="D9E1DD"/>
            </a:solidFill>
            <a:prstDash val="solid"/>
          </a:ln>
        </p:spPr>
      </p:sp>
      <p:pic>
        <p:nvPicPr>
          <p:cNvPr id="23" name="c1_img_news_facial_427" descr="/home/claude/assets/news_facial.png">    </p:cNvPr>
          <p:cNvPicPr>
            <a:picLocks noChangeAspect="1"/>
          </p:cNvPicPr>
          <p:nvPr/>
        </p:nvPicPr>
        <p:blipFill>
          <a:blip r:embed="rId1"/>
          <a:stretch>
            <a:fillRect/>
          </a:stretch>
        </p:blipFill>
        <p:spPr>
          <a:xfrm>
            <a:off x="731520" y="2136559"/>
            <a:ext cx="3154680" cy="1761922"/>
          </a:xfrm>
          <a:prstGeom prst="rect">
            <a:avLst/>
          </a:prstGeom>
        </p:spPr>
      </p:pic>
      <p:sp>
        <p:nvSpPr>
          <p:cNvPr id="24" name="c2_card_428"/>
          <p:cNvSpPr/>
          <p:nvPr/>
        </p:nvSpPr>
        <p:spPr>
          <a:xfrm>
            <a:off x="4297680" y="1508760"/>
            <a:ext cx="3520440" cy="3017520"/>
          </a:xfrm>
          <a:prstGeom prst="roundRect">
            <a:avLst>
              <a:gd name="adj" fmla="val 3636"/>
            </a:avLst>
          </a:prstGeom>
          <a:solidFill>
            <a:srgbClr val="FFFFFF"/>
          </a:solidFill>
          <a:ln w="12700">
            <a:solidFill>
              <a:srgbClr val="D9E1DD"/>
            </a:solidFill>
            <a:prstDash val="solid"/>
          </a:ln>
        </p:spPr>
      </p:sp>
      <p:pic>
        <p:nvPicPr>
          <p:cNvPr id="25" name="c2_img_news_palantir_429" descr="/home/claude/assets/news_palantir.png">    </p:cNvPr>
          <p:cNvPicPr>
            <a:picLocks noChangeAspect="1"/>
          </p:cNvPicPr>
          <p:nvPr/>
        </p:nvPicPr>
        <p:blipFill>
          <a:blip r:embed="rId2"/>
          <a:stretch>
            <a:fillRect/>
          </a:stretch>
        </p:blipFill>
        <p:spPr>
          <a:xfrm>
            <a:off x="4480560" y="2379511"/>
            <a:ext cx="3154680" cy="1276019"/>
          </a:xfrm>
          <a:prstGeom prst="rect">
            <a:avLst/>
          </a:prstGeom>
        </p:spPr>
      </p:pic>
      <p:sp>
        <p:nvSpPr>
          <p:cNvPr id="26" name="c3_card_430"/>
          <p:cNvSpPr/>
          <p:nvPr/>
        </p:nvSpPr>
        <p:spPr>
          <a:xfrm>
            <a:off x="8046720" y="1508760"/>
            <a:ext cx="3520440" cy="3017520"/>
          </a:xfrm>
          <a:prstGeom prst="roundRect">
            <a:avLst>
              <a:gd name="adj" fmla="val 3636"/>
            </a:avLst>
          </a:prstGeom>
          <a:solidFill>
            <a:srgbClr val="FFFFFF"/>
          </a:solidFill>
          <a:ln w="12700">
            <a:solidFill>
              <a:srgbClr val="D9E1DD"/>
            </a:solidFill>
            <a:prstDash val="solid"/>
          </a:ln>
        </p:spPr>
      </p:sp>
      <p:pic>
        <p:nvPicPr>
          <p:cNvPr id="27" name="c3_img_news_npr_431" descr="/home/claude/assets/news_npr.png">    </p:cNvPr>
          <p:cNvPicPr>
            <a:picLocks noChangeAspect="1"/>
          </p:cNvPicPr>
          <p:nvPr/>
        </p:nvPicPr>
        <p:blipFill>
          <a:blip r:embed="rId3"/>
          <a:stretch>
            <a:fillRect/>
          </a:stretch>
        </p:blipFill>
        <p:spPr>
          <a:xfrm>
            <a:off x="8229600" y="2398752"/>
            <a:ext cx="3154680" cy="1237537"/>
          </a:xfrm>
          <a:prstGeom prst="rect">
            <a:avLst/>
          </a:prstGeom>
        </p:spPr>
      </p:pic>
      <p:sp>
        <p:nvSpPr>
          <p:cNvPr id="28" name="c4_txt_432"/>
          <p:cNvSpPr txBox="1"/>
          <p:nvPr/>
        </p:nvSpPr>
        <p:spPr>
          <a:xfrm>
            <a:off x="548640" y="4846320"/>
            <a:ext cx="11064240" cy="82296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Facial recognition and predictive policing were tested on New Orleans residents, often without public knowledge.</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childTnLst>
                          </p:cTn>
                        </p:par>
                      </p:childTnLst>
                    </p:cTn>
                  </p:par>
                  <p:par>
                    <p:cTn id="26" fill="hold">
                      <p:stCondLst>
                        <p:cond delay="indefinite"/>
                      </p:stCondLst>
                      <p:childTnLst>
                        <p:par>
                          <p:cTn id="25"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childTnLst>
                          </p:cTn>
                        </p:par>
                      </p:childTnLst>
                    </p:cTn>
                  </p:par>
                  <p:par>
                    <p:cTn id="31" fill="hold">
                      <p:stCondLst>
                        <p:cond delay="indefinite"/>
                      </p:stCondLst>
                      <p:childTnLst>
                        <p:par>
                          <p:cTn id="30"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Automated decisions of consequence</a:t>
            </a:r>
            <a:endParaRPr lang="en-US" sz="3000" dirty="0"/>
          </a:p>
        </p:txBody>
      </p:sp>
      <p:sp>
        <p:nvSpPr>
          <p:cNvPr id="3" name="time_chip_433"/>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434"/>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435"/>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436"/>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437"/>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438"/>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439"/>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440"/>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441"/>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442"/>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443"/>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444"/>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445"/>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446"/>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447"/>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448"/>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449"/>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450"/>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451"/>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452"/>
          <p:cNvSpPr/>
          <p:nvPr/>
        </p:nvSpPr>
        <p:spPr>
          <a:xfrm>
            <a:off x="548640" y="1463040"/>
            <a:ext cx="3931920" cy="4526280"/>
          </a:xfrm>
          <a:prstGeom prst="roundRect">
            <a:avLst>
              <a:gd name="adj" fmla="val 2791"/>
            </a:avLst>
          </a:prstGeom>
          <a:solidFill>
            <a:srgbClr val="F4F8F6"/>
          </a:solidFill>
          <a:ln w="12700">
            <a:solidFill>
              <a:srgbClr val="D9E1DD"/>
            </a:solidFill>
            <a:prstDash val="solid"/>
          </a:ln>
        </p:spPr>
      </p:sp>
      <p:pic>
        <p:nvPicPr>
          <p:cNvPr id="23" name="img_machine_bias_453" descr="/home/claude/assets/machine_bias.png">    </p:cNvPr>
          <p:cNvPicPr>
            <a:picLocks noChangeAspect="1"/>
          </p:cNvPicPr>
          <p:nvPr/>
        </p:nvPicPr>
        <p:blipFill>
          <a:blip r:embed="rId1"/>
          <a:stretch>
            <a:fillRect/>
          </a:stretch>
        </p:blipFill>
        <p:spPr>
          <a:xfrm>
            <a:off x="731520" y="2000305"/>
            <a:ext cx="2286000" cy="2034431"/>
          </a:xfrm>
          <a:prstGeom prst="rect">
            <a:avLst/>
          </a:prstGeom>
        </p:spPr>
      </p:pic>
      <p:pic>
        <p:nvPicPr>
          <p:cNvPr id="24" name="img_wmd_book_454" descr="/home/claude/assets/wmd_book.png">    </p:cNvPr>
          <p:cNvPicPr>
            <a:picLocks noChangeAspect="1"/>
          </p:cNvPicPr>
          <p:nvPr/>
        </p:nvPicPr>
        <p:blipFill>
          <a:blip r:embed="rId2"/>
          <a:stretch>
            <a:fillRect/>
          </a:stretch>
        </p:blipFill>
        <p:spPr>
          <a:xfrm>
            <a:off x="3108960" y="2247314"/>
            <a:ext cx="1188720" cy="1540412"/>
          </a:xfrm>
          <a:prstGeom prst="rect">
            <a:avLst/>
          </a:prstGeom>
        </p:spPr>
      </p:pic>
      <p:sp>
        <p:nvSpPr>
          <p:cNvPr id="25" name="txt_455"/>
          <p:cNvSpPr txBox="1"/>
          <p:nvPr/>
        </p:nvSpPr>
        <p:spPr>
          <a:xfrm>
            <a:off x="777240" y="4663440"/>
            <a:ext cx="3566160" cy="914400"/>
          </a:xfrm>
          <a:prstGeom prst="rect">
            <a:avLst/>
          </a:prstGeom>
          <a:noFill/>
          <a:ln/>
        </p:spPr>
        <p:txBody>
          <a:bodyPr wrap="square" lIns="0" tIns="0" rIns="0" bIns="0" rtlCol="0" anchor="t"/>
          <a:lstStyle/>
          <a:p>
            <a:pPr indent="0" marL="0">
              <a:buNone/>
            </a:pPr>
            <a:r>
              <a:rPr lang="en-US" sz="1200" dirty="0">
                <a:solidFill>
                  <a:srgbClr val="5E6E68"/>
                </a:solidFill>
                <a:latin typeface="Inter" pitchFamily="34" charset="0"/>
                <a:ea typeface="Inter" pitchFamily="34" charset="-122"/>
                <a:cs typeface="Inter" pitchFamily="34" charset="-120"/>
              </a:rPr>
              <a:t>ProPublica, Machine Bias (2016)</a:t>
            </a:r>
            <a:endParaRPr lang="en-US" sz="1200" dirty="0"/>
          </a:p>
          <a:p>
            <a:pPr indent="0" marL="0">
              <a:buNone/>
            </a:pPr>
            <a:r>
              <a:rPr lang="en-US" sz="1200" dirty="0">
                <a:solidFill>
                  <a:srgbClr val="5E6E68"/>
                </a:solidFill>
                <a:latin typeface="Inter" pitchFamily="34" charset="0"/>
                <a:ea typeface="Inter" pitchFamily="34" charset="-122"/>
                <a:cs typeface="Inter" pitchFamily="34" charset="-120"/>
              </a:rPr>
              <a:t>O'Neil, Weapons of Math Destruction (2016)</a:t>
            </a:r>
            <a:endParaRPr lang="en-US" sz="1200" dirty="0"/>
          </a:p>
        </p:txBody>
      </p:sp>
      <p:sp>
        <p:nvSpPr>
          <p:cNvPr id="26" name="c1_card_456"/>
          <p:cNvSpPr/>
          <p:nvPr/>
        </p:nvSpPr>
        <p:spPr>
          <a:xfrm>
            <a:off x="4800600" y="1508760"/>
            <a:ext cx="6839712" cy="987552"/>
          </a:xfrm>
          <a:prstGeom prst="roundRect">
            <a:avLst>
              <a:gd name="adj" fmla="val 11111"/>
            </a:avLst>
          </a:prstGeom>
          <a:solidFill>
            <a:srgbClr val="E8F2ED"/>
          </a:solidFill>
          <a:ln w="12700">
            <a:solidFill>
              <a:srgbClr val="E8F2ED"/>
            </a:solidFill>
            <a:prstDash val="solid"/>
          </a:ln>
        </p:spPr>
      </p:sp>
      <p:sp>
        <p:nvSpPr>
          <p:cNvPr id="27" name="c1_txt_457"/>
          <p:cNvSpPr txBox="1"/>
          <p:nvPr/>
        </p:nvSpPr>
        <p:spPr>
          <a:xfrm>
            <a:off x="5029200" y="1508760"/>
            <a:ext cx="2194560" cy="987552"/>
          </a:xfrm>
          <a:prstGeom prst="rect">
            <a:avLst/>
          </a:prstGeom>
          <a:noFill/>
          <a:ln/>
        </p:spPr>
        <p:txBody>
          <a:bodyPr wrap="square" lIns="0" tIns="0" rIns="0" bIns="0" rtlCol="0" anchor="ctr"/>
          <a:lstStyle/>
          <a:p>
            <a:pPr indent="0" marL="0">
              <a:buNone/>
            </a:pPr>
            <a:r>
              <a:rPr lang="en-US" sz="1700" b="1" dirty="0">
                <a:solidFill>
                  <a:srgbClr val="1E6B4F"/>
                </a:solidFill>
                <a:latin typeface="Inter" pitchFamily="34" charset="0"/>
                <a:ea typeface="Inter" pitchFamily="34" charset="-122"/>
                <a:cs typeface="Inter" pitchFamily="34" charset="-120"/>
              </a:rPr>
              <a:t>Hiring</a:t>
            </a:r>
            <a:endParaRPr lang="en-US" sz="1700" dirty="0"/>
          </a:p>
        </p:txBody>
      </p:sp>
      <p:sp>
        <p:nvSpPr>
          <p:cNvPr id="28" name="c1_txt_458"/>
          <p:cNvSpPr txBox="1"/>
          <p:nvPr/>
        </p:nvSpPr>
        <p:spPr>
          <a:xfrm>
            <a:off x="7223760" y="1508760"/>
            <a:ext cx="4251960" cy="987552"/>
          </a:xfrm>
          <a:prstGeom prst="rect">
            <a:avLst/>
          </a:prstGeom>
          <a:noFill/>
          <a:ln/>
        </p:spPr>
        <p:txBody>
          <a:bodyPr wrap="square" lIns="0" tIns="0" rIns="0" bIns="0" rtlCol="0" anchor="ctr"/>
          <a:lstStyle/>
          <a:p>
            <a:pPr indent="0" marL="0">
              <a:buNone/>
            </a:pPr>
            <a:r>
              <a:rPr lang="en-US" sz="1500" dirty="0">
                <a:solidFill>
                  <a:srgbClr val="13221D"/>
                </a:solidFill>
                <a:latin typeface="Inter" pitchFamily="34" charset="0"/>
                <a:ea typeface="Inter" pitchFamily="34" charset="-122"/>
                <a:cs typeface="Inter" pitchFamily="34" charset="-120"/>
              </a:rPr>
              <a:t>A recruiting tool learned to downgrade women's résumés and was scrapped.</a:t>
            </a:r>
            <a:endParaRPr lang="en-US" sz="1500" dirty="0"/>
          </a:p>
        </p:txBody>
      </p:sp>
      <p:sp>
        <p:nvSpPr>
          <p:cNvPr id="29" name="c2_card_459"/>
          <p:cNvSpPr/>
          <p:nvPr/>
        </p:nvSpPr>
        <p:spPr>
          <a:xfrm>
            <a:off x="4800600" y="2624328"/>
            <a:ext cx="6839712" cy="987552"/>
          </a:xfrm>
          <a:prstGeom prst="roundRect">
            <a:avLst>
              <a:gd name="adj" fmla="val 11111"/>
            </a:avLst>
          </a:prstGeom>
          <a:solidFill>
            <a:srgbClr val="E8F2ED"/>
          </a:solidFill>
          <a:ln w="12700">
            <a:solidFill>
              <a:srgbClr val="E8F2ED"/>
            </a:solidFill>
            <a:prstDash val="solid"/>
          </a:ln>
        </p:spPr>
      </p:sp>
      <p:sp>
        <p:nvSpPr>
          <p:cNvPr id="30" name="c2_txt_460"/>
          <p:cNvSpPr txBox="1"/>
          <p:nvPr/>
        </p:nvSpPr>
        <p:spPr>
          <a:xfrm>
            <a:off x="5029200" y="2624328"/>
            <a:ext cx="2194560" cy="987552"/>
          </a:xfrm>
          <a:prstGeom prst="rect">
            <a:avLst/>
          </a:prstGeom>
          <a:noFill/>
          <a:ln/>
        </p:spPr>
        <p:txBody>
          <a:bodyPr wrap="square" lIns="0" tIns="0" rIns="0" bIns="0" rtlCol="0" anchor="ctr"/>
          <a:lstStyle/>
          <a:p>
            <a:pPr indent="0" marL="0">
              <a:buNone/>
            </a:pPr>
            <a:r>
              <a:rPr lang="en-US" sz="1700" b="1" dirty="0">
                <a:solidFill>
                  <a:srgbClr val="1E6B4F"/>
                </a:solidFill>
                <a:latin typeface="Inter" pitchFamily="34" charset="0"/>
                <a:ea typeface="Inter" pitchFamily="34" charset="-122"/>
                <a:cs typeface="Inter" pitchFamily="34" charset="-120"/>
              </a:rPr>
              <a:t>Advertising</a:t>
            </a:r>
            <a:endParaRPr lang="en-US" sz="1700" dirty="0"/>
          </a:p>
        </p:txBody>
      </p:sp>
      <p:sp>
        <p:nvSpPr>
          <p:cNvPr id="31" name="c2_txt_461"/>
          <p:cNvSpPr txBox="1"/>
          <p:nvPr/>
        </p:nvSpPr>
        <p:spPr>
          <a:xfrm>
            <a:off x="7223760" y="2624328"/>
            <a:ext cx="4251960" cy="987552"/>
          </a:xfrm>
          <a:prstGeom prst="rect">
            <a:avLst/>
          </a:prstGeom>
          <a:noFill/>
          <a:ln/>
        </p:spPr>
        <p:txBody>
          <a:bodyPr wrap="square" lIns="0" tIns="0" rIns="0" bIns="0" rtlCol="0" anchor="ctr"/>
          <a:lstStyle/>
          <a:p>
            <a:pPr indent="0" marL="0">
              <a:buNone/>
            </a:pPr>
            <a:r>
              <a:rPr lang="en-US" sz="1500" dirty="0">
                <a:solidFill>
                  <a:srgbClr val="13221D"/>
                </a:solidFill>
                <a:latin typeface="Inter" pitchFamily="34" charset="0"/>
                <a:ea typeface="Inter" pitchFamily="34" charset="-122"/>
                <a:cs typeface="Inter" pitchFamily="34" charset="-120"/>
              </a:rPr>
              <a:t>Searching Black-identifying names surfaced more ads for arrest records.</a:t>
            </a:r>
            <a:endParaRPr lang="en-US" sz="1500" dirty="0"/>
          </a:p>
        </p:txBody>
      </p:sp>
      <p:sp>
        <p:nvSpPr>
          <p:cNvPr id="32" name="c3_card_462"/>
          <p:cNvSpPr/>
          <p:nvPr/>
        </p:nvSpPr>
        <p:spPr>
          <a:xfrm>
            <a:off x="4800600" y="3739896"/>
            <a:ext cx="6839712" cy="987552"/>
          </a:xfrm>
          <a:prstGeom prst="roundRect">
            <a:avLst>
              <a:gd name="adj" fmla="val 11111"/>
            </a:avLst>
          </a:prstGeom>
          <a:solidFill>
            <a:srgbClr val="E8F2ED"/>
          </a:solidFill>
          <a:ln w="12700">
            <a:solidFill>
              <a:srgbClr val="E8F2ED"/>
            </a:solidFill>
            <a:prstDash val="solid"/>
          </a:ln>
        </p:spPr>
      </p:sp>
      <p:sp>
        <p:nvSpPr>
          <p:cNvPr id="33" name="c3_txt_463"/>
          <p:cNvSpPr txBox="1"/>
          <p:nvPr/>
        </p:nvSpPr>
        <p:spPr>
          <a:xfrm>
            <a:off x="5029200" y="3739896"/>
            <a:ext cx="2194560" cy="987552"/>
          </a:xfrm>
          <a:prstGeom prst="rect">
            <a:avLst/>
          </a:prstGeom>
          <a:noFill/>
          <a:ln/>
        </p:spPr>
        <p:txBody>
          <a:bodyPr wrap="square" lIns="0" tIns="0" rIns="0" bIns="0" rtlCol="0" anchor="ctr"/>
          <a:lstStyle/>
          <a:p>
            <a:pPr indent="0" marL="0">
              <a:buNone/>
            </a:pPr>
            <a:r>
              <a:rPr lang="en-US" sz="1700" b="1" dirty="0">
                <a:solidFill>
                  <a:srgbClr val="1E6B4F"/>
                </a:solidFill>
                <a:latin typeface="Inter" pitchFamily="34" charset="0"/>
                <a:ea typeface="Inter" pitchFamily="34" charset="-122"/>
                <a:cs typeface="Inter" pitchFamily="34" charset="-120"/>
              </a:rPr>
              <a:t>Lending</a:t>
            </a:r>
            <a:endParaRPr lang="en-US" sz="1700" dirty="0"/>
          </a:p>
        </p:txBody>
      </p:sp>
      <p:sp>
        <p:nvSpPr>
          <p:cNvPr id="34" name="c3_txt_464"/>
          <p:cNvSpPr txBox="1"/>
          <p:nvPr/>
        </p:nvSpPr>
        <p:spPr>
          <a:xfrm>
            <a:off x="7223760" y="3739896"/>
            <a:ext cx="4251960" cy="987552"/>
          </a:xfrm>
          <a:prstGeom prst="rect">
            <a:avLst/>
          </a:prstGeom>
          <a:noFill/>
          <a:ln/>
        </p:spPr>
        <p:txBody>
          <a:bodyPr wrap="square" lIns="0" tIns="0" rIns="0" bIns="0" rtlCol="0" anchor="ctr"/>
          <a:lstStyle/>
          <a:p>
            <a:pPr indent="0" marL="0">
              <a:buNone/>
            </a:pPr>
            <a:r>
              <a:rPr lang="en-US" sz="1500" dirty="0">
                <a:solidFill>
                  <a:srgbClr val="13221D"/>
                </a:solidFill>
                <a:latin typeface="Inter" pitchFamily="34" charset="0"/>
                <a:ea typeface="Inter" pitchFamily="34" charset="-122"/>
                <a:cs typeface="Inter" pitchFamily="34" charset="-120"/>
              </a:rPr>
              <a:t>Credit models can reproduce historical patterns of exclusion.</a:t>
            </a:r>
            <a:endParaRPr lang="en-US" sz="1500" dirty="0"/>
          </a:p>
        </p:txBody>
      </p:sp>
      <p:sp>
        <p:nvSpPr>
          <p:cNvPr id="35" name="c4_card_465"/>
          <p:cNvSpPr/>
          <p:nvPr/>
        </p:nvSpPr>
        <p:spPr>
          <a:xfrm>
            <a:off x="4800600" y="4855464"/>
            <a:ext cx="6839712" cy="987552"/>
          </a:xfrm>
          <a:prstGeom prst="roundRect">
            <a:avLst>
              <a:gd name="adj" fmla="val 11111"/>
            </a:avLst>
          </a:prstGeom>
          <a:solidFill>
            <a:srgbClr val="E8F2ED"/>
          </a:solidFill>
          <a:ln w="12700">
            <a:solidFill>
              <a:srgbClr val="E8F2ED"/>
            </a:solidFill>
            <a:prstDash val="solid"/>
          </a:ln>
        </p:spPr>
      </p:sp>
      <p:sp>
        <p:nvSpPr>
          <p:cNvPr id="36" name="c4_txt_466"/>
          <p:cNvSpPr txBox="1"/>
          <p:nvPr/>
        </p:nvSpPr>
        <p:spPr>
          <a:xfrm>
            <a:off x="5029200" y="4855464"/>
            <a:ext cx="2194560" cy="987552"/>
          </a:xfrm>
          <a:prstGeom prst="rect">
            <a:avLst/>
          </a:prstGeom>
          <a:noFill/>
          <a:ln/>
        </p:spPr>
        <p:txBody>
          <a:bodyPr wrap="square" lIns="0" tIns="0" rIns="0" bIns="0" rtlCol="0" anchor="ctr"/>
          <a:lstStyle/>
          <a:p>
            <a:pPr indent="0" marL="0">
              <a:buNone/>
            </a:pPr>
            <a:r>
              <a:rPr lang="en-US" sz="1700" b="1" dirty="0">
                <a:solidFill>
                  <a:srgbClr val="1E6B4F"/>
                </a:solidFill>
                <a:latin typeface="Inter" pitchFamily="34" charset="0"/>
                <a:ea typeface="Inter" pitchFamily="34" charset="-122"/>
                <a:cs typeface="Inter" pitchFamily="34" charset="-120"/>
              </a:rPr>
              <a:t>Policing and sentencing</a:t>
            </a:r>
            <a:endParaRPr lang="en-US" sz="1700" dirty="0"/>
          </a:p>
        </p:txBody>
      </p:sp>
      <p:sp>
        <p:nvSpPr>
          <p:cNvPr id="37" name="c4_txt_467"/>
          <p:cNvSpPr txBox="1"/>
          <p:nvPr/>
        </p:nvSpPr>
        <p:spPr>
          <a:xfrm>
            <a:off x="7223760" y="4855464"/>
            <a:ext cx="4251960" cy="987552"/>
          </a:xfrm>
          <a:prstGeom prst="rect">
            <a:avLst/>
          </a:prstGeom>
          <a:noFill/>
          <a:ln/>
        </p:spPr>
        <p:txBody>
          <a:bodyPr wrap="square" lIns="0" tIns="0" rIns="0" bIns="0" rtlCol="0" anchor="ctr"/>
          <a:lstStyle/>
          <a:p>
            <a:pPr indent="0" marL="0">
              <a:buNone/>
            </a:pPr>
            <a:r>
              <a:rPr lang="en-US" sz="1500" dirty="0">
                <a:solidFill>
                  <a:srgbClr val="13221D"/>
                </a:solidFill>
                <a:latin typeface="Inter" pitchFamily="34" charset="0"/>
                <a:ea typeface="Inter" pitchFamily="34" charset="-122"/>
                <a:cs typeface="Inter" pitchFamily="34" charset="-120"/>
              </a:rPr>
              <a:t>Risk scores shape bail and sentencing decisions.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childTnLst>
                          </p:cTn>
                        </p:par>
                      </p:childTnLst>
                    </p:cTn>
                  </p:par>
                  <p:par>
                    <p:cTn id="24" fill="hold">
                      <p:stCondLst>
                        <p:cond delay="indefinite"/>
                      </p:stCondLst>
                      <p:childTnLst>
                        <p:par>
                          <p:cTn id="2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400"/>
                                        <p:tgtEl>
                                          <p:spTgt spid="3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35" fill="hold">
                      <p:stCondLst>
                        <p:cond delay="indefinite"/>
                      </p:stCondLst>
                      <p:childTnLst>
                        <p:par>
                          <p:cTn id="3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fade">
                                      <p:cBhvr>
                                        <p:cTn id="30" dur="400"/>
                                        <p:tgtEl>
                                          <p:spTgt spid="3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4"/>
                                        </p:tgtEl>
                                        <p:attrNameLst>
                                          <p:attrName>style.visibility</p:attrName>
                                        </p:attrNameLst>
                                      </p:cBhvr>
                                      <p:to>
                                        <p:strVal val="visible"/>
                                      </p:to>
                                    </p:set>
                                    <p:animEffect transition="in" filter="fade">
                                      <p:cBhvr>
                                        <p:cTn id="33" dur="400"/>
                                        <p:tgtEl>
                                          <p:spTgt spid="34"/>
                                        </p:tgtEl>
                                      </p:cBhvr>
                                    </p:animEffect>
                                  </p:childTnLst>
                                </p:cTn>
                              </p:par>
                            </p:childTnLst>
                          </p:cTn>
                        </p:par>
                      </p:childTnLst>
                    </p:cTn>
                  </p:par>
                  <p:par>
                    <p:cTn id="46" fill="hold">
                      <p:stCondLst>
                        <p:cond delay="indefinite"/>
                      </p:stCondLst>
                      <p:childTnLst>
                        <p:par>
                          <p:cTn id="4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fade">
                                      <p:cBhvr>
                                        <p:cTn id="38" dur="400"/>
                                        <p:tgtEl>
                                          <p:spTgt spid="3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6"/>
                                        </p:tgtEl>
                                        <p:attrNameLst>
                                          <p:attrName>style.visibility</p:attrName>
                                        </p:attrNameLst>
                                      </p:cBhvr>
                                      <p:to>
                                        <p:strVal val="visible"/>
                                      </p:to>
                                    </p:set>
                                    <p:animEffect transition="in" filter="fade">
                                      <p:cBhvr>
                                        <p:cTn id="41" dur="400"/>
                                        <p:tgtEl>
                                          <p:spTgt spid="3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7"/>
                                        </p:tgtEl>
                                        <p:attrNameLst>
                                          <p:attrName>style.visibility</p:attrName>
                                        </p:attrNameLst>
                                      </p:cBhvr>
                                      <p:to>
                                        <p:strVal val="visible"/>
                                      </p:to>
                                    </p:set>
                                    <p:animEffect transition="in" filter="fade">
                                      <p:cBhvr>
                                        <p:cTn id="44"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me_chip_468"/>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3" name="prog_welcome_469"/>
          <p:cNvSpPr/>
          <p:nvPr/>
        </p:nvSpPr>
        <p:spPr>
          <a:xfrm>
            <a:off x="548640" y="6400800"/>
            <a:ext cx="715244" cy="73152"/>
          </a:xfrm>
          <a:prstGeom prst="rect">
            <a:avLst/>
          </a:prstGeom>
          <a:solidFill>
            <a:srgbClr val="A9C4B8"/>
          </a:solidFill>
          <a:ln w="12700">
            <a:solidFill>
              <a:srgbClr val="A9C4B8"/>
            </a:solidFill>
            <a:prstDash val="solid"/>
          </a:ln>
        </p:spPr>
      </p:sp>
      <p:sp>
        <p:nvSpPr>
          <p:cNvPr id="4" name="prog_lbl_welcome_470"/>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471"/>
          <p:cNvSpPr/>
          <p:nvPr/>
        </p:nvSpPr>
        <p:spPr>
          <a:xfrm>
            <a:off x="1309604" y="6400800"/>
            <a:ext cx="1072866" cy="73152"/>
          </a:xfrm>
          <a:prstGeom prst="rect">
            <a:avLst/>
          </a:prstGeom>
          <a:solidFill>
            <a:srgbClr val="E8613A"/>
          </a:solidFill>
          <a:ln w="12700">
            <a:solidFill>
              <a:srgbClr val="E8613A"/>
            </a:solidFill>
            <a:prstDash val="solid"/>
          </a:ln>
        </p:spPr>
      </p:sp>
      <p:sp>
        <p:nvSpPr>
          <p:cNvPr id="6" name="prog_lbl_ai_472"/>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7" name="prog_pd_473"/>
          <p:cNvSpPr/>
          <p:nvPr/>
        </p:nvSpPr>
        <p:spPr>
          <a:xfrm>
            <a:off x="2428189" y="6400800"/>
            <a:ext cx="1072866" cy="73152"/>
          </a:xfrm>
          <a:prstGeom prst="rect">
            <a:avLst/>
          </a:prstGeom>
          <a:solidFill>
            <a:srgbClr val="2A5A4A"/>
          </a:solidFill>
          <a:ln w="12700">
            <a:solidFill>
              <a:srgbClr val="2A5A4A"/>
            </a:solidFill>
            <a:prstDash val="solid"/>
          </a:ln>
        </p:spPr>
      </p:sp>
      <p:sp>
        <p:nvSpPr>
          <p:cNvPr id="8" name="prog_lbl_pd_474"/>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Design</a:t>
            </a:r>
            <a:endParaRPr lang="en-US" sz="1000" dirty="0"/>
          </a:p>
        </p:txBody>
      </p:sp>
      <p:sp>
        <p:nvSpPr>
          <p:cNvPr id="9" name="prog_reflect_475"/>
          <p:cNvSpPr/>
          <p:nvPr/>
        </p:nvSpPr>
        <p:spPr>
          <a:xfrm>
            <a:off x="3546775" y="6400800"/>
            <a:ext cx="1072866" cy="73152"/>
          </a:xfrm>
          <a:prstGeom prst="rect">
            <a:avLst/>
          </a:prstGeom>
          <a:solidFill>
            <a:srgbClr val="2A5A4A"/>
          </a:solidFill>
          <a:ln w="12700">
            <a:solidFill>
              <a:srgbClr val="2A5A4A"/>
            </a:solidFill>
            <a:prstDash val="solid"/>
          </a:ln>
        </p:spPr>
      </p:sp>
      <p:sp>
        <p:nvSpPr>
          <p:cNvPr id="10" name="prog_lbl_reflect_476"/>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Reflect</a:t>
            </a:r>
            <a:endParaRPr lang="en-US" sz="1000" dirty="0"/>
          </a:p>
        </p:txBody>
      </p:sp>
      <p:sp>
        <p:nvSpPr>
          <p:cNvPr id="11" name="prog_share_477"/>
          <p:cNvSpPr/>
          <p:nvPr/>
        </p:nvSpPr>
        <p:spPr>
          <a:xfrm>
            <a:off x="4665360" y="6400800"/>
            <a:ext cx="1072866" cy="73152"/>
          </a:xfrm>
          <a:prstGeom prst="rect">
            <a:avLst/>
          </a:prstGeom>
          <a:solidFill>
            <a:srgbClr val="2A5A4A"/>
          </a:solidFill>
          <a:ln w="12700">
            <a:solidFill>
              <a:srgbClr val="2A5A4A"/>
            </a:solidFill>
            <a:prstDash val="solid"/>
          </a:ln>
        </p:spPr>
      </p:sp>
      <p:sp>
        <p:nvSpPr>
          <p:cNvPr id="12" name="prog_lbl_share_478"/>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Share</a:t>
            </a:r>
            <a:endParaRPr lang="en-US" sz="1000" dirty="0"/>
          </a:p>
        </p:txBody>
      </p:sp>
      <p:sp>
        <p:nvSpPr>
          <p:cNvPr id="13" name="prog_break_479"/>
          <p:cNvSpPr/>
          <p:nvPr/>
        </p:nvSpPr>
        <p:spPr>
          <a:xfrm>
            <a:off x="5783946" y="6400800"/>
            <a:ext cx="1072866" cy="73152"/>
          </a:xfrm>
          <a:prstGeom prst="rect">
            <a:avLst/>
          </a:prstGeom>
          <a:solidFill>
            <a:srgbClr val="2A5A4A"/>
          </a:solidFill>
          <a:ln w="12700">
            <a:solidFill>
              <a:srgbClr val="2A5A4A"/>
            </a:solidFill>
            <a:prstDash val="solid"/>
          </a:ln>
        </p:spPr>
      </p:sp>
      <p:sp>
        <p:nvSpPr>
          <p:cNvPr id="14" name="prog_lbl_break_480"/>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Break</a:t>
            </a:r>
            <a:endParaRPr lang="en-US" sz="1000" dirty="0"/>
          </a:p>
        </p:txBody>
      </p:sp>
      <p:sp>
        <p:nvSpPr>
          <p:cNvPr id="15" name="prog_breakout_481"/>
          <p:cNvSpPr/>
          <p:nvPr/>
        </p:nvSpPr>
        <p:spPr>
          <a:xfrm>
            <a:off x="6902531" y="6400800"/>
            <a:ext cx="3218597" cy="73152"/>
          </a:xfrm>
          <a:prstGeom prst="rect">
            <a:avLst/>
          </a:prstGeom>
          <a:solidFill>
            <a:srgbClr val="2A5A4A"/>
          </a:solidFill>
          <a:ln w="12700">
            <a:solidFill>
              <a:srgbClr val="2A5A4A"/>
            </a:solidFill>
            <a:prstDash val="solid"/>
          </a:ln>
        </p:spPr>
      </p:sp>
      <p:sp>
        <p:nvSpPr>
          <p:cNvPr id="16" name="prog_lbl_breakout_482"/>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483"/>
          <p:cNvSpPr/>
          <p:nvPr/>
        </p:nvSpPr>
        <p:spPr>
          <a:xfrm>
            <a:off x="10166848" y="6400800"/>
            <a:ext cx="715244" cy="73152"/>
          </a:xfrm>
          <a:prstGeom prst="rect">
            <a:avLst/>
          </a:prstGeom>
          <a:solidFill>
            <a:srgbClr val="2A5A4A"/>
          </a:solidFill>
          <a:ln w="12700">
            <a:solidFill>
              <a:srgbClr val="2A5A4A"/>
            </a:solidFill>
            <a:prstDash val="solid"/>
          </a:ln>
        </p:spPr>
      </p:sp>
      <p:sp>
        <p:nvSpPr>
          <p:cNvPr id="18" name="prog_lbl_report_484"/>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485"/>
          <p:cNvSpPr/>
          <p:nvPr/>
        </p:nvSpPr>
        <p:spPr>
          <a:xfrm>
            <a:off x="10927812" y="6400800"/>
            <a:ext cx="715244" cy="73152"/>
          </a:xfrm>
          <a:prstGeom prst="rect">
            <a:avLst/>
          </a:prstGeom>
          <a:solidFill>
            <a:srgbClr val="2A5A4A"/>
          </a:solidFill>
          <a:ln w="12700">
            <a:solidFill>
              <a:srgbClr val="2A5A4A"/>
            </a:solidFill>
            <a:prstDash val="solid"/>
          </a:ln>
        </p:spPr>
      </p:sp>
      <p:sp>
        <p:nvSpPr>
          <p:cNvPr id="20" name="prog_lbl_close_486"/>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1" name="card_487"/>
          <p:cNvSpPr/>
          <p:nvPr/>
        </p:nvSpPr>
        <p:spPr>
          <a:xfrm>
            <a:off x="548640" y="1280160"/>
            <a:ext cx="4572000" cy="4754880"/>
          </a:xfrm>
          <a:prstGeom prst="roundRect">
            <a:avLst>
              <a:gd name="adj" fmla="val 4000"/>
            </a:avLst>
          </a:prstGeom>
          <a:solidFill>
            <a:srgbClr val="FFFFFF"/>
          </a:solidFill>
          <a:ln w="12700">
            <a:solidFill>
              <a:srgbClr val="FFFFFF"/>
            </a:solidFill>
            <a:prstDash val="solid"/>
          </a:ln>
        </p:spPr>
      </p:sp>
      <p:pic>
        <p:nvPicPr>
          <p:cNvPr id="22" name="img_ivory_tower_488" descr="/home/claude/assets/ivory_tower.png">    </p:cNvPr>
          <p:cNvPicPr>
            <a:picLocks noChangeAspect="1"/>
          </p:cNvPicPr>
          <p:nvPr/>
        </p:nvPicPr>
        <p:blipFill>
          <a:blip r:embed="rId1"/>
          <a:stretch>
            <a:fillRect/>
          </a:stretch>
        </p:blipFill>
        <p:spPr>
          <a:xfrm>
            <a:off x="731520" y="1990540"/>
            <a:ext cx="4206240" cy="3334121"/>
          </a:xfrm>
          <a:prstGeom prst="rect">
            <a:avLst/>
          </a:prstGeom>
        </p:spPr>
      </p:pic>
      <p:sp>
        <p:nvSpPr>
          <p:cNvPr id="23" name="txt_489"/>
          <p:cNvSpPr txBox="1"/>
          <p:nvPr/>
        </p:nvSpPr>
        <p:spPr>
          <a:xfrm>
            <a:off x="5669280" y="2011680"/>
            <a:ext cx="5943600" cy="2377440"/>
          </a:xfrm>
          <a:prstGeom prst="rect">
            <a:avLst/>
          </a:prstGeom>
          <a:noFill/>
          <a:ln/>
        </p:spPr>
        <p:txBody>
          <a:bodyPr wrap="square" lIns="0" tIns="0" rIns="0" bIns="0" rtlCol="0" anchor="t"/>
          <a:lstStyle/>
          <a:p>
            <a:pPr indent="0" marL="0">
              <a:buNone/>
            </a:pPr>
            <a:r>
              <a:rPr lang="en-US" sz="3400" b="1" dirty="0">
                <a:solidFill>
                  <a:srgbClr val="FFFFFF"/>
                </a:solidFill>
                <a:latin typeface="Inter" pitchFamily="34" charset="0"/>
                <a:ea typeface="Inter" pitchFamily="34" charset="-122"/>
                <a:cs typeface="Inter" pitchFamily="34" charset="-120"/>
              </a:rPr>
              <a:t>How can academia collaborate outside the ivory tower to solve problems using AI?</a:t>
            </a:r>
            <a:endParaRPr lang="en-US" sz="3400" dirty="0"/>
          </a:p>
        </p:txBody>
      </p:sp>
      <p:sp>
        <p:nvSpPr>
          <p:cNvPr id="24" name="txt_490"/>
          <p:cNvSpPr txBox="1"/>
          <p:nvPr/>
        </p:nvSpPr>
        <p:spPr>
          <a:xfrm>
            <a:off x="5669280" y="5394960"/>
            <a:ext cx="5486400" cy="365760"/>
          </a:xfrm>
          <a:prstGeom prst="rect">
            <a:avLst/>
          </a:prstGeom>
          <a:noFill/>
          <a:ln/>
        </p:spPr>
        <p:txBody>
          <a:bodyPr wrap="square" lIns="0" tIns="0" rIns="0" bIns="0" rtlCol="0" anchor="t"/>
          <a:lstStyle/>
          <a:p>
            <a:pPr indent="0" marL="0">
              <a:buNone/>
            </a:pPr>
            <a:r>
              <a:rPr lang="en-US" sz="1100" dirty="0">
                <a:solidFill>
                  <a:srgbClr val="A9C4B8"/>
                </a:solidFill>
                <a:latin typeface="Inter" pitchFamily="34" charset="0"/>
                <a:ea typeface="Inter" pitchFamily="34" charset="-122"/>
                <a:cs typeface="Inter" pitchFamily="34" charset="-120"/>
              </a:rPr>
              <a:t>Illustration: Melania Bianucci, Ludicomix</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A community-led research pipeline</a:t>
            </a:r>
            <a:endParaRPr lang="en-US" sz="3000" dirty="0"/>
          </a:p>
        </p:txBody>
      </p:sp>
      <p:sp>
        <p:nvSpPr>
          <p:cNvPr id="3" name="time_chip_491"/>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492"/>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493"/>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494"/>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495"/>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496"/>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497"/>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498"/>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499"/>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500"/>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501"/>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502"/>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503"/>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504"/>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505"/>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506"/>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507"/>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508"/>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509"/>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510"/>
          <p:cNvSpPr/>
          <p:nvPr/>
        </p:nvSpPr>
        <p:spPr>
          <a:xfrm>
            <a:off x="548640" y="1508760"/>
            <a:ext cx="2560320" cy="3657600"/>
          </a:xfrm>
          <a:prstGeom prst="roundRect">
            <a:avLst>
              <a:gd name="adj" fmla="val 4286"/>
            </a:avLst>
          </a:prstGeom>
          <a:solidFill>
            <a:srgbClr val="E8F2ED"/>
          </a:solidFill>
          <a:ln w="12700">
            <a:solidFill>
              <a:srgbClr val="E8F2ED"/>
            </a:solidFill>
            <a:prstDash val="solid"/>
          </a:ln>
        </p:spPr>
      </p:sp>
      <p:sp>
        <p:nvSpPr>
          <p:cNvPr id="23" name="c1_icbg_511"/>
          <p:cNvSpPr/>
          <p:nvPr/>
        </p:nvSpPr>
        <p:spPr>
          <a:xfrm>
            <a:off x="822960" y="1783080"/>
            <a:ext cx="1051560" cy="1051560"/>
          </a:xfrm>
          <a:prstGeom prst="ellipse">
            <a:avLst/>
          </a:prstGeom>
          <a:solidFill>
            <a:srgbClr val="FFFFFF"/>
          </a:solidFill>
          <a:ln w="12700">
            <a:solidFill>
              <a:srgbClr val="FFFFFF"/>
            </a:solidFill>
            <a:prstDash val="solid"/>
          </a:ln>
        </p:spPr>
      </p:sp>
      <p:pic>
        <p:nvPicPr>
          <p:cNvPr id="24" name="c1_img_ic_workshop_512" descr="/home/claude/assets/ic_workshop.png">    </p:cNvPr>
          <p:cNvPicPr>
            <a:picLocks noChangeAspect="1"/>
          </p:cNvPicPr>
          <p:nvPr/>
        </p:nvPicPr>
        <p:blipFill>
          <a:blip r:embed="rId1"/>
          <a:stretch>
            <a:fillRect/>
          </a:stretch>
        </p:blipFill>
        <p:spPr>
          <a:xfrm>
            <a:off x="987552" y="1947672"/>
            <a:ext cx="722376" cy="722376"/>
          </a:xfrm>
          <a:prstGeom prst="rect">
            <a:avLst/>
          </a:prstGeom>
        </p:spPr>
      </p:pic>
      <p:sp>
        <p:nvSpPr>
          <p:cNvPr id="25" name="c1_txt_513"/>
          <p:cNvSpPr txBox="1"/>
          <p:nvPr/>
        </p:nvSpPr>
        <p:spPr>
          <a:xfrm>
            <a:off x="822960" y="3017520"/>
            <a:ext cx="2103120" cy="822960"/>
          </a:xfrm>
          <a:prstGeom prst="rect">
            <a:avLst/>
          </a:prstGeom>
          <a:noFill/>
          <a:ln/>
        </p:spPr>
        <p:txBody>
          <a:bodyPr wrap="square" lIns="0" tIns="0" rIns="0" bIns="0" rtlCol="0" anchor="t"/>
          <a:lstStyle/>
          <a:p>
            <a:pPr indent="0" marL="0">
              <a:buNone/>
            </a:pPr>
            <a:r>
              <a:rPr lang="en-US" sz="1900" b="1" dirty="0">
                <a:solidFill>
                  <a:srgbClr val="13221D"/>
                </a:solidFill>
                <a:latin typeface="Inter" pitchFamily="34" charset="0"/>
                <a:ea typeface="Inter" pitchFamily="34" charset="-122"/>
                <a:cs typeface="Inter" pitchFamily="34" charset="-120"/>
              </a:rPr>
              <a:t>Community workshops</a:t>
            </a:r>
            <a:endParaRPr lang="en-US" sz="1900" dirty="0"/>
          </a:p>
        </p:txBody>
      </p:sp>
      <p:sp>
        <p:nvSpPr>
          <p:cNvPr id="26" name="c1_txt_514"/>
          <p:cNvSpPr txBox="1"/>
          <p:nvPr/>
        </p:nvSpPr>
        <p:spPr>
          <a:xfrm>
            <a:off x="822960" y="3840480"/>
            <a:ext cx="2103120" cy="11887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Learn from the community. Build relationships with non-profits.</a:t>
            </a:r>
            <a:endParaRPr lang="en-US" sz="1400" dirty="0"/>
          </a:p>
        </p:txBody>
      </p:sp>
      <p:sp>
        <p:nvSpPr>
          <p:cNvPr id="27" name="c2_txt_515"/>
          <p:cNvSpPr txBox="1"/>
          <p:nvPr/>
        </p:nvSpPr>
        <p:spPr>
          <a:xfrm>
            <a:off x="3090672" y="3017520"/>
            <a:ext cx="320040" cy="548640"/>
          </a:xfrm>
          <a:prstGeom prst="rect">
            <a:avLst/>
          </a:prstGeom>
          <a:noFill/>
          <a:ln/>
        </p:spPr>
        <p:txBody>
          <a:bodyPr wrap="square" lIns="0" tIns="0" rIns="0" bIns="0" rtlCol="0" anchor="ctr"/>
          <a:lstStyle/>
          <a:p>
            <a:pPr algn="ctr" indent="0" marL="0">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28" name="c2_card_516"/>
          <p:cNvSpPr/>
          <p:nvPr/>
        </p:nvSpPr>
        <p:spPr>
          <a:xfrm>
            <a:off x="3392424" y="1508760"/>
            <a:ext cx="2560320" cy="3657600"/>
          </a:xfrm>
          <a:prstGeom prst="roundRect">
            <a:avLst>
              <a:gd name="adj" fmla="val 4286"/>
            </a:avLst>
          </a:prstGeom>
          <a:solidFill>
            <a:srgbClr val="E8F2ED"/>
          </a:solidFill>
          <a:ln w="12700">
            <a:solidFill>
              <a:srgbClr val="E8F2ED"/>
            </a:solidFill>
            <a:prstDash val="solid"/>
          </a:ln>
        </p:spPr>
      </p:sp>
      <p:sp>
        <p:nvSpPr>
          <p:cNvPr id="29" name="c2_icbg_517"/>
          <p:cNvSpPr/>
          <p:nvPr/>
        </p:nvSpPr>
        <p:spPr>
          <a:xfrm>
            <a:off x="3666744" y="1783080"/>
            <a:ext cx="1051560" cy="1051560"/>
          </a:xfrm>
          <a:prstGeom prst="ellipse">
            <a:avLst/>
          </a:prstGeom>
          <a:solidFill>
            <a:srgbClr val="FFFFFF"/>
          </a:solidFill>
          <a:ln w="12700">
            <a:solidFill>
              <a:srgbClr val="FFFFFF"/>
            </a:solidFill>
            <a:prstDash val="solid"/>
          </a:ln>
        </p:spPr>
      </p:sp>
      <p:pic>
        <p:nvPicPr>
          <p:cNvPr id="30" name="c2_img_ic_people_518" descr="/home/claude/assets/ic_people.png">    </p:cNvPr>
          <p:cNvPicPr>
            <a:picLocks noChangeAspect="1"/>
          </p:cNvPicPr>
          <p:nvPr/>
        </p:nvPicPr>
        <p:blipFill>
          <a:blip r:embed="rId2"/>
          <a:stretch>
            <a:fillRect/>
          </a:stretch>
        </p:blipFill>
        <p:spPr>
          <a:xfrm>
            <a:off x="3831336" y="1947672"/>
            <a:ext cx="722376" cy="722376"/>
          </a:xfrm>
          <a:prstGeom prst="rect">
            <a:avLst/>
          </a:prstGeom>
        </p:spPr>
      </p:pic>
      <p:sp>
        <p:nvSpPr>
          <p:cNvPr id="31" name="c2_txt_519"/>
          <p:cNvSpPr txBox="1"/>
          <p:nvPr/>
        </p:nvSpPr>
        <p:spPr>
          <a:xfrm>
            <a:off x="3666744" y="3017520"/>
            <a:ext cx="2103120" cy="822960"/>
          </a:xfrm>
          <a:prstGeom prst="rect">
            <a:avLst/>
          </a:prstGeom>
          <a:noFill/>
          <a:ln/>
        </p:spPr>
        <p:txBody>
          <a:bodyPr wrap="square" lIns="0" tIns="0" rIns="0" bIns="0" rtlCol="0" anchor="t"/>
          <a:lstStyle/>
          <a:p>
            <a:pPr indent="0" marL="0">
              <a:buNone/>
            </a:pPr>
            <a:r>
              <a:rPr lang="en-US" sz="1900" b="1" dirty="0">
                <a:solidFill>
                  <a:srgbClr val="13221D"/>
                </a:solidFill>
                <a:latin typeface="Inter" pitchFamily="34" charset="0"/>
                <a:ea typeface="Inter" pitchFamily="34" charset="-122"/>
                <a:cs typeface="Inter" pitchFamily="34" charset="-120"/>
              </a:rPr>
              <a:t>Service-learning capstones</a:t>
            </a:r>
            <a:endParaRPr lang="en-US" sz="1900" dirty="0"/>
          </a:p>
        </p:txBody>
      </p:sp>
      <p:sp>
        <p:nvSpPr>
          <p:cNvPr id="32" name="c2_txt_520"/>
          <p:cNvSpPr txBox="1"/>
          <p:nvPr/>
        </p:nvSpPr>
        <p:spPr>
          <a:xfrm>
            <a:off x="3666744" y="3840480"/>
            <a:ext cx="2103120" cy="11887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Year-long student projects with partners. Working prototypes.</a:t>
            </a:r>
            <a:endParaRPr lang="en-US" sz="1400" dirty="0"/>
          </a:p>
        </p:txBody>
      </p:sp>
      <p:sp>
        <p:nvSpPr>
          <p:cNvPr id="33" name="c3_txt_521"/>
          <p:cNvSpPr txBox="1"/>
          <p:nvPr/>
        </p:nvSpPr>
        <p:spPr>
          <a:xfrm>
            <a:off x="5934456" y="3017520"/>
            <a:ext cx="320040" cy="548640"/>
          </a:xfrm>
          <a:prstGeom prst="rect">
            <a:avLst/>
          </a:prstGeom>
          <a:noFill/>
          <a:ln/>
        </p:spPr>
        <p:txBody>
          <a:bodyPr wrap="square" lIns="0" tIns="0" rIns="0" bIns="0" rtlCol="0" anchor="ctr"/>
          <a:lstStyle/>
          <a:p>
            <a:pPr algn="ctr" indent="0" marL="0">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34" name="c3_card_522"/>
          <p:cNvSpPr/>
          <p:nvPr/>
        </p:nvSpPr>
        <p:spPr>
          <a:xfrm>
            <a:off x="6236208" y="1508760"/>
            <a:ext cx="2560320" cy="3657600"/>
          </a:xfrm>
          <a:prstGeom prst="roundRect">
            <a:avLst>
              <a:gd name="adj" fmla="val 4286"/>
            </a:avLst>
          </a:prstGeom>
          <a:solidFill>
            <a:srgbClr val="E8F2ED"/>
          </a:solidFill>
          <a:ln w="12700">
            <a:solidFill>
              <a:srgbClr val="E8F2ED"/>
            </a:solidFill>
            <a:prstDash val="solid"/>
          </a:ln>
        </p:spPr>
      </p:sp>
      <p:sp>
        <p:nvSpPr>
          <p:cNvPr id="35" name="c3_icbg_523"/>
          <p:cNvSpPr/>
          <p:nvPr/>
        </p:nvSpPr>
        <p:spPr>
          <a:xfrm>
            <a:off x="6510528" y="1783080"/>
            <a:ext cx="1051560" cy="1051560"/>
          </a:xfrm>
          <a:prstGeom prst="ellipse">
            <a:avLst/>
          </a:prstGeom>
          <a:solidFill>
            <a:srgbClr val="FFFFFF"/>
          </a:solidFill>
          <a:ln w="12700">
            <a:solidFill>
              <a:srgbClr val="FFFFFF"/>
            </a:solidFill>
            <a:prstDash val="solid"/>
          </a:ln>
        </p:spPr>
      </p:sp>
      <p:pic>
        <p:nvPicPr>
          <p:cNvPr id="36" name="c3_img_ic_network_524" descr="/home/claude/assets/ic_network.png">    </p:cNvPr>
          <p:cNvPicPr>
            <a:picLocks noChangeAspect="1"/>
          </p:cNvPicPr>
          <p:nvPr/>
        </p:nvPicPr>
        <p:blipFill>
          <a:blip r:embed="rId3"/>
          <a:stretch>
            <a:fillRect/>
          </a:stretch>
        </p:blipFill>
        <p:spPr>
          <a:xfrm>
            <a:off x="6675120" y="1988765"/>
            <a:ext cx="722376" cy="640190"/>
          </a:xfrm>
          <a:prstGeom prst="rect">
            <a:avLst/>
          </a:prstGeom>
        </p:spPr>
      </p:pic>
      <p:sp>
        <p:nvSpPr>
          <p:cNvPr id="37" name="c3_txt_525"/>
          <p:cNvSpPr txBox="1"/>
          <p:nvPr/>
        </p:nvSpPr>
        <p:spPr>
          <a:xfrm>
            <a:off x="6510528" y="3017520"/>
            <a:ext cx="2103120" cy="822960"/>
          </a:xfrm>
          <a:prstGeom prst="rect">
            <a:avLst/>
          </a:prstGeom>
          <a:noFill/>
          <a:ln/>
        </p:spPr>
        <p:txBody>
          <a:bodyPr wrap="square" lIns="0" tIns="0" rIns="0" bIns="0" rtlCol="0" anchor="t"/>
          <a:lstStyle/>
          <a:p>
            <a:pPr indent="0" marL="0">
              <a:buNone/>
            </a:pPr>
            <a:r>
              <a:rPr lang="en-US" sz="1900" b="1" dirty="0">
                <a:solidFill>
                  <a:srgbClr val="13221D"/>
                </a:solidFill>
                <a:latin typeface="Inter" pitchFamily="34" charset="0"/>
                <a:ea typeface="Inter" pitchFamily="34" charset="-122"/>
                <a:cs typeface="Inter" pitchFamily="34" charset="-120"/>
              </a:rPr>
              <a:t>Research teams</a:t>
            </a:r>
            <a:endParaRPr lang="en-US" sz="1900" dirty="0"/>
          </a:p>
        </p:txBody>
      </p:sp>
      <p:sp>
        <p:nvSpPr>
          <p:cNvPr id="38" name="c3_txt_526"/>
          <p:cNvSpPr txBox="1"/>
          <p:nvPr/>
        </p:nvSpPr>
        <p:spPr>
          <a:xfrm>
            <a:off x="6510528" y="3840480"/>
            <a:ext cx="2103120" cy="11887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Faculty from CS, sociology, economics, public health.</a:t>
            </a:r>
            <a:endParaRPr lang="en-US" sz="1400" dirty="0"/>
          </a:p>
        </p:txBody>
      </p:sp>
      <p:sp>
        <p:nvSpPr>
          <p:cNvPr id="39" name="c4_txt_527"/>
          <p:cNvSpPr txBox="1"/>
          <p:nvPr/>
        </p:nvSpPr>
        <p:spPr>
          <a:xfrm>
            <a:off x="8778240" y="3017520"/>
            <a:ext cx="320040" cy="548640"/>
          </a:xfrm>
          <a:prstGeom prst="rect">
            <a:avLst/>
          </a:prstGeom>
          <a:noFill/>
          <a:ln/>
        </p:spPr>
        <p:txBody>
          <a:bodyPr wrap="square" lIns="0" tIns="0" rIns="0" bIns="0" rtlCol="0" anchor="ctr"/>
          <a:lstStyle/>
          <a:p>
            <a:pPr algn="ctr" indent="0" marL="0">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40" name="c4_card_528"/>
          <p:cNvSpPr/>
          <p:nvPr/>
        </p:nvSpPr>
        <p:spPr>
          <a:xfrm>
            <a:off x="9079992" y="1508760"/>
            <a:ext cx="2560320" cy="3657600"/>
          </a:xfrm>
          <a:prstGeom prst="roundRect">
            <a:avLst>
              <a:gd name="adj" fmla="val 4286"/>
            </a:avLst>
          </a:prstGeom>
          <a:solidFill>
            <a:srgbClr val="E8F2ED"/>
          </a:solidFill>
          <a:ln w="12700">
            <a:solidFill>
              <a:srgbClr val="E8F2ED"/>
            </a:solidFill>
            <a:prstDash val="solid"/>
          </a:ln>
        </p:spPr>
      </p:sp>
      <p:sp>
        <p:nvSpPr>
          <p:cNvPr id="41" name="c4_icbg_529"/>
          <p:cNvSpPr/>
          <p:nvPr/>
        </p:nvSpPr>
        <p:spPr>
          <a:xfrm>
            <a:off x="9354312" y="1783080"/>
            <a:ext cx="1051560" cy="1051560"/>
          </a:xfrm>
          <a:prstGeom prst="ellipse">
            <a:avLst/>
          </a:prstGeom>
          <a:solidFill>
            <a:srgbClr val="FFFFFF"/>
          </a:solidFill>
          <a:ln w="12700">
            <a:solidFill>
              <a:srgbClr val="FFFFFF"/>
            </a:solidFill>
            <a:prstDash val="solid"/>
          </a:ln>
        </p:spPr>
      </p:sp>
      <p:pic>
        <p:nvPicPr>
          <p:cNvPr id="42" name="c4_img_ic_scales_530" descr="/home/claude/assets/ic_scales.png">    </p:cNvPr>
          <p:cNvPicPr>
            <a:picLocks noChangeAspect="1"/>
          </p:cNvPicPr>
          <p:nvPr/>
        </p:nvPicPr>
        <p:blipFill>
          <a:blip r:embed="rId4"/>
          <a:stretch>
            <a:fillRect/>
          </a:stretch>
        </p:blipFill>
        <p:spPr>
          <a:xfrm>
            <a:off x="9518904" y="1947672"/>
            <a:ext cx="722376" cy="722376"/>
          </a:xfrm>
          <a:prstGeom prst="rect">
            <a:avLst/>
          </a:prstGeom>
        </p:spPr>
      </p:pic>
      <p:sp>
        <p:nvSpPr>
          <p:cNvPr id="43" name="c4_txt_531"/>
          <p:cNvSpPr txBox="1"/>
          <p:nvPr/>
        </p:nvSpPr>
        <p:spPr>
          <a:xfrm>
            <a:off x="9354312" y="3017520"/>
            <a:ext cx="2103120" cy="822960"/>
          </a:xfrm>
          <a:prstGeom prst="rect">
            <a:avLst/>
          </a:prstGeom>
          <a:noFill/>
          <a:ln/>
        </p:spPr>
        <p:txBody>
          <a:bodyPr wrap="square" lIns="0" tIns="0" rIns="0" bIns="0" rtlCol="0" anchor="t"/>
          <a:lstStyle/>
          <a:p>
            <a:pPr indent="0" marL="0">
              <a:buNone/>
            </a:pPr>
            <a:r>
              <a:rPr lang="en-US" sz="1900" b="1" dirty="0">
                <a:solidFill>
                  <a:srgbClr val="13221D"/>
                </a:solidFill>
                <a:latin typeface="Inter" pitchFamily="34" charset="0"/>
                <a:ea typeface="Inter" pitchFamily="34" charset="-122"/>
                <a:cs typeface="Inter" pitchFamily="34" charset="-120"/>
              </a:rPr>
              <a:t>Joint funding</a:t>
            </a:r>
            <a:endParaRPr lang="en-US" sz="1900" dirty="0"/>
          </a:p>
        </p:txBody>
      </p:sp>
      <p:sp>
        <p:nvSpPr>
          <p:cNvPr id="44" name="c4_txt_532"/>
          <p:cNvSpPr txBox="1"/>
          <p:nvPr/>
        </p:nvSpPr>
        <p:spPr>
          <a:xfrm>
            <a:off x="9354312" y="3840480"/>
            <a:ext cx="2103120" cy="11887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Seed funds, then shared grants with partners as co-PIs.</a:t>
            </a:r>
            <a:endParaRPr lang="en-US" sz="1400" dirty="0"/>
          </a:p>
        </p:txBody>
      </p:sp>
      <p:pic>
        <p:nvPicPr>
          <p:cNvPr id="45" name="img_ceai_logo_533" descr="/home/claude/assets/ceai_logo.png">    </p:cNvPr>
          <p:cNvPicPr>
            <a:picLocks noChangeAspect="1"/>
          </p:cNvPicPr>
          <p:nvPr/>
        </p:nvPicPr>
        <p:blipFill>
          <a:blip r:embed="rId5"/>
          <a:stretch>
            <a:fillRect/>
          </a:stretch>
        </p:blipFill>
        <p:spPr>
          <a:xfrm>
            <a:off x="548640" y="5440680"/>
            <a:ext cx="2183152" cy="685800"/>
          </a:xfrm>
          <a:prstGeom prst="rect">
            <a:avLst/>
          </a:prstGeom>
        </p:spPr>
      </p:pic>
      <p:sp>
        <p:nvSpPr>
          <p:cNvPr id="46" name="txt_534"/>
          <p:cNvSpPr txBox="1"/>
          <p:nvPr/>
        </p:nvSpPr>
        <p:spPr>
          <a:xfrm>
            <a:off x="2926080" y="5440680"/>
            <a:ext cx="4572000" cy="685800"/>
          </a:xfrm>
          <a:prstGeom prst="rect">
            <a:avLst/>
          </a:prstGeom>
          <a:noFill/>
          <a:ln/>
        </p:spPr>
        <p:txBody>
          <a:bodyPr wrap="square" lIns="0" tIns="0" rIns="0" bIns="0" rtlCol="0" anchor="ctr"/>
          <a:lstStyle/>
          <a:p>
            <a:pPr indent="0" marL="0">
              <a:buNone/>
            </a:pPr>
            <a:r>
              <a:rPr lang="en-US" sz="1400" dirty="0">
                <a:solidFill>
                  <a:srgbClr val="5E6E68"/>
                </a:solidFill>
                <a:latin typeface="Inter" pitchFamily="34" charset="0"/>
                <a:ea typeface="Inter" pitchFamily="34" charset="-122"/>
                <a:cs typeface="Inter" pitchFamily="34" charset="-120"/>
              </a:rPr>
              <a:t>sse.tulane.edu/cs/ceai</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1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39" fill="hold">
                      <p:stCondLst>
                        <p:cond delay="indefinite"/>
                      </p:stCondLst>
                      <p:childTnLst>
                        <p:par>
                          <p:cTn id="38"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59" fill="hold">
                      <p:stCondLst>
                        <p:cond delay="indefinite"/>
                      </p:stCondLst>
                      <p:childTnLst>
                        <p:par>
                          <p:cTn id="58"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childTnLst>
                          </p:cTn>
                        </p:par>
                      </p:childTnLst>
                    </p:cTn>
                  </p:par>
                  <p:par>
                    <p:cTn id="79" fill="hold">
                      <p:stCondLst>
                        <p:cond delay="indefinite"/>
                      </p:stCondLst>
                      <p:childTnLst>
                        <p:par>
                          <p:cTn id="78"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9"/>
                                        </p:tgtEl>
                                        <p:attrNameLst>
                                          <p:attrName>style.visibility</p:attrName>
                                        </p:attrNameLst>
                                      </p:cBhvr>
                                      <p:to>
                                        <p:strVal val="visible"/>
                                      </p:to>
                                    </p:set>
                                    <p:animEffect transition="in" filter="fade">
                                      <p:cBhvr>
                                        <p:cTn id="62" dur="400"/>
                                        <p:tgtEl>
                                          <p:spTgt spid="39"/>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3" grpId="0" animBg="1"/>
      <p:bldP spid="4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LLMs for city government</a:t>
            </a:r>
            <a:endParaRPr lang="en-US" sz="3000" dirty="0"/>
          </a:p>
        </p:txBody>
      </p:sp>
      <p:sp>
        <p:nvSpPr>
          <p:cNvPr id="3" name="time_chip_53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536"/>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537"/>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538"/>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539"/>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540"/>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541"/>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542"/>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543"/>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544"/>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545"/>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546"/>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547"/>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548"/>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549"/>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550"/>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551"/>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552"/>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553"/>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554"/>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EXAMPLE 1</a:t>
            </a:r>
            <a:endParaRPr lang="en-US" sz="1100" dirty="0"/>
          </a:p>
        </p:txBody>
      </p:sp>
      <p:sp>
        <p:nvSpPr>
          <p:cNvPr id="23" name="txt_555"/>
          <p:cNvSpPr txBox="1"/>
          <p:nvPr/>
        </p:nvSpPr>
        <p:spPr>
          <a:xfrm>
            <a:off x="2103120" y="1371600"/>
            <a:ext cx="3246120" cy="310896"/>
          </a:xfrm>
          <a:prstGeom prst="rect">
            <a:avLst/>
          </a:prstGeom>
          <a:noFill/>
          <a:ln/>
        </p:spPr>
        <p:txBody>
          <a:bodyPr wrap="square" lIns="0" tIns="0" rIns="0" bIns="0" rtlCol="0" anchor="ctr"/>
          <a:lstStyle/>
          <a:p>
            <a:pPr indent="0" marL="0">
              <a:buNone/>
            </a:pPr>
            <a:r>
              <a:rPr lang="en-US" sz="1400" b="1" dirty="0">
                <a:solidFill>
                  <a:srgbClr val="1E6B4F"/>
                </a:solidFill>
                <a:latin typeface="Inter" pitchFamily="34" charset="0"/>
                <a:ea typeface="Inter" pitchFamily="34" charset="-122"/>
                <a:cs typeface="Inter" pitchFamily="34" charset="-120"/>
              </a:rPr>
              <a:t>with Eye on Surveillance</a:t>
            </a:r>
            <a:endParaRPr lang="en-US" sz="1400" dirty="0"/>
          </a:p>
        </p:txBody>
      </p:sp>
      <p:sp>
        <p:nvSpPr>
          <p:cNvPr id="24" name="c1_txt_556"/>
          <p:cNvSpPr txBox="1"/>
          <p:nvPr/>
        </p:nvSpPr>
        <p:spPr>
          <a:xfrm>
            <a:off x="548640" y="196596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THE CHALLENGE</a:t>
            </a:r>
            <a:endParaRPr lang="en-US" sz="1200" dirty="0"/>
          </a:p>
        </p:txBody>
      </p:sp>
      <p:sp>
        <p:nvSpPr>
          <p:cNvPr id="25" name="c1_txt_557"/>
          <p:cNvSpPr txBox="1"/>
          <p:nvPr/>
        </p:nvSpPr>
        <p:spPr>
          <a:xfrm>
            <a:off x="548640" y="227685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City Council meetings are hours long and hard for residents to search.</a:t>
            </a:r>
            <a:endParaRPr lang="en-US" sz="1700" dirty="0"/>
          </a:p>
        </p:txBody>
      </p:sp>
      <p:sp>
        <p:nvSpPr>
          <p:cNvPr id="26" name="c2_txt_558"/>
          <p:cNvSpPr txBox="1"/>
          <p:nvPr/>
        </p:nvSpPr>
        <p:spPr>
          <a:xfrm>
            <a:off x="548640" y="329184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WHAT WE BUILT</a:t>
            </a:r>
            <a:endParaRPr lang="en-US" sz="1200" dirty="0"/>
          </a:p>
        </p:txBody>
      </p:sp>
      <p:sp>
        <p:nvSpPr>
          <p:cNvPr id="27" name="c2_txt_559"/>
          <p:cNvSpPr txBox="1"/>
          <p:nvPr/>
        </p:nvSpPr>
        <p:spPr>
          <a:xfrm>
            <a:off x="548640" y="360273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SAWT: ask a question, get answers drawn from council meeting records.</a:t>
            </a:r>
            <a:endParaRPr lang="en-US" sz="1700" dirty="0"/>
          </a:p>
        </p:txBody>
      </p:sp>
      <p:sp>
        <p:nvSpPr>
          <p:cNvPr id="28" name="c3_txt_560"/>
          <p:cNvSpPr txBox="1"/>
          <p:nvPr/>
        </p:nvSpPr>
        <p:spPr>
          <a:xfrm>
            <a:off x="548640" y="461772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LEARN MORE</a:t>
            </a:r>
            <a:endParaRPr lang="en-US" sz="1200" dirty="0"/>
          </a:p>
        </p:txBody>
      </p:sp>
      <p:sp>
        <p:nvSpPr>
          <p:cNvPr id="29" name="c3_txt_561"/>
          <p:cNvSpPr txBox="1"/>
          <p:nvPr/>
        </p:nvSpPr>
        <p:spPr>
          <a:xfrm>
            <a:off x="548640" y="492861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sawt.us</a:t>
            </a:r>
            <a:endParaRPr lang="en-US" sz="1700" dirty="0"/>
          </a:p>
        </p:txBody>
      </p:sp>
      <p:sp>
        <p:nvSpPr>
          <p:cNvPr id="30" name="card_562"/>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sp>
      <p:pic>
        <p:nvPicPr>
          <p:cNvPr id="31" name="img_sawt_app_563" descr="/home/claude/assets/sawt_app.png">    </p:cNvPr>
          <p:cNvPicPr>
            <a:picLocks noChangeAspect="1"/>
          </p:cNvPicPr>
          <p:nvPr/>
        </p:nvPicPr>
        <p:blipFill>
          <a:blip r:embed="rId1"/>
          <a:stretch>
            <a:fillRect/>
          </a:stretch>
        </p:blipFill>
        <p:spPr>
          <a:xfrm>
            <a:off x="5623560" y="2653223"/>
            <a:ext cx="2800259" cy="2100194"/>
          </a:xfrm>
          <a:prstGeom prst="rect">
            <a:avLst/>
          </a:prstGeom>
          <a:effectLst>
            <a:outerShdw sx="100000" sy="100000" kx="0" ky="0" algn="bl" rotWithShape="0" blurRad="101600" dist="25400" dir="5400000">
              <a:srgbClr val="000000">
                <a:alpha val="18000"/>
              </a:srgbClr>
            </a:outerShdw>
          </a:effectLst>
        </p:spPr>
      </p:pic>
      <p:pic>
        <p:nvPicPr>
          <p:cNvPr id="32" name="img_sawt_videos_564" descr="/home/claude/assets/sawt_videos.png">    </p:cNvPr>
          <p:cNvPicPr>
            <a:picLocks noChangeAspect="1"/>
          </p:cNvPicPr>
          <p:nvPr/>
        </p:nvPicPr>
        <p:blipFill>
          <a:blip r:embed="rId2"/>
          <a:stretch>
            <a:fillRect/>
          </a:stretch>
        </p:blipFill>
        <p:spPr>
          <a:xfrm>
            <a:off x="8657173" y="3088138"/>
            <a:ext cx="2800259" cy="1230364"/>
          </a:xfrm>
          <a:prstGeom prst="rect">
            <a:avLst/>
          </a:prstGeom>
          <a:effectLst>
            <a:outerShdw sx="100000" sy="100000" kx="0" ky="0" algn="bl" rotWithShape="0" blurRad="101600" dist="25400" dir="540000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26" fill="hold">
                      <p:stCondLst>
                        <p:cond delay="indefinite"/>
                      </p:stCondLst>
                      <p:childTnLst>
                        <p:par>
                          <p:cTn id="25"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REGGIE: searchable utility meetings</a:t>
            </a:r>
            <a:endParaRPr lang="en-US" sz="3000" dirty="0"/>
          </a:p>
        </p:txBody>
      </p:sp>
      <p:sp>
        <p:nvSpPr>
          <p:cNvPr id="3" name="time_chip_56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566"/>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567"/>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568"/>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569"/>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570"/>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571"/>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572"/>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573"/>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574"/>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575"/>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576"/>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577"/>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578"/>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579"/>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580"/>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581"/>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582"/>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583"/>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584"/>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EXAMPLE 2</a:t>
            </a:r>
            <a:endParaRPr lang="en-US" sz="1100" dirty="0"/>
          </a:p>
        </p:txBody>
      </p:sp>
      <p:sp>
        <p:nvSpPr>
          <p:cNvPr id="23" name="txt_585"/>
          <p:cNvSpPr txBox="1"/>
          <p:nvPr/>
        </p:nvSpPr>
        <p:spPr>
          <a:xfrm>
            <a:off x="2103120" y="1371600"/>
            <a:ext cx="3246120" cy="310896"/>
          </a:xfrm>
          <a:prstGeom prst="rect">
            <a:avLst/>
          </a:prstGeom>
          <a:noFill/>
          <a:ln/>
        </p:spPr>
        <p:txBody>
          <a:bodyPr wrap="square" lIns="0" tIns="0" rIns="0" bIns="0" rtlCol="0" anchor="ctr"/>
          <a:lstStyle/>
          <a:p>
            <a:pPr indent="0" marL="0">
              <a:buNone/>
            </a:pPr>
            <a:r>
              <a:rPr lang="en-US" sz="1400" b="1" dirty="0">
                <a:solidFill>
                  <a:srgbClr val="1E6B4F"/>
                </a:solidFill>
                <a:latin typeface="Inter" pitchFamily="34" charset="0"/>
                <a:ea typeface="Inter" pitchFamily="34" charset="-122"/>
                <a:cs typeface="Inter" pitchFamily="34" charset="-120"/>
              </a:rPr>
              <a:t>with Entergy</a:t>
            </a:r>
            <a:endParaRPr lang="en-US" sz="1400" dirty="0"/>
          </a:p>
        </p:txBody>
      </p:sp>
      <p:sp>
        <p:nvSpPr>
          <p:cNvPr id="24" name="c1_txt_586"/>
          <p:cNvSpPr txBox="1"/>
          <p:nvPr/>
        </p:nvSpPr>
        <p:spPr>
          <a:xfrm>
            <a:off x="548640" y="196596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THE CHALLENGE</a:t>
            </a:r>
            <a:endParaRPr lang="en-US" sz="1200" dirty="0"/>
          </a:p>
        </p:txBody>
      </p:sp>
      <p:sp>
        <p:nvSpPr>
          <p:cNvPr id="25" name="c1_txt_587"/>
          <p:cNvSpPr txBox="1"/>
          <p:nvPr/>
        </p:nvSpPr>
        <p:spPr>
          <a:xfrm>
            <a:off x="548640" y="227685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Public Service Commission meetings: 5 jurisdictions, 5+ hour videos every month.</a:t>
            </a:r>
            <a:endParaRPr lang="en-US" sz="1700" dirty="0"/>
          </a:p>
        </p:txBody>
      </p:sp>
      <p:sp>
        <p:nvSpPr>
          <p:cNvPr id="26" name="c2_txt_588"/>
          <p:cNvSpPr txBox="1"/>
          <p:nvPr/>
        </p:nvSpPr>
        <p:spPr>
          <a:xfrm>
            <a:off x="548640" y="329184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WHAT WE BUILT</a:t>
            </a:r>
            <a:endParaRPr lang="en-US" sz="1200" dirty="0"/>
          </a:p>
        </p:txBody>
      </p:sp>
      <p:sp>
        <p:nvSpPr>
          <p:cNvPr id="27" name="c2_txt_589"/>
          <p:cNvSpPr txBox="1"/>
          <p:nvPr/>
        </p:nvSpPr>
        <p:spPr>
          <a:xfrm>
            <a:off x="548640" y="360273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REGGIE, a chatbot that indexes public meetings for question answering.</a:t>
            </a:r>
            <a:endParaRPr lang="en-US" sz="1700" dirty="0"/>
          </a:p>
        </p:txBody>
      </p:sp>
      <p:sp>
        <p:nvSpPr>
          <p:cNvPr id="28" name="c3_txt_590"/>
          <p:cNvSpPr txBox="1"/>
          <p:nvPr/>
        </p:nvSpPr>
        <p:spPr>
          <a:xfrm>
            <a:off x="548640" y="461772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IMPACT</a:t>
            </a:r>
            <a:endParaRPr lang="en-US" sz="1200" dirty="0"/>
          </a:p>
        </p:txBody>
      </p:sp>
      <p:sp>
        <p:nvSpPr>
          <p:cNvPr id="29" name="c3_txt_591"/>
          <p:cNvSpPr txBox="1"/>
          <p:nvPr/>
        </p:nvSpPr>
        <p:spPr>
          <a:xfrm>
            <a:off x="548640" y="492861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PSC research went from hours to minutes. Best CS Project, Tulane Capstone Expo.</a:t>
            </a:r>
            <a:endParaRPr lang="en-US" sz="1700" dirty="0"/>
          </a:p>
        </p:txBody>
      </p:sp>
      <p:sp>
        <p:nvSpPr>
          <p:cNvPr id="30" name="card_592"/>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sp>
      <p:pic>
        <p:nvPicPr>
          <p:cNvPr id="31" name="img_reggie_team_593" descr="/home/claude/assets/reggie_team.jpg">    </p:cNvPr>
          <p:cNvPicPr>
            <a:picLocks noChangeAspect="1"/>
          </p:cNvPicPr>
          <p:nvPr/>
        </p:nvPicPr>
        <p:blipFill>
          <a:blip r:embed="rId1"/>
          <a:stretch>
            <a:fillRect/>
          </a:stretch>
        </p:blipFill>
        <p:spPr>
          <a:xfrm>
            <a:off x="6352032" y="1554480"/>
            <a:ext cx="4376928" cy="3291840"/>
          </a:xfrm>
          <a:prstGeom prst="rect">
            <a:avLst/>
          </a:prstGeom>
          <a:effectLst>
            <a:outerShdw sx="100000" sy="100000" kx="0" ky="0" algn="bl" rotWithShape="0" blurRad="101600" dist="25400" dir="5400000">
              <a:srgbClr val="000000">
                <a:alpha val="18000"/>
              </a:srgbClr>
            </a:outerShdw>
          </a:effectLst>
        </p:spPr>
      </p:pic>
      <p:pic>
        <p:nvPicPr>
          <p:cNvPr id="32" name="img_entergy_logo_594" descr="/home/claude/assets/entergy_logo.png">    </p:cNvPr>
          <p:cNvPicPr>
            <a:picLocks noChangeAspect="1"/>
          </p:cNvPicPr>
          <p:nvPr/>
        </p:nvPicPr>
        <p:blipFill>
          <a:blip r:embed="rId2"/>
          <a:stretch>
            <a:fillRect/>
          </a:stretch>
        </p:blipFill>
        <p:spPr>
          <a:xfrm>
            <a:off x="7351776" y="5095440"/>
            <a:ext cx="2377440" cy="59904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26" fill="hold">
                      <p:stCondLst>
                        <p:cond delay="indefinite"/>
                      </p:stCondLst>
                      <p:childTnLst>
                        <p:par>
                          <p:cTn id="25"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AI for monitoring criminal court</a:t>
            </a:r>
            <a:endParaRPr lang="en-US" sz="3000" dirty="0"/>
          </a:p>
        </p:txBody>
      </p:sp>
      <p:sp>
        <p:nvSpPr>
          <p:cNvPr id="3" name="time_chip_59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596"/>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597"/>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598"/>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599"/>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600"/>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601"/>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602"/>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603"/>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604"/>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605"/>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606"/>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607"/>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608"/>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609"/>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610"/>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611"/>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612"/>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613"/>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614"/>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EXAMPLE 3</a:t>
            </a:r>
            <a:endParaRPr lang="en-US" sz="1100" dirty="0"/>
          </a:p>
        </p:txBody>
      </p:sp>
      <p:sp>
        <p:nvSpPr>
          <p:cNvPr id="23" name="txt_615"/>
          <p:cNvSpPr txBox="1"/>
          <p:nvPr/>
        </p:nvSpPr>
        <p:spPr>
          <a:xfrm>
            <a:off x="2103120" y="1371600"/>
            <a:ext cx="3246120" cy="310896"/>
          </a:xfrm>
          <a:prstGeom prst="rect">
            <a:avLst/>
          </a:prstGeom>
          <a:noFill/>
          <a:ln/>
        </p:spPr>
        <p:txBody>
          <a:bodyPr wrap="square" lIns="0" tIns="0" rIns="0" bIns="0" rtlCol="0" anchor="ctr"/>
          <a:lstStyle/>
          <a:p>
            <a:pPr indent="0" marL="0">
              <a:buNone/>
            </a:pPr>
            <a:r>
              <a:rPr lang="en-US" sz="1400" b="1" dirty="0">
                <a:solidFill>
                  <a:srgbClr val="1E6B4F"/>
                </a:solidFill>
                <a:latin typeface="Inter" pitchFamily="34" charset="0"/>
                <a:ea typeface="Inter" pitchFamily="34" charset="-122"/>
                <a:cs typeface="Inter" pitchFamily="34" charset="-120"/>
              </a:rPr>
              <a:t>with Court Watch NOLA</a:t>
            </a:r>
            <a:endParaRPr lang="en-US" sz="1400" dirty="0"/>
          </a:p>
        </p:txBody>
      </p:sp>
      <p:sp>
        <p:nvSpPr>
          <p:cNvPr id="24" name="c1_txt_616"/>
          <p:cNvSpPr txBox="1"/>
          <p:nvPr/>
        </p:nvSpPr>
        <p:spPr>
          <a:xfrm>
            <a:off x="548640" y="196596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THE PARTNER</a:t>
            </a:r>
            <a:endParaRPr lang="en-US" sz="1200" dirty="0"/>
          </a:p>
        </p:txBody>
      </p:sp>
      <p:sp>
        <p:nvSpPr>
          <p:cNvPr id="25" name="c1_txt_617"/>
          <p:cNvSpPr txBox="1"/>
          <p:nvPr/>
        </p:nvSpPr>
        <p:spPr>
          <a:xfrm>
            <a:off x="548640" y="227685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Since 2007, trained volunteers have observed Orleans Parish criminal court.</a:t>
            </a:r>
            <a:endParaRPr lang="en-US" sz="1700" dirty="0"/>
          </a:p>
        </p:txBody>
      </p:sp>
      <p:sp>
        <p:nvSpPr>
          <p:cNvPr id="26" name="c2_txt_618"/>
          <p:cNvSpPr txBox="1"/>
          <p:nvPr/>
        </p:nvSpPr>
        <p:spPr>
          <a:xfrm>
            <a:off x="548640" y="329184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STARTED SMALL</a:t>
            </a:r>
            <a:endParaRPr lang="en-US" sz="1200" dirty="0"/>
          </a:p>
        </p:txBody>
      </p:sp>
      <p:sp>
        <p:nvSpPr>
          <p:cNvPr id="27" name="c2_txt_619"/>
          <p:cNvSpPr txBox="1"/>
          <p:nvPr/>
        </p:nvSpPr>
        <p:spPr>
          <a:xfrm>
            <a:off x="548640" y="360273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Student-built data infrastructure for 100K+ cases over 15 years.</a:t>
            </a:r>
            <a:endParaRPr lang="en-US" sz="1700" dirty="0"/>
          </a:p>
        </p:txBody>
      </p:sp>
      <p:sp>
        <p:nvSpPr>
          <p:cNvPr id="28" name="c3_txt_620"/>
          <p:cNvSpPr txBox="1"/>
          <p:nvPr/>
        </p:nvSpPr>
        <p:spPr>
          <a:xfrm>
            <a:off x="548640" y="461772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GREW INTO</a:t>
            </a:r>
            <a:endParaRPr lang="en-US" sz="1200" dirty="0"/>
          </a:p>
        </p:txBody>
      </p:sp>
      <p:sp>
        <p:nvSpPr>
          <p:cNvPr id="29" name="c3_txt_621"/>
          <p:cNvSpPr txBox="1"/>
          <p:nvPr/>
        </p:nvSpPr>
        <p:spPr>
          <a:xfrm>
            <a:off x="548640" y="492861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An NSF-funded program: anomaly detection and LLM tools for defendants, victims, and attorneys.</a:t>
            </a:r>
            <a:endParaRPr lang="en-US" sz="1700" dirty="0"/>
          </a:p>
        </p:txBody>
      </p:sp>
      <p:sp>
        <p:nvSpPr>
          <p:cNvPr id="30" name="card_622"/>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sp>
      <p:pic>
        <p:nvPicPr>
          <p:cNvPr id="31" name="img_courtwatch_logo_623" descr="/home/claude/assets/courtwatch_logo.png">    </p:cNvPr>
          <p:cNvPicPr>
            <a:picLocks noChangeAspect="1"/>
          </p:cNvPicPr>
          <p:nvPr/>
        </p:nvPicPr>
        <p:blipFill>
          <a:blip r:embed="rId1"/>
          <a:stretch>
            <a:fillRect/>
          </a:stretch>
        </p:blipFill>
        <p:spPr>
          <a:xfrm>
            <a:off x="5623560" y="2105955"/>
            <a:ext cx="1828800" cy="1823129"/>
          </a:xfrm>
          <a:prstGeom prst="rect">
            <a:avLst/>
          </a:prstGeom>
        </p:spPr>
      </p:pic>
      <p:pic>
        <p:nvPicPr>
          <p:cNvPr id="32" name="img_courtwatch_poster_624" descr="/home/claude/assets/courtwatch_poster.png">    </p:cNvPr>
          <p:cNvPicPr>
            <a:picLocks noChangeAspect="1"/>
          </p:cNvPicPr>
          <p:nvPr/>
        </p:nvPicPr>
        <p:blipFill>
          <a:blip r:embed="rId2"/>
          <a:stretch>
            <a:fillRect/>
          </a:stretch>
        </p:blipFill>
        <p:spPr>
          <a:xfrm>
            <a:off x="7635240" y="2272387"/>
            <a:ext cx="3822192" cy="2861866"/>
          </a:xfrm>
          <a:prstGeom prst="rect">
            <a:avLst/>
          </a:prstGeom>
          <a:effectLst>
            <a:outerShdw sx="100000" sy="100000" kx="0" ky="0" algn="bl" rotWithShape="0" blurRad="101600" dist="25400" dir="540000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26" fill="hold">
                      <p:stCondLst>
                        <p:cond delay="indefinite"/>
                      </p:stCondLst>
                      <p:childTnLst>
                        <p:par>
                          <p:cTn id="25"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Fairness in microloan discovery</a:t>
            </a:r>
            <a:endParaRPr lang="en-US" sz="3000" dirty="0"/>
          </a:p>
        </p:txBody>
      </p:sp>
      <p:sp>
        <p:nvSpPr>
          <p:cNvPr id="3" name="time_chip_62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626"/>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627"/>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628"/>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629"/>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630"/>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631"/>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632"/>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633"/>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634"/>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635"/>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636"/>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637"/>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638"/>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639"/>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640"/>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641"/>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642"/>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643"/>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644"/>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EXAMPLE 4</a:t>
            </a:r>
            <a:endParaRPr lang="en-US" sz="1100" dirty="0"/>
          </a:p>
        </p:txBody>
      </p:sp>
      <p:sp>
        <p:nvSpPr>
          <p:cNvPr id="23" name="txt_645"/>
          <p:cNvSpPr txBox="1"/>
          <p:nvPr/>
        </p:nvSpPr>
        <p:spPr>
          <a:xfrm>
            <a:off x="2103120" y="1371600"/>
            <a:ext cx="3246120" cy="310896"/>
          </a:xfrm>
          <a:prstGeom prst="rect">
            <a:avLst/>
          </a:prstGeom>
          <a:noFill/>
          <a:ln/>
        </p:spPr>
        <p:txBody>
          <a:bodyPr wrap="square" lIns="0" tIns="0" rIns="0" bIns="0" rtlCol="0" anchor="ctr"/>
          <a:lstStyle/>
          <a:p>
            <a:pPr indent="0" marL="0">
              <a:buNone/>
            </a:pPr>
            <a:r>
              <a:rPr lang="en-US" sz="1400" b="1" dirty="0">
                <a:solidFill>
                  <a:srgbClr val="1E6B4F"/>
                </a:solidFill>
                <a:latin typeface="Inter" pitchFamily="34" charset="0"/>
                <a:ea typeface="Inter" pitchFamily="34" charset="-122"/>
                <a:cs typeface="Inter" pitchFamily="34" charset="-120"/>
              </a:rPr>
              <a:t>with Kiva.org</a:t>
            </a:r>
            <a:endParaRPr lang="en-US" sz="1400" dirty="0"/>
          </a:p>
        </p:txBody>
      </p:sp>
      <p:sp>
        <p:nvSpPr>
          <p:cNvPr id="24" name="c1_txt_646"/>
          <p:cNvSpPr txBox="1"/>
          <p:nvPr/>
        </p:nvSpPr>
        <p:spPr>
          <a:xfrm>
            <a:off x="548640" y="196596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THE PARTNER</a:t>
            </a:r>
            <a:endParaRPr lang="en-US" sz="1200" dirty="0"/>
          </a:p>
        </p:txBody>
      </p:sp>
      <p:sp>
        <p:nvSpPr>
          <p:cNvPr id="25" name="c1_txt_647"/>
          <p:cNvSpPr txBox="1"/>
          <p:nvPr/>
        </p:nvSpPr>
        <p:spPr>
          <a:xfrm>
            <a:off x="548640" y="227685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Kiva crowdfunds microloans: $1.74B to 4.3M borrowers in 77 countries (2022).</a:t>
            </a:r>
            <a:endParaRPr lang="en-US" sz="1700" dirty="0"/>
          </a:p>
        </p:txBody>
      </p:sp>
      <p:sp>
        <p:nvSpPr>
          <p:cNvPr id="26" name="c2_txt_648"/>
          <p:cNvSpPr txBox="1"/>
          <p:nvPr/>
        </p:nvSpPr>
        <p:spPr>
          <a:xfrm>
            <a:off x="548640" y="329184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THE CHALLENGE</a:t>
            </a:r>
            <a:endParaRPr lang="en-US" sz="1200" dirty="0"/>
          </a:p>
        </p:txBody>
      </p:sp>
      <p:sp>
        <p:nvSpPr>
          <p:cNvPr id="27" name="c2_txt_649"/>
          <p:cNvSpPr txBox="1"/>
          <p:nvPr/>
        </p:nvSpPr>
        <p:spPr>
          <a:xfrm>
            <a:off x="548640" y="360273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Lender attention is uneven, so some borrowers get overlooked.</a:t>
            </a:r>
            <a:endParaRPr lang="en-US" sz="1700" dirty="0"/>
          </a:p>
        </p:txBody>
      </p:sp>
      <p:sp>
        <p:nvSpPr>
          <p:cNvPr id="28" name="c3_txt_650"/>
          <p:cNvSpPr txBox="1"/>
          <p:nvPr/>
        </p:nvSpPr>
        <p:spPr>
          <a:xfrm>
            <a:off x="548640" y="461772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WHAT WE STUDIED</a:t>
            </a:r>
            <a:endParaRPr lang="en-US" sz="1200" dirty="0"/>
          </a:p>
        </p:txBody>
      </p:sp>
      <p:sp>
        <p:nvSpPr>
          <p:cNvPr id="29" name="c3_txt_651"/>
          <p:cNvSpPr txBox="1"/>
          <p:nvPr/>
        </p:nvSpPr>
        <p:spPr>
          <a:xfrm>
            <a:off x="548640" y="492861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Recommendations that balance fairness across borrowers, lenders, and Kiva's mission.</a:t>
            </a:r>
            <a:endParaRPr lang="en-US" sz="1700" dirty="0"/>
          </a:p>
        </p:txBody>
      </p:sp>
      <p:sp>
        <p:nvSpPr>
          <p:cNvPr id="30" name="card_652"/>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sp>
      <p:pic>
        <p:nvPicPr>
          <p:cNvPr id="31" name="img_kiva_logo_653" descr="/home/claude/assets/kiva_logo.png">    </p:cNvPr>
          <p:cNvPicPr>
            <a:picLocks noChangeAspect="1"/>
          </p:cNvPicPr>
          <p:nvPr/>
        </p:nvPicPr>
        <p:blipFill>
          <a:blip r:embed="rId1"/>
          <a:stretch>
            <a:fillRect/>
          </a:stretch>
        </p:blipFill>
        <p:spPr>
          <a:xfrm>
            <a:off x="5623560" y="1554480"/>
            <a:ext cx="1801906" cy="914400"/>
          </a:xfrm>
          <a:prstGeom prst="rect">
            <a:avLst/>
          </a:prstGeom>
        </p:spPr>
      </p:pic>
      <p:pic>
        <p:nvPicPr>
          <p:cNvPr id="32" name="img_kiva_diagram_654" descr="/home/claude/assets/kiva_diagram.png">    </p:cNvPr>
          <p:cNvPicPr>
            <a:picLocks noChangeAspect="1"/>
          </p:cNvPicPr>
          <p:nvPr/>
        </p:nvPicPr>
        <p:blipFill>
          <a:blip r:embed="rId2"/>
          <a:stretch>
            <a:fillRect/>
          </a:stretch>
        </p:blipFill>
        <p:spPr>
          <a:xfrm>
            <a:off x="5623560" y="2771615"/>
            <a:ext cx="5833872" cy="2960690"/>
          </a:xfrm>
          <a:prstGeom prst="rect">
            <a:avLst/>
          </a:prstGeom>
          <a:effectLst>
            <a:outerShdw sx="100000" sy="100000" kx="0" ky="0" algn="bl" rotWithShape="0" blurRad="101600" dist="25400" dir="540000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26" fill="hold">
                      <p:stCondLst>
                        <p:cond delay="indefinite"/>
                      </p:stCondLst>
                      <p:childTnLst>
                        <p:par>
                          <p:cTn id="25"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Good practices we've learned</a:t>
            </a:r>
            <a:endParaRPr lang="en-US" sz="3000" dirty="0"/>
          </a:p>
        </p:txBody>
      </p:sp>
      <p:sp>
        <p:nvSpPr>
          <p:cNvPr id="3" name="time_chip_65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9:10 – 9:25  ·  15 min</a:t>
            </a:r>
            <a:endParaRPr lang="en-US" sz="1400" dirty="0"/>
          </a:p>
        </p:txBody>
      </p:sp>
      <p:sp>
        <p:nvSpPr>
          <p:cNvPr id="4" name="prog_welcome_656"/>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657"/>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658"/>
          <p:cNvSpPr/>
          <p:nvPr/>
        </p:nvSpPr>
        <p:spPr>
          <a:xfrm>
            <a:off x="1309604" y="6400800"/>
            <a:ext cx="1072866" cy="73152"/>
          </a:xfrm>
          <a:prstGeom prst="rect">
            <a:avLst/>
          </a:prstGeom>
          <a:solidFill>
            <a:srgbClr val="E8613A"/>
          </a:solidFill>
          <a:ln w="12700">
            <a:solidFill>
              <a:srgbClr val="E8613A"/>
            </a:solidFill>
            <a:prstDash val="solid"/>
          </a:ln>
        </p:spPr>
      </p:sp>
      <p:sp>
        <p:nvSpPr>
          <p:cNvPr id="7" name="prog_lbl_ai_659"/>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660"/>
          <p:cNvSpPr/>
          <p:nvPr/>
        </p:nvSpPr>
        <p:spPr>
          <a:xfrm>
            <a:off x="2428189" y="6400800"/>
            <a:ext cx="1072866" cy="73152"/>
          </a:xfrm>
          <a:prstGeom prst="rect">
            <a:avLst/>
          </a:prstGeom>
          <a:solidFill>
            <a:srgbClr val="D9E1DD"/>
          </a:solidFill>
          <a:ln w="12700">
            <a:solidFill>
              <a:srgbClr val="D9E1DD"/>
            </a:solidFill>
            <a:prstDash val="solid"/>
          </a:ln>
        </p:spPr>
      </p:sp>
      <p:sp>
        <p:nvSpPr>
          <p:cNvPr id="9" name="prog_lbl_pd_661"/>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662"/>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663"/>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664"/>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665"/>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666"/>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667"/>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668"/>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669"/>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670"/>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671"/>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672"/>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673"/>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674"/>
          <p:cNvSpPr/>
          <p:nvPr/>
        </p:nvSpPr>
        <p:spPr>
          <a:xfrm>
            <a:off x="548640" y="1417320"/>
            <a:ext cx="7680960" cy="786384"/>
          </a:xfrm>
          <a:prstGeom prst="roundRect">
            <a:avLst>
              <a:gd name="adj" fmla="val 13953"/>
            </a:avLst>
          </a:prstGeom>
          <a:solidFill>
            <a:srgbClr val="E8F2ED"/>
          </a:solidFill>
          <a:ln w="12700">
            <a:solidFill>
              <a:srgbClr val="E8F2ED"/>
            </a:solidFill>
            <a:prstDash val="solid"/>
          </a:ln>
        </p:spPr>
      </p:sp>
      <p:sp>
        <p:nvSpPr>
          <p:cNvPr id="23" name="c1_num_675"/>
          <p:cNvSpPr txBox="1"/>
          <p:nvPr/>
        </p:nvSpPr>
        <p:spPr>
          <a:xfrm>
            <a:off x="731520" y="1563624"/>
            <a:ext cx="493776" cy="493776"/>
          </a:xfrm>
          <a:prstGeom prst="ellipse">
            <a:avLst/>
          </a:prstGeom>
          <a:solidFill>
            <a:srgbClr val="E8613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24" name="c1_txt_676"/>
          <p:cNvSpPr txBox="1"/>
          <p:nvPr/>
        </p:nvSpPr>
        <p:spPr>
          <a:xfrm>
            <a:off x="1417320" y="1417320"/>
            <a:ext cx="2834640" cy="786384"/>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Start with conversations</a:t>
            </a:r>
            <a:endParaRPr lang="en-US" sz="1700" dirty="0"/>
          </a:p>
        </p:txBody>
      </p:sp>
      <p:sp>
        <p:nvSpPr>
          <p:cNvPr id="25" name="c1_txt_677"/>
          <p:cNvSpPr txBox="1"/>
          <p:nvPr/>
        </p:nvSpPr>
        <p:spPr>
          <a:xfrm>
            <a:off x="4251960" y="1417320"/>
            <a:ext cx="3886200" cy="786384"/>
          </a:xfrm>
          <a:prstGeom prst="rect">
            <a:avLst/>
          </a:prstGeom>
          <a:noFill/>
          <a:ln/>
        </p:spPr>
        <p:txBody>
          <a:bodyPr wrap="square" lIns="0" tIns="0" rIns="0" bIns="0" rtlCol="0" anchor="ctr"/>
          <a:lstStyle/>
          <a:p>
            <a:pPr indent="0" marL="0">
              <a:buNone/>
            </a:pPr>
            <a:r>
              <a:rPr lang="en-US" sz="1400" dirty="0">
                <a:solidFill>
                  <a:srgbClr val="5E6E68"/>
                </a:solidFill>
                <a:latin typeface="Inter" pitchFamily="34" charset="0"/>
                <a:ea typeface="Inter" pitchFamily="34" charset="-122"/>
                <a:cs typeface="Inter" pitchFamily="34" charset="-120"/>
              </a:rPr>
              <a:t>Outreach and ideation meetings, with help from your public service office.</a:t>
            </a:r>
            <a:endParaRPr lang="en-US" sz="1400" dirty="0"/>
          </a:p>
        </p:txBody>
      </p:sp>
      <p:sp>
        <p:nvSpPr>
          <p:cNvPr id="26" name="c2_card_678"/>
          <p:cNvSpPr/>
          <p:nvPr/>
        </p:nvSpPr>
        <p:spPr>
          <a:xfrm>
            <a:off x="548640" y="2313432"/>
            <a:ext cx="7680960" cy="786384"/>
          </a:xfrm>
          <a:prstGeom prst="roundRect">
            <a:avLst>
              <a:gd name="adj" fmla="val 13953"/>
            </a:avLst>
          </a:prstGeom>
          <a:solidFill>
            <a:srgbClr val="FFFFFF"/>
          </a:solidFill>
          <a:ln w="12700">
            <a:solidFill>
              <a:srgbClr val="D9E1DD"/>
            </a:solidFill>
            <a:prstDash val="solid"/>
          </a:ln>
        </p:spPr>
      </p:sp>
      <p:sp>
        <p:nvSpPr>
          <p:cNvPr id="27" name="c2_num_679"/>
          <p:cNvSpPr txBox="1"/>
          <p:nvPr/>
        </p:nvSpPr>
        <p:spPr>
          <a:xfrm>
            <a:off x="731520" y="2459736"/>
            <a:ext cx="493776" cy="493776"/>
          </a:xfrm>
          <a:prstGeom prst="ellipse">
            <a:avLst/>
          </a:prstGeom>
          <a:solidFill>
            <a:srgbClr val="E8613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28" name="c2_txt_680"/>
          <p:cNvSpPr txBox="1"/>
          <p:nvPr/>
        </p:nvSpPr>
        <p:spPr>
          <a:xfrm>
            <a:off x="1417320" y="2313432"/>
            <a:ext cx="2834640" cy="786384"/>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Start small</a:t>
            </a:r>
            <a:endParaRPr lang="en-US" sz="1700" dirty="0"/>
          </a:p>
        </p:txBody>
      </p:sp>
      <p:sp>
        <p:nvSpPr>
          <p:cNvPr id="29" name="c2_txt_681"/>
          <p:cNvSpPr txBox="1"/>
          <p:nvPr/>
        </p:nvSpPr>
        <p:spPr>
          <a:xfrm>
            <a:off x="4251960" y="2313432"/>
            <a:ext cx="3886200" cy="786384"/>
          </a:xfrm>
          <a:prstGeom prst="rect">
            <a:avLst/>
          </a:prstGeom>
          <a:noFill/>
          <a:ln/>
        </p:spPr>
        <p:txBody>
          <a:bodyPr wrap="square" lIns="0" tIns="0" rIns="0" bIns="0" rtlCol="0" anchor="ctr"/>
          <a:lstStyle/>
          <a:p>
            <a:pPr indent="0" marL="0">
              <a:buNone/>
            </a:pPr>
            <a:r>
              <a:rPr lang="en-US" sz="1400" dirty="0">
                <a:solidFill>
                  <a:srgbClr val="5E6E68"/>
                </a:solidFill>
                <a:latin typeface="Inter" pitchFamily="34" charset="0"/>
                <a:ea typeface="Inter" pitchFamily="34" charset="-122"/>
                <a:cs typeface="Inter" pitchFamily="34" charset="-120"/>
              </a:rPr>
              <a:t>Data prep, websites, capstone-sized projects. Early wins build trust.</a:t>
            </a:r>
            <a:endParaRPr lang="en-US" sz="1400" dirty="0"/>
          </a:p>
        </p:txBody>
      </p:sp>
      <p:sp>
        <p:nvSpPr>
          <p:cNvPr id="30" name="c3_card_682"/>
          <p:cNvSpPr/>
          <p:nvPr/>
        </p:nvSpPr>
        <p:spPr>
          <a:xfrm>
            <a:off x="548640" y="3209544"/>
            <a:ext cx="7680960" cy="786384"/>
          </a:xfrm>
          <a:prstGeom prst="roundRect">
            <a:avLst>
              <a:gd name="adj" fmla="val 13953"/>
            </a:avLst>
          </a:prstGeom>
          <a:solidFill>
            <a:srgbClr val="E8F2ED"/>
          </a:solidFill>
          <a:ln w="12700">
            <a:solidFill>
              <a:srgbClr val="E8F2ED"/>
            </a:solidFill>
            <a:prstDash val="solid"/>
          </a:ln>
        </p:spPr>
      </p:sp>
      <p:sp>
        <p:nvSpPr>
          <p:cNvPr id="31" name="c3_num_683"/>
          <p:cNvSpPr txBox="1"/>
          <p:nvPr/>
        </p:nvSpPr>
        <p:spPr>
          <a:xfrm>
            <a:off x="731520" y="3355848"/>
            <a:ext cx="493776" cy="493776"/>
          </a:xfrm>
          <a:prstGeom prst="ellipse">
            <a:avLst/>
          </a:prstGeom>
          <a:solidFill>
            <a:srgbClr val="E8613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32" name="c3_txt_684"/>
          <p:cNvSpPr txBox="1"/>
          <p:nvPr/>
        </p:nvSpPr>
        <p:spPr>
          <a:xfrm>
            <a:off x="1417320" y="3209544"/>
            <a:ext cx="2834640" cy="786384"/>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Share the money and the credit</a:t>
            </a:r>
            <a:endParaRPr lang="en-US" sz="1700" dirty="0"/>
          </a:p>
        </p:txBody>
      </p:sp>
      <p:sp>
        <p:nvSpPr>
          <p:cNvPr id="33" name="c3_txt_685"/>
          <p:cNvSpPr txBox="1"/>
          <p:nvPr/>
        </p:nvSpPr>
        <p:spPr>
          <a:xfrm>
            <a:off x="4251960" y="3209544"/>
            <a:ext cx="3886200" cy="786384"/>
          </a:xfrm>
          <a:prstGeom prst="rect">
            <a:avLst/>
          </a:prstGeom>
          <a:noFill/>
          <a:ln/>
        </p:spPr>
        <p:txBody>
          <a:bodyPr wrap="square" lIns="0" tIns="0" rIns="0" bIns="0" rtlCol="0" anchor="ctr"/>
          <a:lstStyle/>
          <a:p>
            <a:pPr indent="0" marL="0">
              <a:buNone/>
            </a:pPr>
            <a:r>
              <a:rPr lang="en-US" sz="1400" dirty="0">
                <a:solidFill>
                  <a:srgbClr val="5E6E68"/>
                </a:solidFill>
                <a:latin typeface="Inter" pitchFamily="34" charset="0"/>
                <a:ea typeface="Inter" pitchFamily="34" charset="-122"/>
                <a:cs typeface="Inter" pitchFamily="34" charset="-120"/>
              </a:rPr>
              <a:t>Partners as co-PIs. Budget for their time.</a:t>
            </a:r>
            <a:endParaRPr lang="en-US" sz="1400" dirty="0"/>
          </a:p>
        </p:txBody>
      </p:sp>
      <p:sp>
        <p:nvSpPr>
          <p:cNvPr id="34" name="c4_card_686"/>
          <p:cNvSpPr/>
          <p:nvPr/>
        </p:nvSpPr>
        <p:spPr>
          <a:xfrm>
            <a:off x="548640" y="4105656"/>
            <a:ext cx="7680960" cy="786384"/>
          </a:xfrm>
          <a:prstGeom prst="roundRect">
            <a:avLst>
              <a:gd name="adj" fmla="val 13953"/>
            </a:avLst>
          </a:prstGeom>
          <a:solidFill>
            <a:srgbClr val="FFFFFF"/>
          </a:solidFill>
          <a:ln w="12700">
            <a:solidFill>
              <a:srgbClr val="D9E1DD"/>
            </a:solidFill>
            <a:prstDash val="solid"/>
          </a:ln>
        </p:spPr>
      </p:sp>
      <p:sp>
        <p:nvSpPr>
          <p:cNvPr id="35" name="c4_num_687"/>
          <p:cNvSpPr txBox="1"/>
          <p:nvPr/>
        </p:nvSpPr>
        <p:spPr>
          <a:xfrm>
            <a:off x="731520" y="4251960"/>
            <a:ext cx="493776" cy="493776"/>
          </a:xfrm>
          <a:prstGeom prst="ellipse">
            <a:avLst/>
          </a:prstGeom>
          <a:solidFill>
            <a:srgbClr val="E8613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4</a:t>
            </a:r>
            <a:endParaRPr lang="en-US" sz="1600" dirty="0"/>
          </a:p>
        </p:txBody>
      </p:sp>
      <p:sp>
        <p:nvSpPr>
          <p:cNvPr id="36" name="c4_txt_688"/>
          <p:cNvSpPr txBox="1"/>
          <p:nvPr/>
        </p:nvSpPr>
        <p:spPr>
          <a:xfrm>
            <a:off x="1417320" y="4105656"/>
            <a:ext cx="2834640" cy="786384"/>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Plan for years, not semesters</a:t>
            </a:r>
            <a:endParaRPr lang="en-US" sz="1700" dirty="0"/>
          </a:p>
        </p:txBody>
      </p:sp>
      <p:sp>
        <p:nvSpPr>
          <p:cNvPr id="37" name="c4_txt_689"/>
          <p:cNvSpPr txBox="1"/>
          <p:nvPr/>
        </p:nvSpPr>
        <p:spPr>
          <a:xfrm>
            <a:off x="4251960" y="4105656"/>
            <a:ext cx="3886200" cy="786384"/>
          </a:xfrm>
          <a:prstGeom prst="rect">
            <a:avLst/>
          </a:prstGeom>
          <a:noFill/>
          <a:ln/>
        </p:spPr>
        <p:txBody>
          <a:bodyPr wrap="square" lIns="0" tIns="0" rIns="0" bIns="0" rtlCol="0" anchor="ctr"/>
          <a:lstStyle/>
          <a:p>
            <a:pPr indent="0" marL="0">
              <a:buNone/>
            </a:pPr>
            <a:r>
              <a:rPr lang="en-US" sz="1400" dirty="0">
                <a:solidFill>
                  <a:srgbClr val="5E6E68"/>
                </a:solidFill>
                <a:latin typeface="Inter" pitchFamily="34" charset="0"/>
                <a:ea typeface="Inter" pitchFamily="34" charset="-122"/>
                <a:cs typeface="Inter" pitchFamily="34" charset="-120"/>
              </a:rPr>
              <a:t>Hand work off between student cohorts.</a:t>
            </a:r>
            <a:endParaRPr lang="en-US" sz="1400" dirty="0"/>
          </a:p>
        </p:txBody>
      </p:sp>
      <p:sp>
        <p:nvSpPr>
          <p:cNvPr id="38" name="c5_card_690"/>
          <p:cNvSpPr/>
          <p:nvPr/>
        </p:nvSpPr>
        <p:spPr>
          <a:xfrm>
            <a:off x="548640" y="5001768"/>
            <a:ext cx="7680960" cy="786384"/>
          </a:xfrm>
          <a:prstGeom prst="roundRect">
            <a:avLst>
              <a:gd name="adj" fmla="val 13953"/>
            </a:avLst>
          </a:prstGeom>
          <a:solidFill>
            <a:srgbClr val="E8F2ED"/>
          </a:solidFill>
          <a:ln w="12700">
            <a:solidFill>
              <a:srgbClr val="E8F2ED"/>
            </a:solidFill>
            <a:prstDash val="solid"/>
          </a:ln>
        </p:spPr>
      </p:sp>
      <p:sp>
        <p:nvSpPr>
          <p:cNvPr id="39" name="c5_num_691"/>
          <p:cNvSpPr txBox="1"/>
          <p:nvPr/>
        </p:nvSpPr>
        <p:spPr>
          <a:xfrm>
            <a:off x="731520" y="5148072"/>
            <a:ext cx="493776" cy="493776"/>
          </a:xfrm>
          <a:prstGeom prst="ellipse">
            <a:avLst/>
          </a:prstGeom>
          <a:solidFill>
            <a:srgbClr val="E8613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5</a:t>
            </a:r>
            <a:endParaRPr lang="en-US" sz="1600" dirty="0"/>
          </a:p>
        </p:txBody>
      </p:sp>
      <p:sp>
        <p:nvSpPr>
          <p:cNvPr id="40" name="c5_txt_692"/>
          <p:cNvSpPr txBox="1"/>
          <p:nvPr/>
        </p:nvSpPr>
        <p:spPr>
          <a:xfrm>
            <a:off x="1417320" y="5001768"/>
            <a:ext cx="2834640" cy="786384"/>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Listen deeply</a:t>
            </a:r>
            <a:endParaRPr lang="en-US" sz="1700" dirty="0"/>
          </a:p>
        </p:txBody>
      </p:sp>
      <p:sp>
        <p:nvSpPr>
          <p:cNvPr id="41" name="c5_txt_693"/>
          <p:cNvSpPr txBox="1"/>
          <p:nvPr/>
        </p:nvSpPr>
        <p:spPr>
          <a:xfrm>
            <a:off x="4251960" y="5001768"/>
            <a:ext cx="3886200" cy="786384"/>
          </a:xfrm>
          <a:prstGeom prst="rect">
            <a:avLst/>
          </a:prstGeom>
          <a:noFill/>
          <a:ln/>
        </p:spPr>
        <p:txBody>
          <a:bodyPr wrap="square" lIns="0" tIns="0" rIns="0" bIns="0" rtlCol="0" anchor="ctr"/>
          <a:lstStyle/>
          <a:p>
            <a:pPr indent="0" marL="0">
              <a:buNone/>
            </a:pPr>
            <a:r>
              <a:rPr lang="en-US" sz="1400" dirty="0">
                <a:solidFill>
                  <a:srgbClr val="5E6E68"/>
                </a:solidFill>
                <a:latin typeface="Inter" pitchFamily="34" charset="0"/>
                <a:ea typeface="Inter" pitchFamily="34" charset="-122"/>
                <a:cs typeface="Inter" pitchFamily="34" charset="-120"/>
              </a:rPr>
              <a:t>Including about when not to use AI.</a:t>
            </a:r>
            <a:endParaRPr lang="en-US" sz="1400" dirty="0"/>
          </a:p>
        </p:txBody>
      </p:sp>
      <p:sp>
        <p:nvSpPr>
          <p:cNvPr id="42" name="card_694"/>
          <p:cNvSpPr/>
          <p:nvPr/>
        </p:nvSpPr>
        <p:spPr>
          <a:xfrm>
            <a:off x="8503920" y="1417320"/>
            <a:ext cx="3136392" cy="4370832"/>
          </a:xfrm>
          <a:prstGeom prst="roundRect">
            <a:avLst>
              <a:gd name="adj" fmla="val 3499"/>
            </a:avLst>
          </a:prstGeom>
          <a:solidFill>
            <a:srgbClr val="0E3B2E"/>
          </a:solidFill>
          <a:ln w="12700">
            <a:solidFill>
              <a:srgbClr val="0E3B2E"/>
            </a:solidFill>
            <a:prstDash val="solid"/>
          </a:ln>
        </p:spPr>
      </p:sp>
      <p:sp>
        <p:nvSpPr>
          <p:cNvPr id="43" name="txt_695"/>
          <p:cNvSpPr txBox="1"/>
          <p:nvPr/>
        </p:nvSpPr>
        <p:spPr>
          <a:xfrm>
            <a:off x="8732520" y="1691640"/>
            <a:ext cx="2697480" cy="274320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“Not a pipeline in which communities supply problems that are appropriated by academics.”</a:t>
            </a:r>
            <a:endParaRPr lang="en-US" sz="1800" dirty="0"/>
          </a:p>
        </p:txBody>
      </p:sp>
      <p:sp>
        <p:nvSpPr>
          <p:cNvPr id="44" name="txt_696"/>
          <p:cNvSpPr txBox="1"/>
          <p:nvPr/>
        </p:nvSpPr>
        <p:spPr>
          <a:xfrm>
            <a:off x="8732520" y="4572000"/>
            <a:ext cx="2697480" cy="1005840"/>
          </a:xfrm>
          <a:prstGeom prst="rect">
            <a:avLst/>
          </a:prstGeom>
          <a:noFill/>
          <a:ln/>
        </p:spPr>
        <p:txBody>
          <a:bodyPr wrap="square" lIns="0" tIns="0" rIns="0" bIns="0" rtlCol="0" anchor="t"/>
          <a:lstStyle/>
          <a:p>
            <a:pPr indent="0" marL="0">
              <a:buNone/>
            </a:pPr>
            <a:r>
              <a:rPr lang="en-US" sz="1100" dirty="0">
                <a:solidFill>
                  <a:srgbClr val="A9C4B8"/>
                </a:solidFill>
                <a:latin typeface="Inter" pitchFamily="34" charset="0"/>
                <a:ea typeface="Inter" pitchFamily="34" charset="-122"/>
                <a:cs typeface="Inter" pitchFamily="34" charset="-120"/>
              </a:rPr>
              <a:t>Culotta &amp; Mattei, Service Learning for Community-Centered AI Research</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 fill="hold">
                      <p:stCondLst>
                        <p:cond delay="indefinite"/>
                      </p:stCondLst>
                      <p:childTnLst>
                        <p:par>
                          <p:cTn id="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childTnLst>
                          </p:cTn>
                        </p:par>
                      </p:childTnLst>
                    </p:cTn>
                  </p:par>
                  <p:par>
                    <p:cTn id="30" fill="hold">
                      <p:stCondLst>
                        <p:cond delay="indefinite"/>
                      </p:stCondLst>
                      <p:childTnLst>
                        <p:par>
                          <p:cTn id="29"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childTnLst>
                          </p:cTn>
                        </p:par>
                      </p:childTnLst>
                    </p:cTn>
                  </p:par>
                  <p:par>
                    <p:cTn id="44" fill="hold">
                      <p:stCondLst>
                        <p:cond delay="indefinite"/>
                      </p:stCondLst>
                      <p:childTnLst>
                        <p:par>
                          <p:cTn id="43"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40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400"/>
                                        <p:tgtEl>
                                          <p:spTgt spid="3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58" fill="hold">
                      <p:stCondLst>
                        <p:cond delay="indefinite"/>
                      </p:stCondLst>
                      <p:childTnLst>
                        <p:par>
                          <p:cTn id="57"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400"/>
                                        <p:tgtEl>
                                          <p:spTgt spid="3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400"/>
                                        <p:tgtEl>
                                          <p:spTgt spid="3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400"/>
                                        <p:tgtEl>
                                          <p:spTgt spid="37"/>
                                        </p:tgtEl>
                                      </p:cBhvr>
                                    </p:animEffect>
                                  </p:childTnLst>
                                </p:cTn>
                              </p:par>
                            </p:childTnLst>
                          </p:cTn>
                        </p:par>
                      </p:childTnLst>
                    </p:cTn>
                  </p:par>
                  <p:par>
                    <p:cTn id="72" fill="hold">
                      <p:stCondLst>
                        <p:cond delay="indefinite"/>
                      </p:stCondLst>
                      <p:childTnLst>
                        <p:par>
                          <p:cTn id="71"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8"/>
                                        </p:tgtEl>
                                        <p:attrNameLst>
                                          <p:attrName>style.visibility</p:attrName>
                                        </p:attrNameLst>
                                      </p:cBhvr>
                                      <p:to>
                                        <p:strVal val="visible"/>
                                      </p:to>
                                    </p:set>
                                    <p:animEffect transition="in" filter="fade">
                                      <p:cBhvr>
                                        <p:cTn id="61" dur="400"/>
                                        <p:tgtEl>
                                          <p:spTgt spid="3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fade">
                                      <p:cBhvr>
                                        <p:cTn id="64" dur="400"/>
                                        <p:tgtEl>
                                          <p:spTgt spid="3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fade">
                                      <p:cBhvr>
                                        <p:cTn id="67" dur="400"/>
                                        <p:tgtEl>
                                          <p:spTgt spid="4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1"/>
                                        </p:tgtEl>
                                        <p:attrNameLst>
                                          <p:attrName>style.visibility</p:attrName>
                                        </p:attrNameLst>
                                      </p:cBhvr>
                                      <p:to>
                                        <p:strVal val="visible"/>
                                      </p:to>
                                    </p:set>
                                    <p:animEffect transition="in" filter="fade">
                                      <p:cBhvr>
                                        <p:cTn id="7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me_chip_697"/>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3" name="prog_welcome_698"/>
          <p:cNvSpPr/>
          <p:nvPr/>
        </p:nvSpPr>
        <p:spPr>
          <a:xfrm>
            <a:off x="548640" y="6400800"/>
            <a:ext cx="715244" cy="73152"/>
          </a:xfrm>
          <a:prstGeom prst="rect">
            <a:avLst/>
          </a:prstGeom>
          <a:solidFill>
            <a:srgbClr val="A9C4B8"/>
          </a:solidFill>
          <a:ln w="12700">
            <a:solidFill>
              <a:srgbClr val="A9C4B8"/>
            </a:solidFill>
            <a:prstDash val="solid"/>
          </a:ln>
        </p:spPr>
      </p:sp>
      <p:sp>
        <p:nvSpPr>
          <p:cNvPr id="4" name="prog_lbl_welcome_699"/>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700"/>
          <p:cNvSpPr/>
          <p:nvPr/>
        </p:nvSpPr>
        <p:spPr>
          <a:xfrm>
            <a:off x="1309604" y="6400800"/>
            <a:ext cx="1072866" cy="73152"/>
          </a:xfrm>
          <a:prstGeom prst="rect">
            <a:avLst/>
          </a:prstGeom>
          <a:solidFill>
            <a:srgbClr val="A9C4B8"/>
          </a:solidFill>
          <a:ln w="12700">
            <a:solidFill>
              <a:srgbClr val="A9C4B8"/>
            </a:solidFill>
            <a:prstDash val="solid"/>
          </a:ln>
        </p:spPr>
      </p:sp>
      <p:sp>
        <p:nvSpPr>
          <p:cNvPr id="6" name="prog_lbl_ai_701"/>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AI</a:t>
            </a:r>
            <a:endParaRPr lang="en-US" sz="1000" dirty="0"/>
          </a:p>
        </p:txBody>
      </p:sp>
      <p:sp>
        <p:nvSpPr>
          <p:cNvPr id="7" name="prog_pd_702"/>
          <p:cNvSpPr/>
          <p:nvPr/>
        </p:nvSpPr>
        <p:spPr>
          <a:xfrm>
            <a:off x="2428189" y="6400800"/>
            <a:ext cx="1072866" cy="73152"/>
          </a:xfrm>
          <a:prstGeom prst="rect">
            <a:avLst/>
          </a:prstGeom>
          <a:solidFill>
            <a:srgbClr val="E8613A"/>
          </a:solidFill>
          <a:ln w="12700">
            <a:solidFill>
              <a:srgbClr val="E8613A"/>
            </a:solidFill>
            <a:prstDash val="solid"/>
          </a:ln>
        </p:spPr>
      </p:sp>
      <p:sp>
        <p:nvSpPr>
          <p:cNvPr id="8" name="prog_lbl_pd_703"/>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9" name="prog_reflect_704"/>
          <p:cNvSpPr/>
          <p:nvPr/>
        </p:nvSpPr>
        <p:spPr>
          <a:xfrm>
            <a:off x="3546775" y="6400800"/>
            <a:ext cx="1072866" cy="73152"/>
          </a:xfrm>
          <a:prstGeom prst="rect">
            <a:avLst/>
          </a:prstGeom>
          <a:solidFill>
            <a:srgbClr val="2A5A4A"/>
          </a:solidFill>
          <a:ln w="12700">
            <a:solidFill>
              <a:srgbClr val="2A5A4A"/>
            </a:solidFill>
            <a:prstDash val="solid"/>
          </a:ln>
        </p:spPr>
      </p:sp>
      <p:sp>
        <p:nvSpPr>
          <p:cNvPr id="10" name="prog_lbl_reflect_705"/>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Reflect</a:t>
            </a:r>
            <a:endParaRPr lang="en-US" sz="1000" dirty="0"/>
          </a:p>
        </p:txBody>
      </p:sp>
      <p:sp>
        <p:nvSpPr>
          <p:cNvPr id="11" name="prog_share_706"/>
          <p:cNvSpPr/>
          <p:nvPr/>
        </p:nvSpPr>
        <p:spPr>
          <a:xfrm>
            <a:off x="4665360" y="6400800"/>
            <a:ext cx="1072866" cy="73152"/>
          </a:xfrm>
          <a:prstGeom prst="rect">
            <a:avLst/>
          </a:prstGeom>
          <a:solidFill>
            <a:srgbClr val="2A5A4A"/>
          </a:solidFill>
          <a:ln w="12700">
            <a:solidFill>
              <a:srgbClr val="2A5A4A"/>
            </a:solidFill>
            <a:prstDash val="solid"/>
          </a:ln>
        </p:spPr>
      </p:sp>
      <p:sp>
        <p:nvSpPr>
          <p:cNvPr id="12" name="prog_lbl_share_707"/>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Share</a:t>
            </a:r>
            <a:endParaRPr lang="en-US" sz="1000" dirty="0"/>
          </a:p>
        </p:txBody>
      </p:sp>
      <p:sp>
        <p:nvSpPr>
          <p:cNvPr id="13" name="prog_break_708"/>
          <p:cNvSpPr/>
          <p:nvPr/>
        </p:nvSpPr>
        <p:spPr>
          <a:xfrm>
            <a:off x="5783946" y="6400800"/>
            <a:ext cx="1072866" cy="73152"/>
          </a:xfrm>
          <a:prstGeom prst="rect">
            <a:avLst/>
          </a:prstGeom>
          <a:solidFill>
            <a:srgbClr val="2A5A4A"/>
          </a:solidFill>
          <a:ln w="12700">
            <a:solidFill>
              <a:srgbClr val="2A5A4A"/>
            </a:solidFill>
            <a:prstDash val="solid"/>
          </a:ln>
        </p:spPr>
      </p:sp>
      <p:sp>
        <p:nvSpPr>
          <p:cNvPr id="14" name="prog_lbl_break_709"/>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Break</a:t>
            </a:r>
            <a:endParaRPr lang="en-US" sz="1000" dirty="0"/>
          </a:p>
        </p:txBody>
      </p:sp>
      <p:sp>
        <p:nvSpPr>
          <p:cNvPr id="15" name="prog_breakout_710"/>
          <p:cNvSpPr/>
          <p:nvPr/>
        </p:nvSpPr>
        <p:spPr>
          <a:xfrm>
            <a:off x="6902531" y="6400800"/>
            <a:ext cx="3218597" cy="73152"/>
          </a:xfrm>
          <a:prstGeom prst="rect">
            <a:avLst/>
          </a:prstGeom>
          <a:solidFill>
            <a:srgbClr val="2A5A4A"/>
          </a:solidFill>
          <a:ln w="12700">
            <a:solidFill>
              <a:srgbClr val="2A5A4A"/>
            </a:solidFill>
            <a:prstDash val="solid"/>
          </a:ln>
        </p:spPr>
      </p:sp>
      <p:sp>
        <p:nvSpPr>
          <p:cNvPr id="16" name="prog_lbl_breakout_711"/>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712"/>
          <p:cNvSpPr/>
          <p:nvPr/>
        </p:nvSpPr>
        <p:spPr>
          <a:xfrm>
            <a:off x="10166848" y="6400800"/>
            <a:ext cx="715244" cy="73152"/>
          </a:xfrm>
          <a:prstGeom prst="rect">
            <a:avLst/>
          </a:prstGeom>
          <a:solidFill>
            <a:srgbClr val="2A5A4A"/>
          </a:solidFill>
          <a:ln w="12700">
            <a:solidFill>
              <a:srgbClr val="2A5A4A"/>
            </a:solidFill>
            <a:prstDash val="solid"/>
          </a:ln>
        </p:spPr>
      </p:sp>
      <p:sp>
        <p:nvSpPr>
          <p:cNvPr id="18" name="prog_lbl_report_713"/>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714"/>
          <p:cNvSpPr/>
          <p:nvPr/>
        </p:nvSpPr>
        <p:spPr>
          <a:xfrm>
            <a:off x="10927812" y="6400800"/>
            <a:ext cx="715244" cy="73152"/>
          </a:xfrm>
          <a:prstGeom prst="rect">
            <a:avLst/>
          </a:prstGeom>
          <a:solidFill>
            <a:srgbClr val="2A5A4A"/>
          </a:solidFill>
          <a:ln w="12700">
            <a:solidFill>
              <a:srgbClr val="2A5A4A"/>
            </a:solidFill>
            <a:prstDash val="solid"/>
          </a:ln>
        </p:spPr>
      </p:sp>
      <p:sp>
        <p:nvSpPr>
          <p:cNvPr id="20" name="prog_lbl_close_715"/>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1" name="txt_716"/>
          <p:cNvSpPr txBox="1"/>
          <p:nvPr/>
        </p:nvSpPr>
        <p:spPr>
          <a:xfrm>
            <a:off x="548640" y="1828800"/>
            <a:ext cx="4572000" cy="365760"/>
          </a:xfrm>
          <a:prstGeom prst="rect">
            <a:avLst/>
          </a:prstGeom>
          <a:noFill/>
          <a:ln/>
        </p:spPr>
        <p:txBody>
          <a:bodyPr wrap="square" lIns="0" tIns="0" rIns="0" bIns="0" rtlCol="0" anchor="t"/>
          <a:lstStyle/>
          <a:p>
            <a:pPr indent="0" marL="0">
              <a:buNone/>
            </a:pPr>
            <a:r>
              <a:rPr lang="en-US" sz="1400" b="1" spc="300" kern="0" dirty="0">
                <a:solidFill>
                  <a:srgbClr val="F2B33D"/>
                </a:solidFill>
                <a:latin typeface="Inter" pitchFamily="34" charset="0"/>
                <a:ea typeface="Inter" pitchFamily="34" charset="-122"/>
                <a:cs typeface="Inter" pitchFamily="34" charset="-120"/>
              </a:rPr>
              <a:t>PART 2</a:t>
            </a:r>
            <a:endParaRPr lang="en-US" sz="1400" dirty="0"/>
          </a:p>
        </p:txBody>
      </p:sp>
      <p:sp>
        <p:nvSpPr>
          <p:cNvPr id="22" name="txt_717"/>
          <p:cNvSpPr txBox="1"/>
          <p:nvPr/>
        </p:nvSpPr>
        <p:spPr>
          <a:xfrm>
            <a:off x="548640" y="2240280"/>
            <a:ext cx="6035040" cy="1737360"/>
          </a:xfrm>
          <a:prstGeom prst="rect">
            <a:avLst/>
          </a:prstGeom>
          <a:noFill/>
          <a:ln/>
        </p:spPr>
        <p:txBody>
          <a:bodyPr wrap="square" lIns="0" tIns="0" rIns="0" bIns="0" rtlCol="0" anchor="t"/>
          <a:lstStyle/>
          <a:p>
            <a:pPr indent="0" marL="0">
              <a:buNone/>
            </a:pPr>
            <a:r>
              <a:rPr lang="en-US" sz="4000" b="1" dirty="0">
                <a:solidFill>
                  <a:srgbClr val="FFFFFF"/>
                </a:solidFill>
                <a:latin typeface="Inter" pitchFamily="34" charset="0"/>
                <a:ea typeface="Inter" pitchFamily="34" charset="-122"/>
                <a:cs typeface="Inter" pitchFamily="34" charset="-120"/>
              </a:rPr>
              <a:t>Designing with, not for</a:t>
            </a:r>
            <a:endParaRPr lang="en-US" sz="4000" dirty="0"/>
          </a:p>
        </p:txBody>
      </p:sp>
      <p:sp>
        <p:nvSpPr>
          <p:cNvPr id="23" name="txt_718"/>
          <p:cNvSpPr txBox="1"/>
          <p:nvPr/>
        </p:nvSpPr>
        <p:spPr>
          <a:xfrm>
            <a:off x="548640" y="4114800"/>
            <a:ext cx="5486400" cy="411480"/>
          </a:xfrm>
          <a:prstGeom prst="rect">
            <a:avLst/>
          </a:prstGeom>
          <a:noFill/>
          <a:ln/>
        </p:spPr>
        <p:txBody>
          <a:bodyPr wrap="square" lIns="0" tIns="0" rIns="0" bIns="0" rtlCol="0" anchor="t"/>
          <a:lstStyle/>
          <a:p>
            <a:pPr indent="0" marL="0">
              <a:buNone/>
            </a:pPr>
            <a:r>
              <a:rPr lang="en-US" sz="2000" b="1" dirty="0">
                <a:solidFill>
                  <a:srgbClr val="FFFFFF"/>
                </a:solidFill>
                <a:latin typeface="Inter" pitchFamily="34" charset="0"/>
                <a:ea typeface="Inter" pitchFamily="34" charset="-122"/>
                <a:cs typeface="Inter" pitchFamily="34" charset="-120"/>
              </a:rPr>
              <a:t>Saad Hassan</a:t>
            </a:r>
            <a:endParaRPr lang="en-US" sz="2000" dirty="0"/>
          </a:p>
        </p:txBody>
      </p:sp>
      <p:sp>
        <p:nvSpPr>
          <p:cNvPr id="24" name="txt_719"/>
          <p:cNvSpPr txBox="1"/>
          <p:nvPr/>
        </p:nvSpPr>
        <p:spPr>
          <a:xfrm>
            <a:off x="548640" y="4526280"/>
            <a:ext cx="5852160" cy="365760"/>
          </a:xfrm>
          <a:prstGeom prst="rect">
            <a:avLst/>
          </a:prstGeom>
          <a:noFill/>
          <a:ln/>
        </p:spPr>
        <p:txBody>
          <a:bodyPr wrap="square" lIns="0" tIns="0" rIns="0" bIns="0" rtlCol="0" anchor="t"/>
          <a:lstStyle/>
          <a:p>
            <a:pPr indent="0" marL="0">
              <a:buNone/>
            </a:pPr>
            <a:r>
              <a:rPr lang="en-US" sz="1600" b="1" dirty="0">
                <a:solidFill>
                  <a:srgbClr val="F2B33D"/>
                </a:solidFill>
                <a:latin typeface="Inter" pitchFamily="34" charset="0"/>
                <a:ea typeface="Inter" pitchFamily="34" charset="-122"/>
                <a:cs typeface="Inter" pitchFamily="34" charset="-120"/>
              </a:rPr>
              <a:t>NOLA A11y Lab  ·  </a:t>
            </a:r>
            <a:pPr indent="0" marL="0">
              <a:buNone/>
            </a:pPr>
            <a:r>
              <a:rPr lang="en-US" sz="1600" b="1" u="sng" dirty="0">
                <a:solidFill>
                  <a:srgbClr val="F2B33D"/>
                </a:solidFill>
                <a:latin typeface="Inter" pitchFamily="34" charset="0"/>
                <a:ea typeface="Inter" pitchFamily="34" charset="-122"/>
                <a:cs typeface="Inter" pitchFamily="34" charset="-120"/>
                <a:hlinkClick r:id="rId1" invalidUrl="" action="" tgtFrame="" tooltip="" history="1" highlightClick="0" endSnd="0">
                  <a:extLst>
                    <a:ext uri="{A12FA001-AC4F-418D-AE19-62706E023703}">
                      <ahyp:hlinkClr xmlns:ahyp="http://schemas.microsoft.com/office/drawing/2018/hyperlinkcolor" val="tx"/>
                    </a:ext>
                  </a:extLst>
                </a:hlinkClick>
              </a:rPr>
              <a:t>saadh.info/a11y</a:t>
            </a:r>
            <a:endParaRPr lang="en-US" sz="1600" dirty="0"/>
          </a:p>
        </p:txBody>
      </p:sp>
      <p:sp>
        <p:nvSpPr>
          <p:cNvPr id="25" name="txt_720"/>
          <p:cNvSpPr txBox="1"/>
          <p:nvPr/>
        </p:nvSpPr>
        <p:spPr>
          <a:xfrm>
            <a:off x="548640" y="4892040"/>
            <a:ext cx="5852160" cy="365760"/>
          </a:xfrm>
          <a:prstGeom prst="rect">
            <a:avLst/>
          </a:prstGeom>
          <a:noFill/>
          <a:ln/>
        </p:spPr>
        <p:txBody>
          <a:bodyPr wrap="square" lIns="0" tIns="0" rIns="0" bIns="0" rtlCol="0" anchor="t"/>
          <a:lstStyle/>
          <a:p>
            <a:pPr indent="0" marL="0">
              <a:buNone/>
            </a:pPr>
            <a:r>
              <a:rPr lang="en-US" sz="1600" dirty="0">
                <a:solidFill>
                  <a:srgbClr val="A9C4B8"/>
                </a:solidFill>
                <a:latin typeface="Inter" pitchFamily="34" charset="0"/>
                <a:ea typeface="Inter" pitchFamily="34" charset="-122"/>
                <a:cs typeface="Inter" pitchFamily="34" charset="-120"/>
              </a:rPr>
              <a:t>Affiliate, Tulane Center for Community-Engaged AI</a:t>
            </a:r>
            <a:endParaRPr lang="en-US" sz="1600" dirty="0"/>
          </a:p>
        </p:txBody>
      </p:sp>
      <p:pic>
        <p:nvPicPr>
          <p:cNvPr id="26" name="img_ceai_workshop_721" descr="/home/claude/assets/ceai_workshop.jpg">    </p:cNvPr>
          <p:cNvPicPr>
            <a:picLocks noChangeAspect="1"/>
          </p:cNvPicPr>
          <p:nvPr/>
        </p:nvPicPr>
        <p:blipFill>
          <a:blip r:embed="rId2"/>
          <a:stretch>
            <a:fillRect/>
          </a:stretch>
        </p:blipFill>
        <p:spPr>
          <a:xfrm>
            <a:off x="6766560" y="1781642"/>
            <a:ext cx="4873752" cy="3523317"/>
          </a:xfrm>
          <a:prstGeom prst="rect">
            <a:avLst/>
          </a:prstGeom>
          <a:effectLst>
            <a:outerShdw sx="100000" sy="100000" kx="0" ky="0" algn="bl" rotWithShape="0" blurRad="101600" dist="25400" dir="5400000">
              <a:srgbClr val="000000">
                <a:alpha val="18000"/>
              </a:srgbClr>
            </a:outerShdw>
          </a:effectLst>
        </p:spPr>
      </p:pic>
      <p:sp>
        <p:nvSpPr>
          <p:cNvPr id="27" name="txt_722"/>
          <p:cNvSpPr txBox="1"/>
          <p:nvPr/>
        </p:nvSpPr>
        <p:spPr>
          <a:xfrm>
            <a:off x="6766560" y="5760720"/>
            <a:ext cx="4873752" cy="274320"/>
          </a:xfrm>
          <a:prstGeom prst="rect">
            <a:avLst/>
          </a:prstGeom>
          <a:noFill/>
          <a:ln/>
        </p:spPr>
        <p:txBody>
          <a:bodyPr wrap="square" lIns="0" tIns="0" rIns="0" bIns="0" rtlCol="0" anchor="t"/>
          <a:lstStyle/>
          <a:p>
            <a:pPr algn="r" indent="0" marL="0">
              <a:buNone/>
            </a:pPr>
            <a:r>
              <a:rPr lang="en-US" sz="1000" dirty="0">
                <a:solidFill>
                  <a:srgbClr val="A9C4B8"/>
                </a:solidFill>
                <a:latin typeface="Inter" pitchFamily="34" charset="0"/>
                <a:ea typeface="Inter" pitchFamily="34" charset="-122"/>
                <a:cs typeface="Inter" pitchFamily="34" charset="-120"/>
              </a:rPr>
              <a:t>CEAI community workshop on AI risks and benefits, April 2023</a:t>
            </a:r>
            <a:endParaRPr lang="en-US" sz="10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What is design?</a:t>
            </a:r>
            <a:endParaRPr lang="en-US" sz="3000" dirty="0"/>
          </a:p>
        </p:txBody>
      </p:sp>
      <p:sp>
        <p:nvSpPr>
          <p:cNvPr id="3" name="time_chip_723"/>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724"/>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725"/>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726"/>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727"/>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728"/>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729"/>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730"/>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731"/>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732"/>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733"/>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734"/>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735"/>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736"/>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737"/>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738"/>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739"/>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740"/>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741"/>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742"/>
          <p:cNvSpPr txBox="1"/>
          <p:nvPr/>
        </p:nvSpPr>
        <p:spPr>
          <a:xfrm>
            <a:off x="548640" y="1463040"/>
            <a:ext cx="6583680" cy="1371600"/>
          </a:xfrm>
          <a:prstGeom prst="rect">
            <a:avLst/>
          </a:prstGeom>
          <a:noFill/>
          <a:ln/>
        </p:spPr>
        <p:txBody>
          <a:bodyPr wrap="square" lIns="0" tIns="0" rIns="0" bIns="0" rtlCol="0" anchor="t"/>
          <a:lstStyle/>
          <a:p>
            <a:pPr indent="0" marL="0">
              <a:buNone/>
            </a:pPr>
            <a:r>
              <a:rPr lang="en-US" sz="2800" b="1" dirty="0">
                <a:solidFill>
                  <a:srgbClr val="13221D"/>
                </a:solidFill>
                <a:latin typeface="Inter" pitchFamily="34" charset="0"/>
                <a:ea typeface="Inter" pitchFamily="34" charset="-122"/>
                <a:cs typeface="Inter" pitchFamily="34" charset="-120"/>
              </a:rPr>
              <a:t>“The transformation of existing conditions into preferred ones.”</a:t>
            </a:r>
            <a:endParaRPr lang="en-US" sz="2800" dirty="0"/>
          </a:p>
        </p:txBody>
      </p:sp>
      <p:sp>
        <p:nvSpPr>
          <p:cNvPr id="23" name="txt_743"/>
          <p:cNvSpPr txBox="1"/>
          <p:nvPr/>
        </p:nvSpPr>
        <p:spPr>
          <a:xfrm>
            <a:off x="548640" y="2834640"/>
            <a:ext cx="5486400" cy="36576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Herbert Simon, 1969</a:t>
            </a:r>
            <a:endParaRPr lang="en-US" sz="1400" dirty="0"/>
          </a:p>
        </p:txBody>
      </p:sp>
      <p:sp>
        <p:nvSpPr>
          <p:cNvPr id="24" name="c1_card_744"/>
          <p:cNvSpPr/>
          <p:nvPr/>
        </p:nvSpPr>
        <p:spPr>
          <a:xfrm>
            <a:off x="548640" y="3429000"/>
            <a:ext cx="6400800" cy="2514600"/>
          </a:xfrm>
          <a:prstGeom prst="roundRect">
            <a:avLst>
              <a:gd name="adj" fmla="val 4364"/>
            </a:avLst>
          </a:prstGeom>
          <a:solidFill>
            <a:srgbClr val="FCE7DF"/>
          </a:solidFill>
          <a:ln w="12700">
            <a:solidFill>
              <a:srgbClr val="FCE7DF"/>
            </a:solidFill>
            <a:prstDash val="solid"/>
          </a:ln>
        </p:spPr>
      </p:sp>
      <p:sp>
        <p:nvSpPr>
          <p:cNvPr id="25" name="c1_txt_745"/>
          <p:cNvSpPr txBox="1"/>
          <p:nvPr/>
        </p:nvSpPr>
        <p:spPr>
          <a:xfrm>
            <a:off x="822960" y="3611880"/>
            <a:ext cx="5852160" cy="457200"/>
          </a:xfrm>
          <a:prstGeom prst="rect">
            <a:avLst/>
          </a:prstGeom>
          <a:noFill/>
          <a:ln/>
        </p:spPr>
        <p:txBody>
          <a:bodyPr wrap="square" lIns="0" tIns="0" rIns="0" bIns="0" rtlCol="0" anchor="t"/>
          <a:lstStyle/>
          <a:p>
            <a:pPr indent="0" marL="0">
              <a:buNone/>
            </a:pPr>
            <a:r>
              <a:rPr lang="en-US" sz="2000" b="1" dirty="0">
                <a:solidFill>
                  <a:srgbClr val="E8613A"/>
                </a:solidFill>
                <a:latin typeface="Inter" pitchFamily="34" charset="0"/>
                <a:ea typeface="Inter" pitchFamily="34" charset="-122"/>
                <a:cs typeface="Inter" pitchFamily="34" charset="-120"/>
              </a:rPr>
              <a:t>Preferred by whom?</a:t>
            </a:r>
            <a:endParaRPr lang="en-US" sz="2000" dirty="0"/>
          </a:p>
        </p:txBody>
      </p:sp>
      <p:sp>
        <p:nvSpPr>
          <p:cNvPr id="26" name="c1_txt_746"/>
          <p:cNvSpPr txBox="1"/>
          <p:nvPr/>
        </p:nvSpPr>
        <p:spPr>
          <a:xfrm>
            <a:off x="822960" y="4114800"/>
            <a:ext cx="5852160" cy="128016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Community problems are wicked problems: requirements conflict or are unknown, and there is no single correct answer (Rittel &amp; Webber, 1973).</a:t>
            </a:r>
            <a:endParaRPr lang="en-US" sz="1600" dirty="0"/>
          </a:p>
        </p:txBody>
      </p:sp>
      <p:sp>
        <p:nvSpPr>
          <p:cNvPr id="27" name="c1_txt_747"/>
          <p:cNvSpPr txBox="1"/>
          <p:nvPr/>
        </p:nvSpPr>
        <p:spPr>
          <a:xfrm>
            <a:off x="822960" y="5349240"/>
            <a:ext cx="5852160" cy="457200"/>
          </a:xfrm>
          <a:prstGeom prst="rect">
            <a:avLst/>
          </a:prstGeom>
          <a:noFill/>
          <a:ln/>
        </p:spPr>
        <p:txBody>
          <a:bodyPr wrap="square" lIns="0" tIns="0" rIns="0" bIns="0" rtlCol="0" anchor="t"/>
          <a:lstStyle/>
          <a:p>
            <a:pPr indent="0" marL="0">
              <a:buNone/>
            </a:pPr>
            <a:r>
              <a:rPr lang="en-US" sz="1500" i="1" dirty="0">
                <a:solidFill>
                  <a:srgbClr val="5E6E68"/>
                </a:solidFill>
                <a:latin typeface="Inter" pitchFamily="34" charset="0"/>
                <a:ea typeface="Inter" pitchFamily="34" charset="-122"/>
                <a:cs typeface="Inter" pitchFamily="34" charset="-120"/>
              </a:rPr>
              <a:t>Widen the sidewalks, and traffic shifts onto the streets.</a:t>
            </a:r>
            <a:endParaRPr lang="en-US" sz="1500" dirty="0"/>
          </a:p>
        </p:txBody>
      </p:sp>
      <p:pic>
        <p:nvPicPr>
          <p:cNvPr id="28" name="img_stcharles_748" descr="/home/claude/assets/stcharles.jpg">    </p:cNvPr>
          <p:cNvPicPr>
            <a:picLocks noChangeAspect="1"/>
          </p:cNvPicPr>
          <p:nvPr/>
        </p:nvPicPr>
        <p:blipFill>
          <a:blip r:embed="rId1"/>
          <a:stretch>
            <a:fillRect/>
          </a:stretch>
        </p:blipFill>
        <p:spPr>
          <a:xfrm>
            <a:off x="7315200" y="2731521"/>
            <a:ext cx="4325112" cy="1943597"/>
          </a:xfrm>
          <a:prstGeom prst="rect">
            <a:avLst/>
          </a:prstGeom>
          <a:effectLst>
            <a:outerShdw sx="100000" sy="100000" kx="0" ky="0" algn="bl" rotWithShape="0" blurRad="101600" dist="25400" dir="540000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16" fill="hold">
                      <p:stCondLst>
                        <p:cond delay="indefinite"/>
                      </p:stCondLst>
                      <p:childTnLst>
                        <p:par>
                          <p:cTn id="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400"/>
                                        <p:tgtEl>
                                          <p:spTgt spid="2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User-centered design (UCD)</a:t>
            </a:r>
            <a:endParaRPr lang="en-US" sz="3000" dirty="0"/>
          </a:p>
        </p:txBody>
      </p:sp>
      <p:sp>
        <p:nvSpPr>
          <p:cNvPr id="3" name="time_chip_749"/>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750"/>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751"/>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752"/>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753"/>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754"/>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755"/>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756"/>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757"/>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758"/>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759"/>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760"/>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761"/>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762"/>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763"/>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764"/>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765"/>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766"/>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767"/>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ycle_768"/>
          <p:cNvSpPr/>
          <p:nvPr/>
        </p:nvSpPr>
        <p:spPr>
          <a:xfrm>
            <a:off x="1691640" y="2148840"/>
            <a:ext cx="3200400" cy="3200400"/>
          </a:xfrm>
          <a:prstGeom prst="ellipse">
            <a:avLst/>
          </a:prstGeom>
          <a:solidFill>
            <a:srgbClr val="FFFFFF"/>
          </a:solidFill>
          <a:ln w="38100">
            <a:solidFill>
              <a:srgbClr val="D3E6DC"/>
            </a:solidFill>
            <a:prstDash val="solid"/>
          </a:ln>
        </p:spPr>
      </p:sp>
      <p:sp>
        <p:nvSpPr>
          <p:cNvPr id="23" name="txt_769"/>
          <p:cNvSpPr txBox="1"/>
          <p:nvPr/>
        </p:nvSpPr>
        <p:spPr>
          <a:xfrm>
            <a:off x="2377440" y="3520440"/>
            <a:ext cx="1828800" cy="457200"/>
          </a:xfrm>
          <a:prstGeom prst="rect">
            <a:avLst/>
          </a:prstGeom>
          <a:noFill/>
          <a:ln/>
        </p:spPr>
        <p:txBody>
          <a:bodyPr wrap="square" lIns="0" tIns="0" rIns="0" bIns="0" rtlCol="0" anchor="ctr"/>
          <a:lstStyle/>
          <a:p>
            <a:pPr algn="ctr" indent="0" marL="0">
              <a:buNone/>
            </a:pPr>
            <a:r>
              <a:rPr lang="en-US" sz="1600" b="1" dirty="0">
                <a:solidFill>
                  <a:srgbClr val="A9C4B8"/>
                </a:solidFill>
                <a:latin typeface="Inter" pitchFamily="34" charset="0"/>
                <a:ea typeface="Inter" pitchFamily="34" charset="-122"/>
                <a:cs typeface="Inter" pitchFamily="34" charset="-120"/>
              </a:rPr>
              <a:t>repeat</a:t>
            </a:r>
            <a:endParaRPr lang="en-US" sz="1600" dirty="0"/>
          </a:p>
        </p:txBody>
      </p:sp>
      <p:sp>
        <p:nvSpPr>
          <p:cNvPr id="24" name="c1_card_770"/>
          <p:cNvSpPr/>
          <p:nvPr/>
        </p:nvSpPr>
        <p:spPr>
          <a:xfrm>
            <a:off x="2148840" y="1714500"/>
            <a:ext cx="2286000" cy="868680"/>
          </a:xfrm>
          <a:prstGeom prst="roundRect">
            <a:avLst>
              <a:gd name="adj" fmla="val 12632"/>
            </a:avLst>
          </a:prstGeom>
          <a:solidFill>
            <a:srgbClr val="E8F2ED"/>
          </a:solidFill>
          <a:ln w="12700">
            <a:solidFill>
              <a:srgbClr val="E8F2ED"/>
            </a:solidFill>
            <a:prstDash val="solid"/>
          </a:ln>
        </p:spPr>
      </p:sp>
      <p:sp>
        <p:nvSpPr>
          <p:cNvPr id="25" name="c1_txt_771"/>
          <p:cNvSpPr txBox="1"/>
          <p:nvPr/>
        </p:nvSpPr>
        <p:spPr>
          <a:xfrm>
            <a:off x="2286000" y="1714500"/>
            <a:ext cx="2011680" cy="868680"/>
          </a:xfrm>
          <a:prstGeom prst="rect">
            <a:avLst/>
          </a:prstGeom>
          <a:noFill/>
          <a:ln/>
        </p:spPr>
        <p:txBody>
          <a:bodyPr wrap="square" lIns="0" tIns="0" rIns="0" bIns="0" rtlCol="0" anchor="ctr"/>
          <a:lstStyle/>
          <a:p>
            <a:pPr algn="ctr" indent="0" marL="0">
              <a:buNone/>
            </a:pPr>
            <a:r>
              <a:rPr lang="en-US" sz="1400" b="1" dirty="0">
                <a:solidFill>
                  <a:srgbClr val="13221D"/>
                </a:solidFill>
                <a:latin typeface="Inter" pitchFamily="34" charset="0"/>
                <a:ea typeface="Inter" pitchFamily="34" charset="-122"/>
                <a:cs typeface="Inter" pitchFamily="34" charset="-120"/>
              </a:rPr>
              <a:t>Understand the context of use</a:t>
            </a:r>
            <a:endParaRPr lang="en-US" sz="1400" dirty="0"/>
          </a:p>
        </p:txBody>
      </p:sp>
      <p:sp>
        <p:nvSpPr>
          <p:cNvPr id="26" name="c2_card_772"/>
          <p:cNvSpPr/>
          <p:nvPr/>
        </p:nvSpPr>
        <p:spPr>
          <a:xfrm>
            <a:off x="3749040" y="3314700"/>
            <a:ext cx="2286000" cy="868680"/>
          </a:xfrm>
          <a:prstGeom prst="roundRect">
            <a:avLst>
              <a:gd name="adj" fmla="val 12632"/>
            </a:avLst>
          </a:prstGeom>
          <a:solidFill>
            <a:srgbClr val="E8F2ED"/>
          </a:solidFill>
          <a:ln w="12700">
            <a:solidFill>
              <a:srgbClr val="E8F2ED"/>
            </a:solidFill>
            <a:prstDash val="solid"/>
          </a:ln>
        </p:spPr>
      </p:sp>
      <p:sp>
        <p:nvSpPr>
          <p:cNvPr id="27" name="c2_txt_773"/>
          <p:cNvSpPr txBox="1"/>
          <p:nvPr/>
        </p:nvSpPr>
        <p:spPr>
          <a:xfrm>
            <a:off x="3886200" y="3314700"/>
            <a:ext cx="2011680" cy="868680"/>
          </a:xfrm>
          <a:prstGeom prst="rect">
            <a:avLst/>
          </a:prstGeom>
          <a:noFill/>
          <a:ln/>
        </p:spPr>
        <p:txBody>
          <a:bodyPr wrap="square" lIns="0" tIns="0" rIns="0" bIns="0" rtlCol="0" anchor="ctr"/>
          <a:lstStyle/>
          <a:p>
            <a:pPr algn="ctr" indent="0" marL="0">
              <a:buNone/>
            </a:pPr>
            <a:r>
              <a:rPr lang="en-US" sz="1400" b="1" dirty="0">
                <a:solidFill>
                  <a:srgbClr val="13221D"/>
                </a:solidFill>
                <a:latin typeface="Inter" pitchFamily="34" charset="0"/>
                <a:ea typeface="Inter" pitchFamily="34" charset="-122"/>
                <a:cs typeface="Inter" pitchFamily="34" charset="-120"/>
              </a:rPr>
              <a:t>Specify user requirements</a:t>
            </a:r>
            <a:endParaRPr lang="en-US" sz="1400" dirty="0"/>
          </a:p>
        </p:txBody>
      </p:sp>
      <p:sp>
        <p:nvSpPr>
          <p:cNvPr id="28" name="c3_card_774"/>
          <p:cNvSpPr/>
          <p:nvPr/>
        </p:nvSpPr>
        <p:spPr>
          <a:xfrm>
            <a:off x="2148840" y="4914900"/>
            <a:ext cx="2286000" cy="868680"/>
          </a:xfrm>
          <a:prstGeom prst="roundRect">
            <a:avLst>
              <a:gd name="adj" fmla="val 12632"/>
            </a:avLst>
          </a:prstGeom>
          <a:solidFill>
            <a:srgbClr val="E8F2ED"/>
          </a:solidFill>
          <a:ln w="12700">
            <a:solidFill>
              <a:srgbClr val="E8F2ED"/>
            </a:solidFill>
            <a:prstDash val="solid"/>
          </a:ln>
        </p:spPr>
      </p:sp>
      <p:sp>
        <p:nvSpPr>
          <p:cNvPr id="29" name="c3_txt_775"/>
          <p:cNvSpPr txBox="1"/>
          <p:nvPr/>
        </p:nvSpPr>
        <p:spPr>
          <a:xfrm>
            <a:off x="2286000" y="4914900"/>
            <a:ext cx="2011680" cy="868680"/>
          </a:xfrm>
          <a:prstGeom prst="rect">
            <a:avLst/>
          </a:prstGeom>
          <a:noFill/>
          <a:ln/>
        </p:spPr>
        <p:txBody>
          <a:bodyPr wrap="square" lIns="0" tIns="0" rIns="0" bIns="0" rtlCol="0" anchor="ctr"/>
          <a:lstStyle/>
          <a:p>
            <a:pPr algn="ctr" indent="0" marL="0">
              <a:buNone/>
            </a:pPr>
            <a:r>
              <a:rPr lang="en-US" sz="1400" b="1" dirty="0">
                <a:solidFill>
                  <a:srgbClr val="13221D"/>
                </a:solidFill>
                <a:latin typeface="Inter" pitchFamily="34" charset="0"/>
                <a:ea typeface="Inter" pitchFamily="34" charset="-122"/>
                <a:cs typeface="Inter" pitchFamily="34" charset="-120"/>
              </a:rPr>
              <a:t>Design solutions</a:t>
            </a:r>
            <a:endParaRPr lang="en-US" sz="1400" dirty="0"/>
          </a:p>
        </p:txBody>
      </p:sp>
      <p:sp>
        <p:nvSpPr>
          <p:cNvPr id="30" name="c4_card_776"/>
          <p:cNvSpPr/>
          <p:nvPr/>
        </p:nvSpPr>
        <p:spPr>
          <a:xfrm>
            <a:off x="548640" y="3314700"/>
            <a:ext cx="2286000" cy="868680"/>
          </a:xfrm>
          <a:prstGeom prst="roundRect">
            <a:avLst>
              <a:gd name="adj" fmla="val 12632"/>
            </a:avLst>
          </a:prstGeom>
          <a:solidFill>
            <a:srgbClr val="1E6B4F"/>
          </a:solidFill>
          <a:ln w="12700">
            <a:solidFill>
              <a:srgbClr val="1E6B4F"/>
            </a:solidFill>
            <a:prstDash val="solid"/>
          </a:ln>
        </p:spPr>
      </p:sp>
      <p:sp>
        <p:nvSpPr>
          <p:cNvPr id="31" name="c4_txt_777"/>
          <p:cNvSpPr txBox="1"/>
          <p:nvPr/>
        </p:nvSpPr>
        <p:spPr>
          <a:xfrm>
            <a:off x="685800" y="3314700"/>
            <a:ext cx="2011680"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Evaluate against requirements</a:t>
            </a:r>
            <a:endParaRPr lang="en-US" sz="1400" dirty="0"/>
          </a:p>
        </p:txBody>
      </p:sp>
      <p:sp>
        <p:nvSpPr>
          <p:cNvPr id="32" name="txt_778"/>
          <p:cNvSpPr txBox="1"/>
          <p:nvPr/>
        </p:nvSpPr>
        <p:spPr>
          <a:xfrm>
            <a:off x="6675120" y="1600200"/>
            <a:ext cx="4937760" cy="118872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Early and continual focus on users, measurement of real use, and iterative design.</a:t>
            </a:r>
            <a:endParaRPr lang="en-US" sz="2000" dirty="0"/>
          </a:p>
        </p:txBody>
      </p:sp>
      <p:sp>
        <p:nvSpPr>
          <p:cNvPr id="33" name="txt_779"/>
          <p:cNvSpPr txBox="1"/>
          <p:nvPr/>
        </p:nvSpPr>
        <p:spPr>
          <a:xfrm>
            <a:off x="6675120" y="2743200"/>
            <a:ext cx="4572000" cy="365760"/>
          </a:xfrm>
          <a:prstGeom prst="rect">
            <a:avLst/>
          </a:prstGeom>
          <a:noFill/>
          <a:ln/>
        </p:spPr>
        <p:txBody>
          <a:bodyPr wrap="square" lIns="0" tIns="0" rIns="0" bIns="0" rtlCol="0" anchor="t"/>
          <a:lstStyle/>
          <a:p>
            <a:pPr indent="0" marL="0">
              <a:buNone/>
            </a:pPr>
            <a:r>
              <a:rPr lang="en-US" sz="1300" dirty="0">
                <a:solidFill>
                  <a:srgbClr val="5E6E68"/>
                </a:solidFill>
                <a:latin typeface="Inter" pitchFamily="34" charset="0"/>
                <a:ea typeface="Inter" pitchFamily="34" charset="-122"/>
                <a:cs typeface="Inter" pitchFamily="34" charset="-120"/>
              </a:rPr>
              <a:t>Norman &amp; Draper, 1986</a:t>
            </a:r>
            <a:endParaRPr lang="en-US" sz="1300" dirty="0"/>
          </a:p>
        </p:txBody>
      </p:sp>
      <p:sp>
        <p:nvSpPr>
          <p:cNvPr id="34" name="c5_card_780"/>
          <p:cNvSpPr/>
          <p:nvPr/>
        </p:nvSpPr>
        <p:spPr>
          <a:xfrm>
            <a:off x="6675120" y="3383280"/>
            <a:ext cx="4965192" cy="2194560"/>
          </a:xfrm>
          <a:prstGeom prst="roundRect">
            <a:avLst>
              <a:gd name="adj" fmla="val 5000"/>
            </a:avLst>
          </a:prstGeom>
          <a:solidFill>
            <a:srgbClr val="FCE7DF"/>
          </a:solidFill>
          <a:ln w="12700">
            <a:solidFill>
              <a:srgbClr val="FCE7DF"/>
            </a:solidFill>
            <a:prstDash val="solid"/>
          </a:ln>
        </p:spPr>
      </p:sp>
      <p:sp>
        <p:nvSpPr>
          <p:cNvPr id="35" name="c5_txt_781"/>
          <p:cNvSpPr txBox="1"/>
          <p:nvPr/>
        </p:nvSpPr>
        <p:spPr>
          <a:xfrm>
            <a:off x="6949440" y="3566160"/>
            <a:ext cx="4480560" cy="411480"/>
          </a:xfrm>
          <a:prstGeom prst="rect">
            <a:avLst/>
          </a:prstGeom>
          <a:noFill/>
          <a:ln/>
        </p:spPr>
        <p:txBody>
          <a:bodyPr wrap="square" lIns="0" tIns="0" rIns="0" bIns="0" rtlCol="0" anchor="t"/>
          <a:lstStyle/>
          <a:p>
            <a:pPr indent="0" marL="0">
              <a:buNone/>
            </a:pPr>
            <a:r>
              <a:rPr lang="en-US" sz="1600" b="1" dirty="0">
                <a:solidFill>
                  <a:srgbClr val="E8613A"/>
                </a:solidFill>
                <a:latin typeface="Inter" pitchFamily="34" charset="0"/>
                <a:ea typeface="Inter" pitchFamily="34" charset="-122"/>
                <a:cs typeface="Inter" pitchFamily="34" charset="-120"/>
              </a:rPr>
              <a:t>The limitation</a:t>
            </a:r>
            <a:endParaRPr lang="en-US" sz="1600" dirty="0"/>
          </a:p>
        </p:txBody>
      </p:sp>
      <p:sp>
        <p:nvSpPr>
          <p:cNvPr id="36" name="c5_txt_782"/>
          <p:cNvSpPr txBox="1"/>
          <p:nvPr/>
        </p:nvSpPr>
        <p:spPr>
          <a:xfrm>
            <a:off x="6949440" y="4023360"/>
            <a:ext cx="4480560" cy="146304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Users are studied and tested with, but designers still decide what counts as a requirement. Power stays with the design team.</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26" fill="hold">
                      <p:stCondLst>
                        <p:cond delay="indefinite"/>
                      </p:stCondLst>
                      <p:childTnLst>
                        <p:par>
                          <p:cTn id="25"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childTnLst>
                          </p:cTn>
                        </p:par>
                      </p:childTnLst>
                    </p:cTn>
                  </p:par>
                  <p:par>
                    <p:cTn id="34" fill="hold">
                      <p:stCondLst>
                        <p:cond delay="indefinite"/>
                      </p:stCondLst>
                      <p:childTnLst>
                        <p:par>
                          <p:cTn id="33"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45" fill="hold">
                      <p:stCondLst>
                        <p:cond delay="indefinite"/>
                      </p:stCondLst>
                      <p:childTnLst>
                        <p:par>
                          <p:cTn id="4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5"/>
                                        </p:tgtEl>
                                        <p:attrNameLst>
                                          <p:attrName>style.visibility</p:attrName>
                                        </p:attrNameLst>
                                      </p:cBhvr>
                                      <p:to>
                                        <p:strVal val="visible"/>
                                      </p:to>
                                    </p:set>
                                    <p:animEffect transition="in" filter="fade">
                                      <p:cBhvr>
                                        <p:cTn id="40" dur="400"/>
                                        <p:tgtEl>
                                          <p:spTgt spid="3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6"/>
                                        </p:tgtEl>
                                        <p:attrNameLst>
                                          <p:attrName>style.visibility</p:attrName>
                                        </p:attrNameLst>
                                      </p:cBhvr>
                                      <p:to>
                                        <p:strVal val="visible"/>
                                      </p:to>
                                    </p:set>
                                    <p:animEffect transition="in" filter="fade">
                                      <p:cBhvr>
                                        <p:cTn id="43"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4" grpId="0" animBg="1"/>
      <p:bldP spid="35" grpId="0" animBg="1"/>
      <p:bldP spid="3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Human-centered design (HCD)</a:t>
            </a:r>
            <a:endParaRPr lang="en-US" sz="3000" dirty="0"/>
          </a:p>
        </p:txBody>
      </p:sp>
      <p:sp>
        <p:nvSpPr>
          <p:cNvPr id="3" name="time_chip_783"/>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784"/>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785"/>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786"/>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787"/>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788"/>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789"/>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790"/>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791"/>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792"/>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793"/>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794"/>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795"/>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796"/>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797"/>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798"/>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799"/>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800"/>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801"/>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802"/>
          <p:cNvSpPr txBox="1"/>
          <p:nvPr/>
        </p:nvSpPr>
        <p:spPr>
          <a:xfrm>
            <a:off x="548640" y="1463040"/>
            <a:ext cx="6949440" cy="91440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Widens the lens from users to people, communities, and the systems around them.</a:t>
            </a:r>
            <a:endParaRPr lang="en-US" sz="2000" dirty="0"/>
          </a:p>
        </p:txBody>
      </p:sp>
      <p:sp>
        <p:nvSpPr>
          <p:cNvPr id="23" name="c1_card_803"/>
          <p:cNvSpPr/>
          <p:nvPr/>
        </p:nvSpPr>
        <p:spPr>
          <a:xfrm>
            <a:off x="548640" y="2651760"/>
            <a:ext cx="3291840" cy="1234440"/>
          </a:xfrm>
          <a:prstGeom prst="roundRect">
            <a:avLst>
              <a:gd name="adj" fmla="val 8889"/>
            </a:avLst>
          </a:prstGeom>
          <a:solidFill>
            <a:srgbClr val="E8F2ED"/>
          </a:solidFill>
          <a:ln w="12700">
            <a:solidFill>
              <a:srgbClr val="E8F2ED"/>
            </a:solidFill>
            <a:prstDash val="solid"/>
          </a:ln>
        </p:spPr>
      </p:sp>
      <p:sp>
        <p:nvSpPr>
          <p:cNvPr id="24" name="c1_num_804"/>
          <p:cNvSpPr txBox="1"/>
          <p:nvPr/>
        </p:nvSpPr>
        <p:spPr>
          <a:xfrm>
            <a:off x="777240" y="3017520"/>
            <a:ext cx="502920" cy="502920"/>
          </a:xfrm>
          <a:prstGeom prst="ellipse">
            <a:avLst/>
          </a:prstGeom>
          <a:solidFill>
            <a:srgbClr val="1E6B4F"/>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25" name="c1_txt_805"/>
          <p:cNvSpPr txBox="1"/>
          <p:nvPr/>
        </p:nvSpPr>
        <p:spPr>
          <a:xfrm>
            <a:off x="1463040" y="2651760"/>
            <a:ext cx="2240280" cy="1234440"/>
          </a:xfrm>
          <a:prstGeom prst="rect">
            <a:avLst/>
          </a:prstGeom>
          <a:noFill/>
          <a:ln/>
        </p:spPr>
        <p:txBody>
          <a:bodyPr wrap="square" lIns="0" tIns="0" rIns="0" bIns="0" rtlCol="0" anchor="ctr"/>
          <a:lstStyle/>
          <a:p>
            <a:pPr indent="0" marL="0">
              <a:buNone/>
            </a:pPr>
            <a:r>
              <a:rPr lang="en-US" sz="1800" b="1" dirty="0">
                <a:solidFill>
                  <a:srgbClr val="13221D"/>
                </a:solidFill>
                <a:latin typeface="Inter" pitchFamily="34" charset="0"/>
                <a:ea typeface="Inter" pitchFamily="34" charset="-122"/>
                <a:cs typeface="Inter" pitchFamily="34" charset="-120"/>
              </a:rPr>
              <a:t>Immersion</a:t>
            </a:r>
            <a:endParaRPr lang="en-US" sz="1800" dirty="0"/>
          </a:p>
        </p:txBody>
      </p:sp>
      <p:sp>
        <p:nvSpPr>
          <p:cNvPr id="26" name="c2_card_806"/>
          <p:cNvSpPr/>
          <p:nvPr/>
        </p:nvSpPr>
        <p:spPr>
          <a:xfrm>
            <a:off x="4069080" y="2651760"/>
            <a:ext cx="3291840" cy="1234440"/>
          </a:xfrm>
          <a:prstGeom prst="roundRect">
            <a:avLst>
              <a:gd name="adj" fmla="val 8889"/>
            </a:avLst>
          </a:prstGeom>
          <a:solidFill>
            <a:srgbClr val="E8F2ED"/>
          </a:solidFill>
          <a:ln w="12700">
            <a:solidFill>
              <a:srgbClr val="E8F2ED"/>
            </a:solidFill>
            <a:prstDash val="solid"/>
          </a:ln>
        </p:spPr>
      </p:sp>
      <p:sp>
        <p:nvSpPr>
          <p:cNvPr id="27" name="c2_num_807"/>
          <p:cNvSpPr txBox="1"/>
          <p:nvPr/>
        </p:nvSpPr>
        <p:spPr>
          <a:xfrm>
            <a:off x="4297680" y="3017520"/>
            <a:ext cx="502920" cy="502920"/>
          </a:xfrm>
          <a:prstGeom prst="ellipse">
            <a:avLst/>
          </a:prstGeom>
          <a:solidFill>
            <a:srgbClr val="1E6B4F"/>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28" name="c2_txt_808"/>
          <p:cNvSpPr txBox="1"/>
          <p:nvPr/>
        </p:nvSpPr>
        <p:spPr>
          <a:xfrm>
            <a:off x="4983480" y="2651760"/>
            <a:ext cx="2240280" cy="1234440"/>
          </a:xfrm>
          <a:prstGeom prst="rect">
            <a:avLst/>
          </a:prstGeom>
          <a:noFill/>
          <a:ln/>
        </p:spPr>
        <p:txBody>
          <a:bodyPr wrap="square" lIns="0" tIns="0" rIns="0" bIns="0" rtlCol="0" anchor="ctr"/>
          <a:lstStyle/>
          <a:p>
            <a:pPr indent="0" marL="0">
              <a:buNone/>
            </a:pPr>
            <a:r>
              <a:rPr lang="en-US" sz="1800" b="1" dirty="0">
                <a:solidFill>
                  <a:srgbClr val="13221D"/>
                </a:solidFill>
                <a:latin typeface="Inter" pitchFamily="34" charset="0"/>
                <a:ea typeface="Inter" pitchFamily="34" charset="-122"/>
                <a:cs typeface="Inter" pitchFamily="34" charset="-120"/>
              </a:rPr>
              <a:t>Solve the root problem</a:t>
            </a:r>
            <a:endParaRPr lang="en-US" sz="1800" dirty="0"/>
          </a:p>
        </p:txBody>
      </p:sp>
      <p:sp>
        <p:nvSpPr>
          <p:cNvPr id="29" name="c3_card_809"/>
          <p:cNvSpPr/>
          <p:nvPr/>
        </p:nvSpPr>
        <p:spPr>
          <a:xfrm>
            <a:off x="548640" y="4114800"/>
            <a:ext cx="3291840" cy="1234440"/>
          </a:xfrm>
          <a:prstGeom prst="roundRect">
            <a:avLst>
              <a:gd name="adj" fmla="val 8889"/>
            </a:avLst>
          </a:prstGeom>
          <a:solidFill>
            <a:srgbClr val="E8F2ED"/>
          </a:solidFill>
          <a:ln w="12700">
            <a:solidFill>
              <a:srgbClr val="E8F2ED"/>
            </a:solidFill>
            <a:prstDash val="solid"/>
          </a:ln>
        </p:spPr>
      </p:sp>
      <p:sp>
        <p:nvSpPr>
          <p:cNvPr id="30" name="c3_num_810"/>
          <p:cNvSpPr txBox="1"/>
          <p:nvPr/>
        </p:nvSpPr>
        <p:spPr>
          <a:xfrm>
            <a:off x="777240" y="4480560"/>
            <a:ext cx="502920" cy="502920"/>
          </a:xfrm>
          <a:prstGeom prst="ellipse">
            <a:avLst/>
          </a:prstGeom>
          <a:solidFill>
            <a:srgbClr val="1E6B4F"/>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31" name="c3_txt_811"/>
          <p:cNvSpPr txBox="1"/>
          <p:nvPr/>
        </p:nvSpPr>
        <p:spPr>
          <a:xfrm>
            <a:off x="1463040" y="4114800"/>
            <a:ext cx="2240280" cy="1234440"/>
          </a:xfrm>
          <a:prstGeom prst="rect">
            <a:avLst/>
          </a:prstGeom>
          <a:noFill/>
          <a:ln/>
        </p:spPr>
        <p:txBody>
          <a:bodyPr wrap="square" lIns="0" tIns="0" rIns="0" bIns="0" rtlCol="0" anchor="ctr"/>
          <a:lstStyle/>
          <a:p>
            <a:pPr indent="0" marL="0">
              <a:buNone/>
            </a:pPr>
            <a:r>
              <a:rPr lang="en-US" sz="1800" b="1" dirty="0">
                <a:solidFill>
                  <a:srgbClr val="13221D"/>
                </a:solidFill>
                <a:latin typeface="Inter" pitchFamily="34" charset="0"/>
                <a:ea typeface="Inter" pitchFamily="34" charset="-122"/>
                <a:cs typeface="Inter" pitchFamily="34" charset="-120"/>
              </a:rPr>
              <a:t>Think in systems</a:t>
            </a:r>
            <a:endParaRPr lang="en-US" sz="1800" dirty="0"/>
          </a:p>
        </p:txBody>
      </p:sp>
      <p:sp>
        <p:nvSpPr>
          <p:cNvPr id="32" name="c4_card_812"/>
          <p:cNvSpPr/>
          <p:nvPr/>
        </p:nvSpPr>
        <p:spPr>
          <a:xfrm>
            <a:off x="4069080" y="4114800"/>
            <a:ext cx="3291840" cy="1234440"/>
          </a:xfrm>
          <a:prstGeom prst="roundRect">
            <a:avLst>
              <a:gd name="adj" fmla="val 8889"/>
            </a:avLst>
          </a:prstGeom>
          <a:solidFill>
            <a:srgbClr val="E8F2ED"/>
          </a:solidFill>
          <a:ln w="12700">
            <a:solidFill>
              <a:srgbClr val="E8F2ED"/>
            </a:solidFill>
            <a:prstDash val="solid"/>
          </a:ln>
        </p:spPr>
      </p:sp>
      <p:sp>
        <p:nvSpPr>
          <p:cNvPr id="33" name="c4_num_813"/>
          <p:cNvSpPr txBox="1"/>
          <p:nvPr/>
        </p:nvSpPr>
        <p:spPr>
          <a:xfrm>
            <a:off x="4297680" y="4480560"/>
            <a:ext cx="502920" cy="502920"/>
          </a:xfrm>
          <a:prstGeom prst="ellipse">
            <a:avLst/>
          </a:prstGeom>
          <a:solidFill>
            <a:srgbClr val="1E6B4F"/>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4</a:t>
            </a:r>
            <a:endParaRPr lang="en-US" sz="1600" dirty="0"/>
          </a:p>
        </p:txBody>
      </p:sp>
      <p:sp>
        <p:nvSpPr>
          <p:cNvPr id="34" name="c4_txt_814"/>
          <p:cNvSpPr txBox="1"/>
          <p:nvPr/>
        </p:nvSpPr>
        <p:spPr>
          <a:xfrm>
            <a:off x="4983480" y="4114800"/>
            <a:ext cx="2240280" cy="1234440"/>
          </a:xfrm>
          <a:prstGeom prst="rect">
            <a:avLst/>
          </a:prstGeom>
          <a:noFill/>
          <a:ln/>
        </p:spPr>
        <p:txBody>
          <a:bodyPr wrap="square" lIns="0" tIns="0" rIns="0" bIns="0" rtlCol="0" anchor="ctr"/>
          <a:lstStyle/>
          <a:p>
            <a:pPr indent="0" marL="0">
              <a:buNone/>
            </a:pPr>
            <a:r>
              <a:rPr lang="en-US" sz="1800" b="1" dirty="0">
                <a:solidFill>
                  <a:srgbClr val="13221D"/>
                </a:solidFill>
                <a:latin typeface="Inter" pitchFamily="34" charset="0"/>
                <a:ea typeface="Inter" pitchFamily="34" charset="-122"/>
                <a:cs typeface="Inter" pitchFamily="34" charset="-120"/>
              </a:rPr>
              <a:t>Iterate, small and often</a:t>
            </a:r>
            <a:endParaRPr lang="en-US" sz="1800" dirty="0"/>
          </a:p>
        </p:txBody>
      </p:sp>
      <p:pic>
        <p:nvPicPr>
          <p:cNvPr id="35" name="img_better_world_815" descr="/home/claude/assets/better_world.png">    </p:cNvPr>
          <p:cNvPicPr>
            <a:picLocks noChangeAspect="1"/>
          </p:cNvPicPr>
          <p:nvPr/>
        </p:nvPicPr>
        <p:blipFill>
          <a:blip r:embed="rId1"/>
          <a:stretch>
            <a:fillRect/>
          </a:stretch>
        </p:blipFill>
        <p:spPr>
          <a:xfrm>
            <a:off x="8402582" y="1417320"/>
            <a:ext cx="3019029" cy="4526280"/>
          </a:xfrm>
          <a:prstGeom prst="rect">
            <a:avLst/>
          </a:prstGeom>
          <a:effectLst>
            <a:outerShdw sx="100000" sy="100000" kx="0" ky="0" algn="bl" rotWithShape="0" blurRad="101600" dist="25400" dir="540000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3"/>
                                        </p:tgtEl>
                                        <p:attrNameLst>
                                          <p:attrName>style.visibility</p:attrName>
                                        </p:attrNameLst>
                                      </p:cBhvr>
                                      <p:to>
                                        <p:strVal val="visible"/>
                                      </p:to>
                                    </p:set>
                                    <p:animEffect transition="in" filter="fade">
                                      <p:cBhvr>
                                        <p:cTn id="5" dur="400"/>
                                        <p:tgtEl>
                                          <p:spTgt spid="2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4"/>
                                        </p:tgtEl>
                                        <p:attrNameLst>
                                          <p:attrName>style.visibility</p:attrName>
                                        </p:attrNameLst>
                                      </p:cBhvr>
                                      <p:to>
                                        <p:strVal val="visible"/>
                                      </p:to>
                                    </p:set>
                                    <p:animEffect transition="in" filter="fade">
                                      <p:cBhvr>
                                        <p:cTn id="8" dur="400"/>
                                        <p:tgtEl>
                                          <p:spTgt spid="2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400"/>
                                        <p:tgtEl>
                                          <p:spTgt spid="25"/>
                                        </p:tgtEl>
                                      </p:cBhvr>
                                    </p:animEffect>
                                  </p:childTnLst>
                                </p:cTn>
                              </p:par>
                            </p:childTnLst>
                          </p:cTn>
                        </p:par>
                      </p:childTnLst>
                    </p:cTn>
                  </p:par>
                  <p:par>
                    <p:cTn id="24" fill="hold">
                      <p:stCondLst>
                        <p:cond delay="indefinite"/>
                      </p:stCondLst>
                      <p:childTnLst>
                        <p:par>
                          <p:cTn id="2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00"/>
                                        <p:tgtEl>
                                          <p:spTgt spid="2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00"/>
                                        <p:tgtEl>
                                          <p:spTgt spid="2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35" fill="hold">
                      <p:stCondLst>
                        <p:cond delay="indefinite"/>
                      </p:stCondLst>
                      <p:childTnLst>
                        <p:par>
                          <p:cTn id="3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400"/>
                                        <p:tgtEl>
                                          <p:spTgt spid="3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400"/>
                                        <p:tgtEl>
                                          <p:spTgt spid="31"/>
                                        </p:tgtEl>
                                      </p:cBhvr>
                                    </p:animEffect>
                                  </p:childTnLst>
                                </p:cTn>
                              </p:par>
                            </p:childTnLst>
                          </p:cTn>
                        </p:par>
                      </p:childTnLst>
                    </p:cTn>
                  </p:par>
                  <p:par>
                    <p:cTn id="46" fill="hold">
                      <p:stCondLst>
                        <p:cond delay="indefinite"/>
                      </p:stCondLst>
                      <p:childTnLst>
                        <p:par>
                          <p:cTn id="4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Two warnings from the research</a:t>
            </a:r>
            <a:endParaRPr lang="en-US" sz="3000" dirty="0"/>
          </a:p>
        </p:txBody>
      </p:sp>
      <p:sp>
        <p:nvSpPr>
          <p:cNvPr id="3" name="time_chip_81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817"/>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818"/>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819"/>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820"/>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821"/>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822"/>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823"/>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824"/>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825"/>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826"/>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827"/>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828"/>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829"/>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830"/>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831"/>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832"/>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833"/>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834"/>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835"/>
          <p:cNvSpPr/>
          <p:nvPr/>
        </p:nvSpPr>
        <p:spPr>
          <a:xfrm>
            <a:off x="548640" y="1508760"/>
            <a:ext cx="5440680" cy="4434840"/>
          </a:xfrm>
          <a:prstGeom prst="roundRect">
            <a:avLst>
              <a:gd name="adj" fmla="val 2474"/>
            </a:avLst>
          </a:prstGeom>
          <a:solidFill>
            <a:srgbClr val="E8F2ED"/>
          </a:solidFill>
          <a:ln w="12700">
            <a:solidFill>
              <a:srgbClr val="E8F2ED"/>
            </a:solidFill>
            <a:prstDash val="solid"/>
          </a:ln>
        </p:spPr>
      </p:sp>
      <p:sp>
        <p:nvSpPr>
          <p:cNvPr id="23" name="c1_txt_836"/>
          <p:cNvSpPr txBox="1"/>
          <p:nvPr/>
        </p:nvSpPr>
        <p:spPr>
          <a:xfrm>
            <a:off x="914400" y="1783080"/>
            <a:ext cx="4754880" cy="640080"/>
          </a:xfrm>
          <a:prstGeom prst="rect">
            <a:avLst/>
          </a:prstGeom>
          <a:noFill/>
          <a:ln/>
        </p:spPr>
        <p:txBody>
          <a:bodyPr wrap="square" lIns="0" tIns="0" rIns="0" bIns="0" rtlCol="0" anchor="t"/>
          <a:lstStyle/>
          <a:p>
            <a:pPr indent="0" marL="0">
              <a:buNone/>
            </a:pPr>
            <a:r>
              <a:rPr lang="en-US" sz="2600" b="1" dirty="0">
                <a:solidFill>
                  <a:srgbClr val="1E6B4F"/>
                </a:solidFill>
                <a:latin typeface="Inter" pitchFamily="34" charset="0"/>
                <a:ea typeface="Inter" pitchFamily="34" charset="-122"/>
                <a:cs typeface="Inter" pitchFamily="34" charset="-120"/>
              </a:rPr>
              <a:t>Is empathy enough?</a:t>
            </a:r>
            <a:endParaRPr lang="en-US" sz="2600" dirty="0"/>
          </a:p>
        </p:txBody>
      </p:sp>
      <p:sp>
        <p:nvSpPr>
          <p:cNvPr id="24" name="c1_txt_837"/>
          <p:cNvSpPr txBox="1"/>
          <p:nvPr/>
        </p:nvSpPr>
        <p:spPr>
          <a:xfrm>
            <a:off x="914400" y="2606040"/>
            <a:ext cx="4663440" cy="1828800"/>
          </a:xfrm>
          <a:prstGeom prst="rect">
            <a:avLst/>
          </a:prstGeom>
          <a:noFill/>
          <a:ln/>
        </p:spPr>
        <p:txBody>
          <a:bodyPr wrap="square" lIns="0" tIns="0" rIns="0" bIns="0" rtlCol="0" anchor="t"/>
          <a:lstStyle/>
          <a:p>
            <a:pPr indent="0" marL="0">
              <a:buNone/>
            </a:pPr>
            <a:r>
              <a:rPr lang="en-US" sz="1900" dirty="0">
                <a:solidFill>
                  <a:srgbClr val="13221D"/>
                </a:solidFill>
                <a:latin typeface="Inter" pitchFamily="34" charset="0"/>
                <a:ea typeface="Inter" pitchFamily="34" charset="-122"/>
                <a:cs typeface="Inter" pitchFamily="34" charset="-120"/>
              </a:rPr>
              <a:t>Simulating disability (for example, wearing a blindfold) can lend false confidence and lead to wrong conclusions.</a:t>
            </a:r>
            <a:endParaRPr lang="en-US" sz="1900" dirty="0"/>
          </a:p>
        </p:txBody>
      </p:sp>
      <p:sp>
        <p:nvSpPr>
          <p:cNvPr id="25" name="c1_txt_838"/>
          <p:cNvSpPr txBox="1"/>
          <p:nvPr/>
        </p:nvSpPr>
        <p:spPr>
          <a:xfrm>
            <a:off x="914400" y="4800600"/>
            <a:ext cx="4663440" cy="914400"/>
          </a:xfrm>
          <a:prstGeom prst="rect">
            <a:avLst/>
          </a:prstGeom>
          <a:noFill/>
          <a:ln/>
        </p:spPr>
        <p:txBody>
          <a:bodyPr wrap="square" lIns="0" tIns="0" rIns="0" bIns="0" rtlCol="0" anchor="t"/>
          <a:lstStyle/>
          <a:p>
            <a:pPr indent="0" marL="0">
              <a:buNone/>
            </a:pPr>
            <a:r>
              <a:rPr lang="en-US" sz="1200" dirty="0">
                <a:solidFill>
                  <a:srgbClr val="5E6E68"/>
                </a:solidFill>
                <a:latin typeface="Inter" pitchFamily="34" charset="0"/>
                <a:ea typeface="Inter" pitchFamily="34" charset="-122"/>
                <a:cs typeface="Inter" pitchFamily="34" charset="-120"/>
              </a:rPr>
              <a:t>Bennett &amp; Rosner, “The Promise of Empathy: Design, Disability, and Knowing the ‘Other’,” CHI 2019</a:t>
            </a:r>
            <a:endParaRPr lang="en-US" sz="1200" dirty="0"/>
          </a:p>
        </p:txBody>
      </p:sp>
      <p:sp>
        <p:nvSpPr>
          <p:cNvPr id="26" name="c2_card_839"/>
          <p:cNvSpPr/>
          <p:nvPr/>
        </p:nvSpPr>
        <p:spPr>
          <a:xfrm>
            <a:off x="6172200" y="1508760"/>
            <a:ext cx="5440680" cy="4434840"/>
          </a:xfrm>
          <a:prstGeom prst="roundRect">
            <a:avLst>
              <a:gd name="adj" fmla="val 2474"/>
            </a:avLst>
          </a:prstGeom>
          <a:solidFill>
            <a:srgbClr val="FCE7DF"/>
          </a:solidFill>
          <a:ln w="12700">
            <a:solidFill>
              <a:srgbClr val="FCE7DF"/>
            </a:solidFill>
            <a:prstDash val="solid"/>
          </a:ln>
        </p:spPr>
      </p:sp>
      <p:sp>
        <p:nvSpPr>
          <p:cNvPr id="27" name="c2_txt_840"/>
          <p:cNvSpPr txBox="1"/>
          <p:nvPr/>
        </p:nvSpPr>
        <p:spPr>
          <a:xfrm>
            <a:off x="6537960" y="1783080"/>
            <a:ext cx="4754880" cy="640080"/>
          </a:xfrm>
          <a:prstGeom prst="rect">
            <a:avLst/>
          </a:prstGeom>
          <a:noFill/>
          <a:ln/>
        </p:spPr>
        <p:txBody>
          <a:bodyPr wrap="square" lIns="0" tIns="0" rIns="0" bIns="0" rtlCol="0" anchor="t"/>
          <a:lstStyle/>
          <a:p>
            <a:pPr indent="0" marL="0">
              <a:buNone/>
            </a:pPr>
            <a:r>
              <a:rPr lang="en-US" sz="2600" b="1" dirty="0">
                <a:solidFill>
                  <a:srgbClr val="E8613A"/>
                </a:solidFill>
                <a:latin typeface="Inter" pitchFamily="34" charset="0"/>
                <a:ea typeface="Inter" pitchFamily="34" charset="-122"/>
                <a:cs typeface="Inter" pitchFamily="34" charset="-120"/>
              </a:rPr>
              <a:t>Is a seat at the table enough?</a:t>
            </a:r>
            <a:endParaRPr lang="en-US" sz="2600" dirty="0"/>
          </a:p>
        </p:txBody>
      </p:sp>
      <p:sp>
        <p:nvSpPr>
          <p:cNvPr id="28" name="c2_txt_841"/>
          <p:cNvSpPr txBox="1"/>
          <p:nvPr/>
        </p:nvSpPr>
        <p:spPr>
          <a:xfrm>
            <a:off x="6537960" y="2606040"/>
            <a:ext cx="4663440" cy="1828800"/>
          </a:xfrm>
          <a:prstGeom prst="rect">
            <a:avLst/>
          </a:prstGeom>
          <a:noFill/>
          <a:ln/>
        </p:spPr>
        <p:txBody>
          <a:bodyPr wrap="square" lIns="0" tIns="0" rIns="0" bIns="0" rtlCol="0" anchor="t"/>
          <a:lstStyle/>
          <a:p>
            <a:pPr indent="0" marL="0">
              <a:buNone/>
            </a:pPr>
            <a:r>
              <a:rPr lang="en-US" sz="1900" dirty="0">
                <a:solidFill>
                  <a:srgbClr val="13221D"/>
                </a:solidFill>
                <a:latin typeface="Inter" pitchFamily="34" charset="0"/>
                <a:ea typeface="Inter" pitchFamily="34" charset="-122"/>
                <a:cs typeface="Inter" pitchFamily="34" charset="-120"/>
              </a:rPr>
              <a:t>Bringing people into the room does not mean they have, or see themselves as having, full status and authority.</a:t>
            </a:r>
            <a:endParaRPr lang="en-US" sz="1900" dirty="0"/>
          </a:p>
        </p:txBody>
      </p:sp>
      <p:sp>
        <p:nvSpPr>
          <p:cNvPr id="29" name="c2_txt_842"/>
          <p:cNvSpPr txBox="1"/>
          <p:nvPr/>
        </p:nvSpPr>
        <p:spPr>
          <a:xfrm>
            <a:off x="6537960" y="4800600"/>
            <a:ext cx="4663440" cy="914400"/>
          </a:xfrm>
          <a:prstGeom prst="rect">
            <a:avLst/>
          </a:prstGeom>
          <a:noFill/>
          <a:ln/>
        </p:spPr>
        <p:txBody>
          <a:bodyPr wrap="square" lIns="0" tIns="0" rIns="0" bIns="0" rtlCol="0" anchor="t"/>
          <a:lstStyle/>
          <a:p>
            <a:pPr indent="0" marL="0">
              <a:buNone/>
            </a:pPr>
            <a:r>
              <a:rPr lang="en-US" sz="1200" dirty="0">
                <a:solidFill>
                  <a:srgbClr val="5E6E68"/>
                </a:solidFill>
                <a:latin typeface="Inter" pitchFamily="34" charset="0"/>
                <a:ea typeface="Inter" pitchFamily="34" charset="-122"/>
                <a:cs typeface="Inter" pitchFamily="34" charset="-120"/>
              </a:rPr>
              <a:t>Harrington, Erete &amp; Piper, “Deconstructing Community-Based Collaborative Design,” CSCW 2019</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 fill="hold">
                      <p:stCondLst>
                        <p:cond delay="indefinite"/>
                      </p:stCondLst>
                      <p:childTnLst>
                        <p:par>
                          <p:cTn id="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childTnLst>
                          </p:cTn>
                        </p:par>
                      </p:childTnLst>
                    </p:cTn>
                  </p:par>
                  <p:par>
                    <p:cTn id="30" fill="hold">
                      <p:stCondLst>
                        <p:cond delay="indefinite"/>
                      </p:stCondLst>
                      <p:childTnLst>
                        <p:par>
                          <p:cTn id="29"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Participatory design (PD)</a:t>
            </a:r>
            <a:endParaRPr lang="en-US" sz="3000" dirty="0"/>
          </a:p>
        </p:txBody>
      </p:sp>
      <p:sp>
        <p:nvSpPr>
          <p:cNvPr id="3" name="time_chip_843"/>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844"/>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845"/>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846"/>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847"/>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848"/>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849"/>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850"/>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851"/>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852"/>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853"/>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854"/>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855"/>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856"/>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857"/>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858"/>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859"/>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860"/>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861"/>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862"/>
          <p:cNvSpPr txBox="1"/>
          <p:nvPr/>
        </p:nvSpPr>
        <p:spPr>
          <a:xfrm>
            <a:off x="548640" y="1463040"/>
            <a:ext cx="10515600" cy="54864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De-centers the designer. Stakeholders share decisions in every phase.</a:t>
            </a:r>
            <a:endParaRPr lang="en-US" sz="2000" dirty="0"/>
          </a:p>
        </p:txBody>
      </p:sp>
      <p:sp>
        <p:nvSpPr>
          <p:cNvPr id="23" name="txt_863"/>
          <p:cNvSpPr txBox="1"/>
          <p:nvPr/>
        </p:nvSpPr>
        <p:spPr>
          <a:xfrm>
            <a:off x="548640" y="2011680"/>
            <a:ext cx="5486400" cy="365760"/>
          </a:xfrm>
          <a:prstGeom prst="rect">
            <a:avLst/>
          </a:prstGeom>
          <a:noFill/>
          <a:ln/>
        </p:spPr>
        <p:txBody>
          <a:bodyPr wrap="square" lIns="0" tIns="0" rIns="0" bIns="0" rtlCol="0" anchor="t"/>
          <a:lstStyle/>
          <a:p>
            <a:pPr indent="0" marL="0">
              <a:buNone/>
            </a:pPr>
            <a:r>
              <a:rPr lang="en-US" sz="1300" dirty="0">
                <a:solidFill>
                  <a:srgbClr val="5E6E68"/>
                </a:solidFill>
                <a:latin typeface="Inter" pitchFamily="34" charset="0"/>
                <a:ea typeface="Inter" pitchFamily="34" charset="-122"/>
                <a:cs typeface="Inter" pitchFamily="34" charset="-120"/>
              </a:rPr>
              <a:t>Schuler &amp; Namioka, 1993</a:t>
            </a:r>
            <a:endParaRPr lang="en-US" sz="1300" dirty="0"/>
          </a:p>
        </p:txBody>
      </p:sp>
      <p:sp>
        <p:nvSpPr>
          <p:cNvPr id="24" name="c1_card_864"/>
          <p:cNvSpPr/>
          <p:nvPr/>
        </p:nvSpPr>
        <p:spPr>
          <a:xfrm>
            <a:off x="548640" y="2606040"/>
            <a:ext cx="2560320" cy="1188720"/>
          </a:xfrm>
          <a:prstGeom prst="roundRect">
            <a:avLst>
              <a:gd name="adj" fmla="val 9231"/>
            </a:avLst>
          </a:prstGeom>
          <a:solidFill>
            <a:srgbClr val="1E6B4F"/>
          </a:solidFill>
          <a:ln w="12700">
            <a:solidFill>
              <a:srgbClr val="1E6B4F"/>
            </a:solidFill>
            <a:prstDash val="solid"/>
          </a:ln>
        </p:spPr>
      </p:sp>
      <p:sp>
        <p:nvSpPr>
          <p:cNvPr id="25" name="c1_txt_865"/>
          <p:cNvSpPr txBox="1"/>
          <p:nvPr/>
        </p:nvSpPr>
        <p:spPr>
          <a:xfrm>
            <a:off x="548640" y="2606040"/>
            <a:ext cx="2560320" cy="1188720"/>
          </a:xfrm>
          <a:prstGeom prst="rect">
            <a:avLst/>
          </a:prstGeom>
          <a:noFill/>
          <a:ln/>
        </p:spPr>
        <p:txBody>
          <a:bodyPr wrap="square" lIns="0" tIns="0" rIns="0" bIns="0" rtlCol="0" anchor="ctr"/>
          <a:lstStyle/>
          <a:p>
            <a:pPr algn="ctr" indent="0" marL="0">
              <a:buNone/>
            </a:pPr>
            <a:r>
              <a:rPr lang="en-US" sz="1900" b="1" dirty="0">
                <a:solidFill>
                  <a:srgbClr val="FFFFFF"/>
                </a:solidFill>
                <a:latin typeface="Inter" pitchFamily="34" charset="0"/>
                <a:ea typeface="Inter" pitchFamily="34" charset="-122"/>
                <a:cs typeface="Inter" pitchFamily="34" charset="-120"/>
              </a:rPr>
              <a:t>Needfinding</a:t>
            </a:r>
            <a:endParaRPr lang="en-US" sz="1900" dirty="0"/>
          </a:p>
        </p:txBody>
      </p:sp>
      <p:sp>
        <p:nvSpPr>
          <p:cNvPr id="26" name="c2_txt_866"/>
          <p:cNvSpPr txBox="1"/>
          <p:nvPr/>
        </p:nvSpPr>
        <p:spPr>
          <a:xfrm>
            <a:off x="3090672" y="2926080"/>
            <a:ext cx="320040" cy="548640"/>
          </a:xfrm>
          <a:prstGeom prst="rect">
            <a:avLst/>
          </a:prstGeom>
          <a:noFill/>
          <a:ln/>
        </p:spPr>
        <p:txBody>
          <a:bodyPr wrap="square" lIns="0" tIns="0" rIns="0" bIns="0" rtlCol="0" anchor="ctr"/>
          <a:lstStyle/>
          <a:p>
            <a:pPr algn="ctr" indent="0" marL="0">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27" name="c2_card_867"/>
          <p:cNvSpPr/>
          <p:nvPr/>
        </p:nvSpPr>
        <p:spPr>
          <a:xfrm>
            <a:off x="3392424" y="2606040"/>
            <a:ext cx="2560320" cy="1188720"/>
          </a:xfrm>
          <a:prstGeom prst="roundRect">
            <a:avLst>
              <a:gd name="adj" fmla="val 9231"/>
            </a:avLst>
          </a:prstGeom>
          <a:solidFill>
            <a:srgbClr val="1E6B4F"/>
          </a:solidFill>
          <a:ln w="12700">
            <a:solidFill>
              <a:srgbClr val="1E6B4F"/>
            </a:solidFill>
            <a:prstDash val="solid"/>
          </a:ln>
        </p:spPr>
      </p:sp>
      <p:sp>
        <p:nvSpPr>
          <p:cNvPr id="28" name="c2_txt_868"/>
          <p:cNvSpPr txBox="1"/>
          <p:nvPr/>
        </p:nvSpPr>
        <p:spPr>
          <a:xfrm>
            <a:off x="3392424" y="2606040"/>
            <a:ext cx="2560320" cy="1188720"/>
          </a:xfrm>
          <a:prstGeom prst="rect">
            <a:avLst/>
          </a:prstGeom>
          <a:noFill/>
          <a:ln/>
        </p:spPr>
        <p:txBody>
          <a:bodyPr wrap="square" lIns="0" tIns="0" rIns="0" bIns="0" rtlCol="0" anchor="ctr"/>
          <a:lstStyle/>
          <a:p>
            <a:pPr algn="ctr" indent="0" marL="0">
              <a:buNone/>
            </a:pPr>
            <a:r>
              <a:rPr lang="en-US" sz="1900" b="1" dirty="0">
                <a:solidFill>
                  <a:srgbClr val="FFFFFF"/>
                </a:solidFill>
                <a:latin typeface="Inter" pitchFamily="34" charset="0"/>
                <a:ea typeface="Inter" pitchFamily="34" charset="-122"/>
                <a:cs typeface="Inter" pitchFamily="34" charset="-120"/>
              </a:rPr>
              <a:t>Problem definition</a:t>
            </a:r>
            <a:endParaRPr lang="en-US" sz="1900" dirty="0"/>
          </a:p>
        </p:txBody>
      </p:sp>
      <p:sp>
        <p:nvSpPr>
          <p:cNvPr id="29" name="c3_txt_869"/>
          <p:cNvSpPr txBox="1"/>
          <p:nvPr/>
        </p:nvSpPr>
        <p:spPr>
          <a:xfrm>
            <a:off x="5934456" y="2926080"/>
            <a:ext cx="320040" cy="548640"/>
          </a:xfrm>
          <a:prstGeom prst="rect">
            <a:avLst/>
          </a:prstGeom>
          <a:noFill/>
          <a:ln/>
        </p:spPr>
        <p:txBody>
          <a:bodyPr wrap="square" lIns="0" tIns="0" rIns="0" bIns="0" rtlCol="0" anchor="ctr"/>
          <a:lstStyle/>
          <a:p>
            <a:pPr algn="ctr" indent="0" marL="0">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30" name="c3_card_870"/>
          <p:cNvSpPr/>
          <p:nvPr/>
        </p:nvSpPr>
        <p:spPr>
          <a:xfrm>
            <a:off x="6236208" y="2606040"/>
            <a:ext cx="2560320" cy="1188720"/>
          </a:xfrm>
          <a:prstGeom prst="roundRect">
            <a:avLst>
              <a:gd name="adj" fmla="val 9231"/>
            </a:avLst>
          </a:prstGeom>
          <a:solidFill>
            <a:srgbClr val="1E6B4F"/>
          </a:solidFill>
          <a:ln w="12700">
            <a:solidFill>
              <a:srgbClr val="1E6B4F"/>
            </a:solidFill>
            <a:prstDash val="solid"/>
          </a:ln>
        </p:spPr>
      </p:sp>
      <p:sp>
        <p:nvSpPr>
          <p:cNvPr id="31" name="c3_txt_871"/>
          <p:cNvSpPr txBox="1"/>
          <p:nvPr/>
        </p:nvSpPr>
        <p:spPr>
          <a:xfrm>
            <a:off x="6236208" y="2606040"/>
            <a:ext cx="2560320" cy="1188720"/>
          </a:xfrm>
          <a:prstGeom prst="rect">
            <a:avLst/>
          </a:prstGeom>
          <a:noFill/>
          <a:ln/>
        </p:spPr>
        <p:txBody>
          <a:bodyPr wrap="square" lIns="0" tIns="0" rIns="0" bIns="0" rtlCol="0" anchor="ctr"/>
          <a:lstStyle/>
          <a:p>
            <a:pPr algn="ctr" indent="0" marL="0">
              <a:buNone/>
            </a:pPr>
            <a:r>
              <a:rPr lang="en-US" sz="1900" b="1" dirty="0">
                <a:solidFill>
                  <a:srgbClr val="FFFFFF"/>
                </a:solidFill>
                <a:latin typeface="Inter" pitchFamily="34" charset="0"/>
                <a:ea typeface="Inter" pitchFamily="34" charset="-122"/>
                <a:cs typeface="Inter" pitchFamily="34" charset="-120"/>
              </a:rPr>
              <a:t>Developing ideas</a:t>
            </a:r>
            <a:endParaRPr lang="en-US" sz="1900" dirty="0"/>
          </a:p>
        </p:txBody>
      </p:sp>
      <p:sp>
        <p:nvSpPr>
          <p:cNvPr id="32" name="c4_txt_872"/>
          <p:cNvSpPr txBox="1"/>
          <p:nvPr/>
        </p:nvSpPr>
        <p:spPr>
          <a:xfrm>
            <a:off x="8778240" y="2926080"/>
            <a:ext cx="320040" cy="548640"/>
          </a:xfrm>
          <a:prstGeom prst="rect">
            <a:avLst/>
          </a:prstGeom>
          <a:noFill/>
          <a:ln/>
        </p:spPr>
        <p:txBody>
          <a:bodyPr wrap="square" lIns="0" tIns="0" rIns="0" bIns="0" rtlCol="0" anchor="ctr"/>
          <a:lstStyle/>
          <a:p>
            <a:pPr algn="ctr" indent="0" marL="0">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33" name="c4_card_873"/>
          <p:cNvSpPr/>
          <p:nvPr/>
        </p:nvSpPr>
        <p:spPr>
          <a:xfrm>
            <a:off x="9079992" y="2606040"/>
            <a:ext cx="2560320" cy="1188720"/>
          </a:xfrm>
          <a:prstGeom prst="roundRect">
            <a:avLst>
              <a:gd name="adj" fmla="val 9231"/>
            </a:avLst>
          </a:prstGeom>
          <a:solidFill>
            <a:srgbClr val="1E6B4F"/>
          </a:solidFill>
          <a:ln w="12700">
            <a:solidFill>
              <a:srgbClr val="1E6B4F"/>
            </a:solidFill>
            <a:prstDash val="solid"/>
          </a:ln>
        </p:spPr>
      </p:sp>
      <p:sp>
        <p:nvSpPr>
          <p:cNvPr id="34" name="c4_txt_874"/>
          <p:cNvSpPr txBox="1"/>
          <p:nvPr/>
        </p:nvSpPr>
        <p:spPr>
          <a:xfrm>
            <a:off x="9079992" y="2606040"/>
            <a:ext cx="2560320" cy="1188720"/>
          </a:xfrm>
          <a:prstGeom prst="rect">
            <a:avLst/>
          </a:prstGeom>
          <a:noFill/>
          <a:ln/>
        </p:spPr>
        <p:txBody>
          <a:bodyPr wrap="square" lIns="0" tIns="0" rIns="0" bIns="0" rtlCol="0" anchor="ctr"/>
          <a:lstStyle/>
          <a:p>
            <a:pPr algn="ctr" indent="0" marL="0">
              <a:buNone/>
            </a:pPr>
            <a:r>
              <a:rPr lang="en-US" sz="1900" b="1" dirty="0">
                <a:solidFill>
                  <a:srgbClr val="FFFFFF"/>
                </a:solidFill>
                <a:latin typeface="Inter" pitchFamily="34" charset="0"/>
                <a:ea typeface="Inter" pitchFamily="34" charset="-122"/>
                <a:cs typeface="Inter" pitchFamily="34" charset="-120"/>
              </a:rPr>
              <a:t>Evaluation</a:t>
            </a:r>
            <a:endParaRPr lang="en-US" sz="1900" dirty="0"/>
          </a:p>
        </p:txBody>
      </p:sp>
      <p:sp>
        <p:nvSpPr>
          <p:cNvPr id="35" name="c5_txt_875"/>
          <p:cNvSpPr txBox="1"/>
          <p:nvPr/>
        </p:nvSpPr>
        <p:spPr>
          <a:xfrm>
            <a:off x="548640" y="4160520"/>
            <a:ext cx="3657600" cy="320040"/>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EXAMPLES</a:t>
            </a:r>
            <a:endParaRPr lang="en-US" sz="1200" dirty="0"/>
          </a:p>
        </p:txBody>
      </p:sp>
      <p:sp>
        <p:nvSpPr>
          <p:cNvPr id="36" name="c5_card_876"/>
          <p:cNvSpPr/>
          <p:nvPr/>
        </p:nvSpPr>
        <p:spPr>
          <a:xfrm>
            <a:off x="548640" y="4526280"/>
            <a:ext cx="3520440" cy="1325880"/>
          </a:xfrm>
          <a:prstGeom prst="roundRect">
            <a:avLst>
              <a:gd name="adj" fmla="val 8276"/>
            </a:avLst>
          </a:prstGeom>
          <a:solidFill>
            <a:srgbClr val="E8F2ED"/>
          </a:solidFill>
          <a:ln w="12700">
            <a:solidFill>
              <a:srgbClr val="E8F2ED"/>
            </a:solidFill>
            <a:prstDash val="solid"/>
          </a:ln>
        </p:spPr>
      </p:sp>
      <p:sp>
        <p:nvSpPr>
          <p:cNvPr id="37" name="c5_txt_877"/>
          <p:cNvSpPr txBox="1"/>
          <p:nvPr/>
        </p:nvSpPr>
        <p:spPr>
          <a:xfrm>
            <a:off x="822960" y="4526280"/>
            <a:ext cx="3017520" cy="1325880"/>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Gig workers co-designing a collective action platform</a:t>
            </a:r>
            <a:endParaRPr lang="en-US" sz="1600" dirty="0"/>
          </a:p>
        </p:txBody>
      </p:sp>
      <p:sp>
        <p:nvSpPr>
          <p:cNvPr id="38" name="c5_card_878"/>
          <p:cNvSpPr/>
          <p:nvPr/>
        </p:nvSpPr>
        <p:spPr>
          <a:xfrm>
            <a:off x="4297680" y="4526280"/>
            <a:ext cx="3520440" cy="1325880"/>
          </a:xfrm>
          <a:prstGeom prst="roundRect">
            <a:avLst>
              <a:gd name="adj" fmla="val 8276"/>
            </a:avLst>
          </a:prstGeom>
          <a:solidFill>
            <a:srgbClr val="E8F2ED"/>
          </a:solidFill>
          <a:ln w="12700">
            <a:solidFill>
              <a:srgbClr val="E8F2ED"/>
            </a:solidFill>
            <a:prstDash val="solid"/>
          </a:ln>
        </p:spPr>
      </p:sp>
      <p:sp>
        <p:nvSpPr>
          <p:cNvPr id="39" name="c5_txt_879"/>
          <p:cNvSpPr txBox="1"/>
          <p:nvPr/>
        </p:nvSpPr>
        <p:spPr>
          <a:xfrm>
            <a:off x="4572000" y="4526280"/>
            <a:ext cx="3017520" cy="1325880"/>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Patients and doctors shaping medical translation tools</a:t>
            </a:r>
            <a:endParaRPr lang="en-US" sz="1600" dirty="0"/>
          </a:p>
        </p:txBody>
      </p:sp>
      <p:sp>
        <p:nvSpPr>
          <p:cNvPr id="40" name="c5_card_880"/>
          <p:cNvSpPr/>
          <p:nvPr/>
        </p:nvSpPr>
        <p:spPr>
          <a:xfrm>
            <a:off x="8046720" y="4526280"/>
            <a:ext cx="3520440" cy="1325880"/>
          </a:xfrm>
          <a:prstGeom prst="roundRect">
            <a:avLst>
              <a:gd name="adj" fmla="val 8276"/>
            </a:avLst>
          </a:prstGeom>
          <a:solidFill>
            <a:srgbClr val="E8F2ED"/>
          </a:solidFill>
          <a:ln w="12700">
            <a:solidFill>
              <a:srgbClr val="E8F2ED"/>
            </a:solidFill>
            <a:prstDash val="solid"/>
          </a:ln>
        </p:spPr>
      </p:sp>
      <p:sp>
        <p:nvSpPr>
          <p:cNvPr id="41" name="c5_txt_881"/>
          <p:cNvSpPr txBox="1"/>
          <p:nvPr/>
        </p:nvSpPr>
        <p:spPr>
          <a:xfrm>
            <a:off x="8321040" y="4526280"/>
            <a:ext cx="3017520" cy="1325880"/>
          </a:xfrm>
          <a:prstGeom prst="rect">
            <a:avLst/>
          </a:prstGeom>
          <a:noFill/>
          <a:ln/>
        </p:spPr>
        <p:txBody>
          <a:bodyPr wrap="square" lIns="0" tIns="0" rIns="0" bIns="0" rtlCol="0" anchor="ctr"/>
          <a:lstStyle/>
          <a:p>
            <a:pPr indent="0" marL="0">
              <a:buNone/>
            </a:pPr>
            <a:r>
              <a:rPr lang="en-US" sz="1600" dirty="0">
                <a:solidFill>
                  <a:srgbClr val="13221D"/>
                </a:solidFill>
                <a:latin typeface="Inter" pitchFamily="34" charset="0"/>
                <a:ea typeface="Inter" pitchFamily="34" charset="-122"/>
                <a:cs typeface="Inter" pitchFamily="34" charset="-120"/>
              </a:rPr>
              <a:t>Older adults designing health tracking apps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childTnLst>
                          </p:cTn>
                        </p:par>
                      </p:childTnLst>
                    </p:cTn>
                  </p:par>
                  <p:par>
                    <p:cTn id="21" fill="hold">
                      <p:stCondLst>
                        <p:cond delay="indefinite"/>
                      </p:stCondLst>
                      <p:childTnLst>
                        <p:par>
                          <p:cTn id="2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400"/>
                                        <p:tgtEl>
                                          <p:spTgt spid="28"/>
                                        </p:tgtEl>
                                      </p:cBhvr>
                                    </p:animEffect>
                                  </p:childTnLst>
                                </p:cTn>
                              </p:par>
                            </p:childTnLst>
                          </p:cTn>
                        </p:par>
                      </p:childTnLst>
                    </p:cTn>
                  </p:par>
                  <p:par>
                    <p:cTn id="32" fill="hold">
                      <p:stCondLst>
                        <p:cond delay="indefinite"/>
                      </p:stCondLst>
                      <p:childTnLst>
                        <p:par>
                          <p:cTn id="3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childTnLst>
                          </p:cTn>
                        </p:par>
                      </p:childTnLst>
                    </p:cTn>
                  </p:par>
                  <p:par>
                    <p:cTn id="43" fill="hold">
                      <p:stCondLst>
                        <p:cond delay="indefinite"/>
                      </p:stCondLst>
                      <p:childTnLst>
                        <p:par>
                          <p:cTn id="4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400"/>
                                        <p:tgtEl>
                                          <p:spTgt spid="3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4"/>
                                        </p:tgtEl>
                                        <p:attrNameLst>
                                          <p:attrName>style.visibility</p:attrName>
                                        </p:attrNameLst>
                                      </p:cBhvr>
                                      <p:to>
                                        <p:strVal val="visible"/>
                                      </p:to>
                                    </p:set>
                                    <p:animEffect transition="in" filter="fade">
                                      <p:cBhvr>
                                        <p:cTn id="41" dur="400"/>
                                        <p:tgtEl>
                                          <p:spTgt spid="34"/>
                                        </p:tgtEl>
                                      </p:cBhvr>
                                    </p:animEffect>
                                  </p:childTnLst>
                                </p:cTn>
                              </p:par>
                            </p:childTnLst>
                          </p:cTn>
                        </p:par>
                      </p:childTnLst>
                    </p:cTn>
                  </p:par>
                  <p:par>
                    <p:cTn id="66" fill="hold">
                      <p:stCondLst>
                        <p:cond delay="indefinite"/>
                      </p:stCondLst>
                      <p:childTnLst>
                        <p:par>
                          <p:cTn id="65"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400"/>
                                        <p:tgtEl>
                                          <p:spTgt spid="4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1"/>
                                        </p:tgtEl>
                                        <p:attrNameLst>
                                          <p:attrName>style.visibility</p:attrName>
                                        </p:attrNameLst>
                                      </p:cBhvr>
                                      <p:to>
                                        <p:strVal val="visible"/>
                                      </p:to>
                                    </p:set>
                                    <p:animEffect transition="in" filter="fade">
                                      <p:cBhvr>
                                        <p:cTn id="6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Between Scylla and Charybdis</a:t>
            </a:r>
            <a:endParaRPr lang="en-US" sz="3000" dirty="0"/>
          </a:p>
        </p:txBody>
      </p:sp>
      <p:sp>
        <p:nvSpPr>
          <p:cNvPr id="3" name="time_chip_88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883"/>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884"/>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885"/>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886"/>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887"/>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888"/>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889"/>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890"/>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891"/>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892"/>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893"/>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894"/>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895"/>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896"/>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897"/>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898"/>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899"/>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900"/>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pic>
        <p:nvPicPr>
          <p:cNvPr id="22" name="img_odyssey_901" descr="/home/claude/assets/odyssey.jpg">    </p:cNvPr>
          <p:cNvPicPr>
            <a:picLocks noChangeAspect="1"/>
          </p:cNvPicPr>
          <p:nvPr/>
        </p:nvPicPr>
        <p:blipFill>
          <a:blip r:embed="rId1"/>
          <a:stretch>
            <a:fillRect/>
          </a:stretch>
        </p:blipFill>
        <p:spPr>
          <a:xfrm>
            <a:off x="2371996" y="1371600"/>
            <a:ext cx="7444960" cy="3108960"/>
          </a:xfrm>
          <a:prstGeom prst="rect">
            <a:avLst/>
          </a:prstGeom>
        </p:spPr>
      </p:pic>
      <p:sp>
        <p:nvSpPr>
          <p:cNvPr id="23" name="txt_902"/>
          <p:cNvSpPr txBox="1"/>
          <p:nvPr/>
        </p:nvSpPr>
        <p:spPr>
          <a:xfrm>
            <a:off x="548640" y="4526280"/>
            <a:ext cx="5486400" cy="274320"/>
          </a:xfrm>
          <a:prstGeom prst="rect">
            <a:avLst/>
          </a:prstGeom>
          <a:noFill/>
          <a:ln/>
        </p:spPr>
        <p:txBody>
          <a:bodyPr wrap="square" lIns="0" tIns="0" rIns="0" bIns="0" rtlCol="0" anchor="t"/>
          <a:lstStyle/>
          <a:p>
            <a:pPr indent="0" marL="0">
              <a:buNone/>
            </a:pPr>
            <a:r>
              <a:rPr lang="en-US" sz="1000" dirty="0">
                <a:solidFill>
                  <a:srgbClr val="5E6E68"/>
                </a:solidFill>
                <a:latin typeface="Inter" pitchFamily="34" charset="0"/>
                <a:ea typeface="Inter" pitchFamily="34" charset="-122"/>
                <a:cs typeface="Inter" pitchFamily="34" charset="-120"/>
              </a:rPr>
              <a:t>The Odyssey (Universal Pictures, 2025)</a:t>
            </a:r>
            <a:endParaRPr lang="en-US" sz="1000" dirty="0"/>
          </a:p>
        </p:txBody>
      </p:sp>
      <p:sp>
        <p:nvSpPr>
          <p:cNvPr id="24" name="c1_card_903"/>
          <p:cNvSpPr/>
          <p:nvPr/>
        </p:nvSpPr>
        <p:spPr>
          <a:xfrm>
            <a:off x="548640" y="4846320"/>
            <a:ext cx="5440680" cy="1280160"/>
          </a:xfrm>
          <a:prstGeom prst="roundRect">
            <a:avLst>
              <a:gd name="adj" fmla="val 8571"/>
            </a:avLst>
          </a:prstGeom>
          <a:solidFill>
            <a:srgbClr val="E8F2ED"/>
          </a:solidFill>
          <a:ln w="12700">
            <a:solidFill>
              <a:srgbClr val="E8F2ED"/>
            </a:solidFill>
            <a:prstDash val="solid"/>
          </a:ln>
        </p:spPr>
      </p:sp>
      <p:sp>
        <p:nvSpPr>
          <p:cNvPr id="25" name="c1_txt_904"/>
          <p:cNvSpPr txBox="1"/>
          <p:nvPr/>
        </p:nvSpPr>
        <p:spPr>
          <a:xfrm>
            <a:off x="822960" y="4919472"/>
            <a:ext cx="4937760" cy="411480"/>
          </a:xfrm>
          <a:prstGeom prst="rect">
            <a:avLst/>
          </a:prstGeom>
          <a:noFill/>
          <a:ln/>
        </p:spPr>
        <p:txBody>
          <a:bodyPr wrap="square" lIns="0" tIns="0" rIns="0" bIns="0" rtlCol="0" anchor="t"/>
          <a:lstStyle/>
          <a:p>
            <a:pPr indent="0" marL="0">
              <a:buNone/>
            </a:pPr>
            <a:r>
              <a:rPr lang="en-US" sz="1700" b="1" dirty="0">
                <a:solidFill>
                  <a:srgbClr val="1E6B4F"/>
                </a:solidFill>
                <a:latin typeface="Inter" pitchFamily="34" charset="0"/>
                <a:ea typeface="Inter" pitchFamily="34" charset="-122"/>
                <a:cs typeface="Inter" pitchFamily="34" charset="-120"/>
              </a:rPr>
              <a:t>Too few voices</a:t>
            </a:r>
            <a:endParaRPr lang="en-US" sz="1700" dirty="0"/>
          </a:p>
        </p:txBody>
      </p:sp>
      <p:sp>
        <p:nvSpPr>
          <p:cNvPr id="26" name="c1_txt_905"/>
          <p:cNvSpPr txBox="1"/>
          <p:nvPr/>
        </p:nvSpPr>
        <p:spPr>
          <a:xfrm>
            <a:off x="822960" y="5330952"/>
            <a:ext cx="4937760" cy="731520"/>
          </a:xfrm>
          <a:prstGeom prst="rect">
            <a:avLst/>
          </a:prstGeom>
          <a:noFill/>
          <a:ln/>
        </p:spPr>
        <p:txBody>
          <a:bodyPr wrap="square" lIns="0" tIns="0" rIns="0" bIns="0" rtlCol="0" anchor="t"/>
          <a:lstStyle/>
          <a:p>
            <a:pPr indent="0" marL="0">
              <a:buNone/>
            </a:pPr>
            <a:r>
              <a:rPr lang="en-US" sz="1400" dirty="0">
                <a:solidFill>
                  <a:srgbClr val="13221D"/>
                </a:solidFill>
                <a:latin typeface="Inter" pitchFamily="34" charset="0"/>
                <a:ea typeface="Inter" pitchFamily="34" charset="-122"/>
                <a:cs typeface="Inter" pitchFamily="34" charset="-120"/>
              </a:rPr>
              <a:t>“You should have included group X.” A design that misses the mark.</a:t>
            </a:r>
            <a:endParaRPr lang="en-US" sz="1400" dirty="0"/>
          </a:p>
        </p:txBody>
      </p:sp>
      <p:sp>
        <p:nvSpPr>
          <p:cNvPr id="27" name="c2_card_906"/>
          <p:cNvSpPr/>
          <p:nvPr/>
        </p:nvSpPr>
        <p:spPr>
          <a:xfrm>
            <a:off x="6172200" y="4846320"/>
            <a:ext cx="5440680" cy="1280160"/>
          </a:xfrm>
          <a:prstGeom prst="roundRect">
            <a:avLst>
              <a:gd name="adj" fmla="val 8571"/>
            </a:avLst>
          </a:prstGeom>
          <a:solidFill>
            <a:srgbClr val="FCE7DF"/>
          </a:solidFill>
          <a:ln w="12700">
            <a:solidFill>
              <a:srgbClr val="FCE7DF"/>
            </a:solidFill>
            <a:prstDash val="solid"/>
          </a:ln>
        </p:spPr>
      </p:sp>
      <p:sp>
        <p:nvSpPr>
          <p:cNvPr id="28" name="c2_txt_907"/>
          <p:cNvSpPr txBox="1"/>
          <p:nvPr/>
        </p:nvSpPr>
        <p:spPr>
          <a:xfrm>
            <a:off x="6446520" y="4919472"/>
            <a:ext cx="4937760" cy="411480"/>
          </a:xfrm>
          <a:prstGeom prst="rect">
            <a:avLst/>
          </a:prstGeom>
          <a:noFill/>
          <a:ln/>
        </p:spPr>
        <p:txBody>
          <a:bodyPr wrap="square" lIns="0" tIns="0" rIns="0" bIns="0" rtlCol="0" anchor="t"/>
          <a:lstStyle/>
          <a:p>
            <a:pPr indent="0" marL="0">
              <a:buNone/>
            </a:pPr>
            <a:r>
              <a:rPr lang="en-US" sz="1700" b="1" dirty="0">
                <a:solidFill>
                  <a:srgbClr val="E8613A"/>
                </a:solidFill>
                <a:latin typeface="Inter" pitchFamily="34" charset="0"/>
                <a:ea typeface="Inter" pitchFamily="34" charset="-122"/>
                <a:cs typeface="Inter" pitchFamily="34" charset="-120"/>
              </a:rPr>
              <a:t>Too many, with no stopping point</a:t>
            </a:r>
            <a:endParaRPr lang="en-US" sz="1700" dirty="0"/>
          </a:p>
        </p:txBody>
      </p:sp>
      <p:sp>
        <p:nvSpPr>
          <p:cNvPr id="29" name="c2_txt_908"/>
          <p:cNvSpPr txBox="1"/>
          <p:nvPr/>
        </p:nvSpPr>
        <p:spPr>
          <a:xfrm>
            <a:off x="6446520" y="5330952"/>
            <a:ext cx="4937760" cy="731520"/>
          </a:xfrm>
          <a:prstGeom prst="rect">
            <a:avLst/>
          </a:prstGeom>
          <a:noFill/>
          <a:ln/>
        </p:spPr>
        <p:txBody>
          <a:bodyPr wrap="square" lIns="0" tIns="0" rIns="0" bIns="0" rtlCol="0" anchor="t"/>
          <a:lstStyle/>
          <a:p>
            <a:pPr indent="0" marL="0">
              <a:buNone/>
            </a:pPr>
            <a:r>
              <a:rPr lang="en-US" sz="1400" dirty="0">
                <a:solidFill>
                  <a:srgbClr val="13221D"/>
                </a:solidFill>
                <a:latin typeface="Inter" pitchFamily="34" charset="0"/>
                <a:ea typeface="Inter" pitchFamily="34" charset="-122"/>
                <a:cs typeface="Inter" pitchFamily="34" charset="-120"/>
              </a:rPr>
              <a:t>Is there an ethical point to stop adding voices and still make decisions?</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400"/>
                                        <p:tgtEl>
                                          <p:spTgt spid="26"/>
                                        </p:tgtEl>
                                      </p:cBhvr>
                                    </p:animEffect>
                                  </p:childTnLst>
                                </p:cTn>
                              </p:par>
                            </p:childTnLst>
                          </p:cTn>
                        </p:par>
                      </p:childTnLst>
                    </p:cTn>
                  </p:par>
                  <p:par>
                    <p:cTn id="24" fill="hold">
                      <p:stCondLst>
                        <p:cond delay="indefinite"/>
                      </p:stCondLst>
                      <p:childTnLst>
                        <p:par>
                          <p:cTn id="2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400"/>
                                        <p:tgtEl>
                                          <p:spTgt spid="2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Where can communities shape AI?</a:t>
            </a:r>
            <a:endParaRPr lang="en-US" sz="3000" dirty="0"/>
          </a:p>
        </p:txBody>
      </p:sp>
      <p:sp>
        <p:nvSpPr>
          <p:cNvPr id="3" name="time_chip_909"/>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910"/>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911"/>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912"/>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913"/>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914"/>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915"/>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916"/>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917"/>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918"/>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919"/>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920"/>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921"/>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922"/>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923"/>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924"/>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925"/>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926"/>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927"/>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928"/>
          <p:cNvSpPr/>
          <p:nvPr/>
        </p:nvSpPr>
        <p:spPr>
          <a:xfrm>
            <a:off x="548640" y="1600200"/>
            <a:ext cx="2057400" cy="2377440"/>
          </a:xfrm>
          <a:prstGeom prst="roundRect">
            <a:avLst>
              <a:gd name="adj" fmla="val 5333"/>
            </a:avLst>
          </a:prstGeom>
          <a:solidFill>
            <a:srgbClr val="E8F2ED"/>
          </a:solidFill>
          <a:ln w="12700">
            <a:solidFill>
              <a:srgbClr val="E8F2ED"/>
            </a:solidFill>
            <a:prstDash val="solid"/>
          </a:ln>
        </p:spPr>
      </p:sp>
      <p:sp>
        <p:nvSpPr>
          <p:cNvPr id="23" name="c1_num_929"/>
          <p:cNvSpPr txBox="1"/>
          <p:nvPr/>
        </p:nvSpPr>
        <p:spPr>
          <a:xfrm>
            <a:off x="777240" y="1828800"/>
            <a:ext cx="502920" cy="502920"/>
          </a:xfrm>
          <a:prstGeom prst="ellipse">
            <a:avLst/>
          </a:prstGeom>
          <a:solidFill>
            <a:srgbClr val="1E6B4F"/>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24" name="c1_txt_930"/>
          <p:cNvSpPr txBox="1"/>
          <p:nvPr/>
        </p:nvSpPr>
        <p:spPr>
          <a:xfrm>
            <a:off x="777240" y="2468880"/>
            <a:ext cx="1691640" cy="731520"/>
          </a:xfrm>
          <a:prstGeom prst="rect">
            <a:avLst/>
          </a:prstGeom>
          <a:noFill/>
          <a:ln/>
        </p:spPr>
        <p:txBody>
          <a:bodyPr wrap="square" lIns="0" tIns="0" rIns="0" bIns="0" rtlCol="0" anchor="t"/>
          <a:lstStyle/>
          <a:p>
            <a:pPr indent="0" marL="0">
              <a:buNone/>
            </a:pPr>
            <a:r>
              <a:rPr lang="en-US" sz="1700" b="1" dirty="0">
                <a:solidFill>
                  <a:srgbClr val="13221D"/>
                </a:solidFill>
                <a:latin typeface="Inter" pitchFamily="34" charset="0"/>
                <a:ea typeface="Inter" pitchFamily="34" charset="-122"/>
                <a:cs typeface="Inter" pitchFamily="34" charset="-120"/>
              </a:rPr>
              <a:t>Problem framing</a:t>
            </a:r>
            <a:endParaRPr lang="en-US" sz="1700" dirty="0"/>
          </a:p>
        </p:txBody>
      </p:sp>
      <p:sp>
        <p:nvSpPr>
          <p:cNvPr id="25" name="c1_txt_931"/>
          <p:cNvSpPr txBox="1"/>
          <p:nvPr/>
        </p:nvSpPr>
        <p:spPr>
          <a:xfrm>
            <a:off x="777240" y="3200400"/>
            <a:ext cx="1691640" cy="7315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What should we work on?</a:t>
            </a:r>
            <a:endParaRPr lang="en-US" sz="1400" dirty="0"/>
          </a:p>
        </p:txBody>
      </p:sp>
      <p:sp>
        <p:nvSpPr>
          <p:cNvPr id="26" name="c2_card_932"/>
          <p:cNvSpPr/>
          <p:nvPr/>
        </p:nvSpPr>
        <p:spPr>
          <a:xfrm>
            <a:off x="2807208" y="1600200"/>
            <a:ext cx="2057400" cy="2377440"/>
          </a:xfrm>
          <a:prstGeom prst="roundRect">
            <a:avLst>
              <a:gd name="adj" fmla="val 5333"/>
            </a:avLst>
          </a:prstGeom>
          <a:solidFill>
            <a:srgbClr val="E8F2ED"/>
          </a:solidFill>
          <a:ln w="12700">
            <a:solidFill>
              <a:srgbClr val="E8F2ED"/>
            </a:solidFill>
            <a:prstDash val="solid"/>
          </a:ln>
        </p:spPr>
      </p:sp>
      <p:sp>
        <p:nvSpPr>
          <p:cNvPr id="27" name="c2_num_933"/>
          <p:cNvSpPr txBox="1"/>
          <p:nvPr/>
        </p:nvSpPr>
        <p:spPr>
          <a:xfrm>
            <a:off x="3035808" y="1828800"/>
            <a:ext cx="502920" cy="502920"/>
          </a:xfrm>
          <a:prstGeom prst="ellipse">
            <a:avLst/>
          </a:prstGeom>
          <a:solidFill>
            <a:srgbClr val="1E6B4F"/>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28" name="c2_txt_934"/>
          <p:cNvSpPr txBox="1"/>
          <p:nvPr/>
        </p:nvSpPr>
        <p:spPr>
          <a:xfrm>
            <a:off x="3035808" y="2468880"/>
            <a:ext cx="1691640" cy="731520"/>
          </a:xfrm>
          <a:prstGeom prst="rect">
            <a:avLst/>
          </a:prstGeom>
          <a:noFill/>
          <a:ln/>
        </p:spPr>
        <p:txBody>
          <a:bodyPr wrap="square" lIns="0" tIns="0" rIns="0" bIns="0" rtlCol="0" anchor="t"/>
          <a:lstStyle/>
          <a:p>
            <a:pPr indent="0" marL="0">
              <a:buNone/>
            </a:pPr>
            <a:r>
              <a:rPr lang="en-US" sz="1700" b="1" dirty="0">
                <a:solidFill>
                  <a:srgbClr val="13221D"/>
                </a:solidFill>
                <a:latin typeface="Inter" pitchFamily="34" charset="0"/>
                <a:ea typeface="Inter" pitchFamily="34" charset="-122"/>
                <a:cs typeface="Inter" pitchFamily="34" charset="-120"/>
              </a:rPr>
              <a:t>Data</a:t>
            </a:r>
            <a:endParaRPr lang="en-US" sz="1700" dirty="0"/>
          </a:p>
        </p:txBody>
      </p:sp>
      <p:sp>
        <p:nvSpPr>
          <p:cNvPr id="29" name="c2_txt_935"/>
          <p:cNvSpPr txBox="1"/>
          <p:nvPr/>
        </p:nvSpPr>
        <p:spPr>
          <a:xfrm>
            <a:off x="3035808" y="3200400"/>
            <a:ext cx="1691640" cy="7315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Whose data, collected how?</a:t>
            </a:r>
            <a:endParaRPr lang="en-US" sz="1400" dirty="0"/>
          </a:p>
        </p:txBody>
      </p:sp>
      <p:sp>
        <p:nvSpPr>
          <p:cNvPr id="30" name="c3_card_936"/>
          <p:cNvSpPr/>
          <p:nvPr/>
        </p:nvSpPr>
        <p:spPr>
          <a:xfrm>
            <a:off x="5065776" y="1600200"/>
            <a:ext cx="2057400" cy="2377440"/>
          </a:xfrm>
          <a:prstGeom prst="roundRect">
            <a:avLst>
              <a:gd name="adj" fmla="val 5333"/>
            </a:avLst>
          </a:prstGeom>
          <a:solidFill>
            <a:srgbClr val="E8F2ED"/>
          </a:solidFill>
          <a:ln w="12700">
            <a:solidFill>
              <a:srgbClr val="E8F2ED"/>
            </a:solidFill>
            <a:prstDash val="solid"/>
          </a:ln>
        </p:spPr>
      </p:sp>
      <p:sp>
        <p:nvSpPr>
          <p:cNvPr id="31" name="c3_num_937"/>
          <p:cNvSpPr txBox="1"/>
          <p:nvPr/>
        </p:nvSpPr>
        <p:spPr>
          <a:xfrm>
            <a:off x="5294376" y="1828800"/>
            <a:ext cx="502920" cy="502920"/>
          </a:xfrm>
          <a:prstGeom prst="ellipse">
            <a:avLst/>
          </a:prstGeom>
          <a:solidFill>
            <a:srgbClr val="1E6B4F"/>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32" name="c3_txt_938"/>
          <p:cNvSpPr txBox="1"/>
          <p:nvPr/>
        </p:nvSpPr>
        <p:spPr>
          <a:xfrm>
            <a:off x="5294376" y="2468880"/>
            <a:ext cx="1691640" cy="731520"/>
          </a:xfrm>
          <a:prstGeom prst="rect">
            <a:avLst/>
          </a:prstGeom>
          <a:noFill/>
          <a:ln/>
        </p:spPr>
        <p:txBody>
          <a:bodyPr wrap="square" lIns="0" tIns="0" rIns="0" bIns="0" rtlCol="0" anchor="t"/>
          <a:lstStyle/>
          <a:p>
            <a:pPr indent="0" marL="0">
              <a:buNone/>
            </a:pPr>
            <a:r>
              <a:rPr lang="en-US" sz="1700" b="1" dirty="0">
                <a:solidFill>
                  <a:srgbClr val="13221D"/>
                </a:solidFill>
                <a:latin typeface="Inter" pitchFamily="34" charset="0"/>
                <a:ea typeface="Inter" pitchFamily="34" charset="-122"/>
                <a:cs typeface="Inter" pitchFamily="34" charset="-120"/>
              </a:rPr>
              <a:t>Design</a:t>
            </a:r>
            <a:endParaRPr lang="en-US" sz="1700" dirty="0"/>
          </a:p>
        </p:txBody>
      </p:sp>
      <p:sp>
        <p:nvSpPr>
          <p:cNvPr id="33" name="c3_txt_939"/>
          <p:cNvSpPr txBox="1"/>
          <p:nvPr/>
        </p:nvSpPr>
        <p:spPr>
          <a:xfrm>
            <a:off x="5294376" y="3200400"/>
            <a:ext cx="1691640" cy="7315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What does it look like?</a:t>
            </a:r>
            <a:endParaRPr lang="en-US" sz="1400" dirty="0"/>
          </a:p>
        </p:txBody>
      </p:sp>
      <p:sp>
        <p:nvSpPr>
          <p:cNvPr id="34" name="c4_card_940"/>
          <p:cNvSpPr/>
          <p:nvPr/>
        </p:nvSpPr>
        <p:spPr>
          <a:xfrm>
            <a:off x="7324344" y="1600200"/>
            <a:ext cx="2057400" cy="2377440"/>
          </a:xfrm>
          <a:prstGeom prst="roundRect">
            <a:avLst>
              <a:gd name="adj" fmla="val 5333"/>
            </a:avLst>
          </a:prstGeom>
          <a:solidFill>
            <a:srgbClr val="E8F2ED"/>
          </a:solidFill>
          <a:ln w="12700">
            <a:solidFill>
              <a:srgbClr val="E8F2ED"/>
            </a:solidFill>
            <a:prstDash val="solid"/>
          </a:ln>
        </p:spPr>
      </p:sp>
      <p:sp>
        <p:nvSpPr>
          <p:cNvPr id="35" name="c4_num_941"/>
          <p:cNvSpPr txBox="1"/>
          <p:nvPr/>
        </p:nvSpPr>
        <p:spPr>
          <a:xfrm>
            <a:off x="7552944" y="1828800"/>
            <a:ext cx="502920" cy="502920"/>
          </a:xfrm>
          <a:prstGeom prst="ellipse">
            <a:avLst/>
          </a:prstGeom>
          <a:solidFill>
            <a:srgbClr val="1E6B4F"/>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4</a:t>
            </a:r>
            <a:endParaRPr lang="en-US" sz="1600" dirty="0"/>
          </a:p>
        </p:txBody>
      </p:sp>
      <p:sp>
        <p:nvSpPr>
          <p:cNvPr id="36" name="c4_txt_942"/>
          <p:cNvSpPr txBox="1"/>
          <p:nvPr/>
        </p:nvSpPr>
        <p:spPr>
          <a:xfrm>
            <a:off x="7552944" y="2468880"/>
            <a:ext cx="1691640" cy="731520"/>
          </a:xfrm>
          <a:prstGeom prst="rect">
            <a:avLst/>
          </a:prstGeom>
          <a:noFill/>
          <a:ln/>
        </p:spPr>
        <p:txBody>
          <a:bodyPr wrap="square" lIns="0" tIns="0" rIns="0" bIns="0" rtlCol="0" anchor="t"/>
          <a:lstStyle/>
          <a:p>
            <a:pPr indent="0" marL="0">
              <a:buNone/>
            </a:pPr>
            <a:r>
              <a:rPr lang="en-US" sz="1700" b="1" dirty="0">
                <a:solidFill>
                  <a:srgbClr val="13221D"/>
                </a:solidFill>
                <a:latin typeface="Inter" pitchFamily="34" charset="0"/>
                <a:ea typeface="Inter" pitchFamily="34" charset="-122"/>
                <a:cs typeface="Inter" pitchFamily="34" charset="-120"/>
              </a:rPr>
              <a:t>Evaluation</a:t>
            </a:r>
            <a:endParaRPr lang="en-US" sz="1700" dirty="0"/>
          </a:p>
        </p:txBody>
      </p:sp>
      <p:sp>
        <p:nvSpPr>
          <p:cNvPr id="37" name="c4_txt_943"/>
          <p:cNvSpPr txBox="1"/>
          <p:nvPr/>
        </p:nvSpPr>
        <p:spPr>
          <a:xfrm>
            <a:off x="7552944" y="3200400"/>
            <a:ext cx="1691640" cy="7315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Who decides it works?</a:t>
            </a:r>
            <a:endParaRPr lang="en-US" sz="1400" dirty="0"/>
          </a:p>
        </p:txBody>
      </p:sp>
      <p:sp>
        <p:nvSpPr>
          <p:cNvPr id="38" name="c5_card_944"/>
          <p:cNvSpPr/>
          <p:nvPr/>
        </p:nvSpPr>
        <p:spPr>
          <a:xfrm>
            <a:off x="9582912" y="1600200"/>
            <a:ext cx="2057400" cy="2377440"/>
          </a:xfrm>
          <a:prstGeom prst="roundRect">
            <a:avLst>
              <a:gd name="adj" fmla="val 5333"/>
            </a:avLst>
          </a:prstGeom>
          <a:solidFill>
            <a:srgbClr val="E8F2ED"/>
          </a:solidFill>
          <a:ln w="12700">
            <a:solidFill>
              <a:srgbClr val="E8F2ED"/>
            </a:solidFill>
            <a:prstDash val="solid"/>
          </a:ln>
        </p:spPr>
      </p:sp>
      <p:sp>
        <p:nvSpPr>
          <p:cNvPr id="39" name="c5_num_945"/>
          <p:cNvSpPr txBox="1"/>
          <p:nvPr/>
        </p:nvSpPr>
        <p:spPr>
          <a:xfrm>
            <a:off x="9811512" y="1828800"/>
            <a:ext cx="502920" cy="502920"/>
          </a:xfrm>
          <a:prstGeom prst="ellipse">
            <a:avLst/>
          </a:prstGeom>
          <a:solidFill>
            <a:srgbClr val="1E6B4F"/>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5</a:t>
            </a:r>
            <a:endParaRPr lang="en-US" sz="1600" dirty="0"/>
          </a:p>
        </p:txBody>
      </p:sp>
      <p:sp>
        <p:nvSpPr>
          <p:cNvPr id="40" name="c5_txt_946"/>
          <p:cNvSpPr txBox="1"/>
          <p:nvPr/>
        </p:nvSpPr>
        <p:spPr>
          <a:xfrm>
            <a:off x="9811512" y="2468880"/>
            <a:ext cx="1691640" cy="731520"/>
          </a:xfrm>
          <a:prstGeom prst="rect">
            <a:avLst/>
          </a:prstGeom>
          <a:noFill/>
          <a:ln/>
        </p:spPr>
        <p:txBody>
          <a:bodyPr wrap="square" lIns="0" tIns="0" rIns="0" bIns="0" rtlCol="0" anchor="t"/>
          <a:lstStyle/>
          <a:p>
            <a:pPr indent="0" marL="0">
              <a:buNone/>
            </a:pPr>
            <a:r>
              <a:rPr lang="en-US" sz="1700" b="1" dirty="0">
                <a:solidFill>
                  <a:srgbClr val="13221D"/>
                </a:solidFill>
                <a:latin typeface="Inter" pitchFamily="34" charset="0"/>
                <a:ea typeface="Inter" pitchFamily="34" charset="-122"/>
                <a:cs typeface="Inter" pitchFamily="34" charset="-120"/>
              </a:rPr>
              <a:t>Governance</a:t>
            </a:r>
            <a:endParaRPr lang="en-US" sz="1700" dirty="0"/>
          </a:p>
        </p:txBody>
      </p:sp>
      <p:sp>
        <p:nvSpPr>
          <p:cNvPr id="41" name="c5_txt_947"/>
          <p:cNvSpPr txBox="1"/>
          <p:nvPr/>
        </p:nvSpPr>
        <p:spPr>
          <a:xfrm>
            <a:off x="9811512" y="3200400"/>
            <a:ext cx="1691640" cy="731520"/>
          </a:xfrm>
          <a:prstGeom prst="rect">
            <a:avLst/>
          </a:prstGeom>
          <a:noFill/>
          <a:ln/>
        </p:spPr>
        <p:txBody>
          <a:bodyPr wrap="square" lIns="0" tIns="0" rIns="0" bIns="0" rtlCol="0" anchor="t"/>
          <a:lstStyle/>
          <a:p>
            <a:pPr indent="0" marL="0">
              <a:buNone/>
            </a:pPr>
            <a:r>
              <a:rPr lang="en-US" sz="1400" dirty="0">
                <a:solidFill>
                  <a:srgbClr val="5E6E68"/>
                </a:solidFill>
                <a:latin typeface="Inter" pitchFamily="34" charset="0"/>
                <a:ea typeface="Inter" pitchFamily="34" charset="-122"/>
                <a:cs typeface="Inter" pitchFamily="34" charset="-120"/>
              </a:rPr>
              <a:t>Who deploys and oversees it?</a:t>
            </a:r>
            <a:endParaRPr lang="en-US" sz="1400" dirty="0"/>
          </a:p>
        </p:txBody>
      </p:sp>
      <p:sp>
        <p:nvSpPr>
          <p:cNvPr id="42" name="c6_card_948"/>
          <p:cNvSpPr/>
          <p:nvPr/>
        </p:nvSpPr>
        <p:spPr>
          <a:xfrm>
            <a:off x="548640" y="4343400"/>
            <a:ext cx="11091672" cy="1508760"/>
          </a:xfrm>
          <a:prstGeom prst="roundRect">
            <a:avLst>
              <a:gd name="adj" fmla="val 7273"/>
            </a:avLst>
          </a:prstGeom>
          <a:solidFill>
            <a:srgbClr val="0E3B2E"/>
          </a:solidFill>
          <a:ln w="12700">
            <a:solidFill>
              <a:srgbClr val="0E3B2E"/>
            </a:solidFill>
            <a:prstDash val="solid"/>
          </a:ln>
        </p:spPr>
      </p:sp>
      <p:sp>
        <p:nvSpPr>
          <p:cNvPr id="43" name="c6_txt_949"/>
          <p:cNvSpPr txBox="1"/>
          <p:nvPr/>
        </p:nvSpPr>
        <p:spPr>
          <a:xfrm>
            <a:off x="914400" y="4526280"/>
            <a:ext cx="7315200" cy="411480"/>
          </a:xfrm>
          <a:prstGeom prst="rect">
            <a:avLst/>
          </a:prstGeom>
          <a:noFill/>
          <a:ln/>
        </p:spPr>
        <p:txBody>
          <a:bodyPr wrap="square" lIns="0" tIns="0" rIns="0" bIns="0" rtlCol="0" anchor="t"/>
          <a:lstStyle/>
          <a:p>
            <a:pPr indent="0" marL="0">
              <a:buNone/>
            </a:pPr>
            <a:r>
              <a:rPr lang="en-US" sz="1600" dirty="0">
                <a:solidFill>
                  <a:srgbClr val="A9C4B8"/>
                </a:solidFill>
                <a:latin typeface="Inter" pitchFamily="34" charset="0"/>
                <a:ea typeface="Inter" pitchFamily="34" charset="-122"/>
                <a:cs typeface="Inter" pitchFamily="34" charset="-120"/>
              </a:rPr>
              <a:t>And the question before all of these:</a:t>
            </a:r>
            <a:endParaRPr lang="en-US" sz="1600" dirty="0"/>
          </a:p>
        </p:txBody>
      </p:sp>
      <p:sp>
        <p:nvSpPr>
          <p:cNvPr id="44" name="c6_txt_950"/>
          <p:cNvSpPr txBox="1"/>
          <p:nvPr/>
        </p:nvSpPr>
        <p:spPr>
          <a:xfrm>
            <a:off x="914400" y="4937760"/>
            <a:ext cx="10058400" cy="731520"/>
          </a:xfrm>
          <a:prstGeom prst="rect">
            <a:avLst/>
          </a:prstGeom>
          <a:noFill/>
          <a:ln/>
        </p:spPr>
        <p:txBody>
          <a:bodyPr wrap="square" lIns="0" tIns="0" rIns="0" bIns="0" rtlCol="0" anchor="t"/>
          <a:lstStyle/>
          <a:p>
            <a:pPr indent="0" marL="0">
              <a:buNone/>
            </a:pPr>
            <a:r>
              <a:rPr lang="en-US" sz="3000" b="1" dirty="0">
                <a:solidFill>
                  <a:srgbClr val="F2B33D"/>
                </a:solidFill>
                <a:latin typeface="Inter" pitchFamily="34" charset="0"/>
                <a:ea typeface="Inter" pitchFamily="34" charset="-122"/>
                <a:cs typeface="Inter" pitchFamily="34" charset="-120"/>
              </a:rPr>
              <a:t>Should AI be used here at all?</a:t>
            </a:r>
            <a:endParaRPr lang="en-US" sz="3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 fill="hold">
                      <p:stCondLst>
                        <p:cond delay="indefinite"/>
                      </p:stCondLst>
                      <p:childTnLst>
                        <p:par>
                          <p:cTn id="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childTnLst>
                          </p:cTn>
                        </p:par>
                      </p:childTnLst>
                    </p:cTn>
                  </p:par>
                  <p:par>
                    <p:cTn id="30" fill="hold">
                      <p:stCondLst>
                        <p:cond delay="indefinite"/>
                      </p:stCondLst>
                      <p:childTnLst>
                        <p:par>
                          <p:cTn id="29"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childTnLst>
                          </p:cTn>
                        </p:par>
                      </p:childTnLst>
                    </p:cTn>
                  </p:par>
                  <p:par>
                    <p:cTn id="44" fill="hold">
                      <p:stCondLst>
                        <p:cond delay="indefinite"/>
                      </p:stCondLst>
                      <p:childTnLst>
                        <p:par>
                          <p:cTn id="43"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40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400"/>
                                        <p:tgtEl>
                                          <p:spTgt spid="3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58" fill="hold">
                      <p:stCondLst>
                        <p:cond delay="indefinite"/>
                      </p:stCondLst>
                      <p:childTnLst>
                        <p:par>
                          <p:cTn id="57"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400"/>
                                        <p:tgtEl>
                                          <p:spTgt spid="3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400"/>
                                        <p:tgtEl>
                                          <p:spTgt spid="3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400"/>
                                        <p:tgtEl>
                                          <p:spTgt spid="37"/>
                                        </p:tgtEl>
                                      </p:cBhvr>
                                    </p:animEffect>
                                  </p:childTnLst>
                                </p:cTn>
                              </p:par>
                            </p:childTnLst>
                          </p:cTn>
                        </p:par>
                      </p:childTnLst>
                    </p:cTn>
                  </p:par>
                  <p:par>
                    <p:cTn id="72" fill="hold">
                      <p:stCondLst>
                        <p:cond delay="indefinite"/>
                      </p:stCondLst>
                      <p:childTnLst>
                        <p:par>
                          <p:cTn id="71"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8"/>
                                        </p:tgtEl>
                                        <p:attrNameLst>
                                          <p:attrName>style.visibility</p:attrName>
                                        </p:attrNameLst>
                                      </p:cBhvr>
                                      <p:to>
                                        <p:strVal val="visible"/>
                                      </p:to>
                                    </p:set>
                                    <p:animEffect transition="in" filter="fade">
                                      <p:cBhvr>
                                        <p:cTn id="61" dur="400"/>
                                        <p:tgtEl>
                                          <p:spTgt spid="3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fade">
                                      <p:cBhvr>
                                        <p:cTn id="64" dur="400"/>
                                        <p:tgtEl>
                                          <p:spTgt spid="3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fade">
                                      <p:cBhvr>
                                        <p:cTn id="67" dur="400"/>
                                        <p:tgtEl>
                                          <p:spTgt spid="4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1"/>
                                        </p:tgtEl>
                                        <p:attrNameLst>
                                          <p:attrName>style.visibility</p:attrName>
                                        </p:attrNameLst>
                                      </p:cBhvr>
                                      <p:to>
                                        <p:strVal val="visible"/>
                                      </p:to>
                                    </p:set>
                                    <p:animEffect transition="in" filter="fade">
                                      <p:cBhvr>
                                        <p:cTn id="70" dur="400"/>
                                        <p:tgtEl>
                                          <p:spTgt spid="41"/>
                                        </p:tgtEl>
                                      </p:cBhvr>
                                    </p:animEffect>
                                  </p:childTnLst>
                                </p:cTn>
                              </p:par>
                            </p:childTnLst>
                          </p:cTn>
                        </p:par>
                      </p:childTnLst>
                    </p:cTn>
                  </p:par>
                  <p:par>
                    <p:cTn id="83" fill="hold">
                      <p:stCondLst>
                        <p:cond delay="indefinite"/>
                      </p:stCondLst>
                      <p:childTnLst>
                        <p:par>
                          <p:cTn id="8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4"/>
                                        </p:tgtEl>
                                        <p:attrNameLst>
                                          <p:attrName>style.visibility</p:attrName>
                                        </p:attrNameLst>
                                      </p:cBhvr>
                                      <p:to>
                                        <p:strVal val="visible"/>
                                      </p:to>
                                    </p:set>
                                    <p:animEffect transition="in" filter="fade">
                                      <p:cBhvr>
                                        <p:cTn id="81"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Sign language as text entry</a:t>
            </a:r>
            <a:endParaRPr lang="en-US" sz="3000" dirty="0"/>
          </a:p>
        </p:txBody>
      </p:sp>
      <p:sp>
        <p:nvSpPr>
          <p:cNvPr id="3" name="time_chip_951"/>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952"/>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953"/>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954"/>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955"/>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956"/>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957"/>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958"/>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959"/>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960"/>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961"/>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962"/>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963"/>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964"/>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965"/>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966"/>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967"/>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968"/>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969"/>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970"/>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EXAMPLE 1</a:t>
            </a:r>
            <a:endParaRPr lang="en-US" sz="1100" dirty="0"/>
          </a:p>
        </p:txBody>
      </p:sp>
      <p:sp>
        <p:nvSpPr>
          <p:cNvPr id="23" name="txt_971"/>
          <p:cNvSpPr txBox="1"/>
          <p:nvPr/>
        </p:nvSpPr>
        <p:spPr>
          <a:xfrm>
            <a:off x="2103120" y="1371600"/>
            <a:ext cx="3246120" cy="310896"/>
          </a:xfrm>
          <a:prstGeom prst="rect">
            <a:avLst/>
          </a:prstGeom>
          <a:noFill/>
          <a:ln/>
        </p:spPr>
        <p:txBody>
          <a:bodyPr wrap="square" lIns="0" tIns="0" rIns="0" bIns="0" rtlCol="0" anchor="ctr"/>
          <a:lstStyle/>
          <a:p>
            <a:pPr indent="0" marL="0">
              <a:buNone/>
            </a:pPr>
            <a:r>
              <a:rPr lang="en-US" sz="1400" b="1" dirty="0">
                <a:solidFill>
                  <a:srgbClr val="1E6B4F"/>
                </a:solidFill>
                <a:latin typeface="Inter" pitchFamily="34" charset="0"/>
                <a:ea typeface="Inter" pitchFamily="34" charset="-122"/>
                <a:cs typeface="Inter" pitchFamily="34" charset="-120"/>
              </a:rPr>
              <a:t>Deaf signers</a:t>
            </a:r>
            <a:endParaRPr lang="en-US" sz="1400" dirty="0"/>
          </a:p>
        </p:txBody>
      </p:sp>
      <p:sp>
        <p:nvSpPr>
          <p:cNvPr id="24" name="c1_txt_972"/>
          <p:cNvSpPr txBox="1"/>
          <p:nvPr/>
        </p:nvSpPr>
        <p:spPr>
          <a:xfrm>
            <a:off x="548640" y="192024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THE IDEA</a:t>
            </a:r>
            <a:endParaRPr lang="en-US" sz="1200" dirty="0"/>
          </a:p>
        </p:txBody>
      </p:sp>
      <p:sp>
        <p:nvSpPr>
          <p:cNvPr id="25" name="c1_txt_973"/>
          <p:cNvSpPr txBox="1"/>
          <p:nvPr/>
        </p:nvSpPr>
        <p:spPr>
          <a:xfrm>
            <a:off x="548640" y="2231136"/>
            <a:ext cx="4480560" cy="91440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Sign wherever you would type: search, messages, voice assistants.</a:t>
            </a:r>
            <a:endParaRPr lang="en-US" sz="1600" dirty="0"/>
          </a:p>
        </p:txBody>
      </p:sp>
      <p:sp>
        <p:nvSpPr>
          <p:cNvPr id="26" name="c2_txt_974"/>
          <p:cNvSpPr txBox="1"/>
          <p:nvPr/>
        </p:nvSpPr>
        <p:spPr>
          <a:xfrm>
            <a:off x="548640" y="3218688"/>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OUR WORK</a:t>
            </a:r>
            <a:endParaRPr lang="en-US" sz="1200" dirty="0"/>
          </a:p>
        </p:txBody>
      </p:sp>
      <p:sp>
        <p:nvSpPr>
          <p:cNvPr id="27" name="c2_txt_975"/>
          <p:cNvSpPr txBox="1"/>
          <p:nvPr/>
        </p:nvSpPr>
        <p:spPr>
          <a:xfrm>
            <a:off x="548640" y="3529584"/>
            <a:ext cx="4480560" cy="91440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ASL input methods for phones (MobileHCI 2023) and the FSboard fingerspelling dataset (CVPR 2025), with Google.</a:t>
            </a:r>
            <a:endParaRPr lang="en-US" sz="1600" dirty="0"/>
          </a:p>
        </p:txBody>
      </p:sp>
      <p:sp>
        <p:nvSpPr>
          <p:cNvPr id="28" name="c3_txt_976"/>
          <p:cNvSpPr txBox="1"/>
          <p:nvPr/>
        </p:nvSpPr>
        <p:spPr>
          <a:xfrm>
            <a:off x="548640" y="4517136"/>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NOW SHIPPING</a:t>
            </a:r>
            <a:endParaRPr lang="en-US" sz="1200" dirty="0"/>
          </a:p>
        </p:txBody>
      </p:sp>
      <p:sp>
        <p:nvSpPr>
          <p:cNvPr id="29" name="c3_txt_977"/>
          <p:cNvSpPr txBox="1"/>
          <p:nvPr/>
        </p:nvSpPr>
        <p:spPr>
          <a:xfrm>
            <a:off x="548640" y="4828032"/>
            <a:ext cx="4480560" cy="91440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Google's SL2T brings ASL dictation to Gboard and Live Transcribe on Pixel 11 (August 2026).</a:t>
            </a:r>
            <a:endParaRPr lang="en-US" sz="1600" dirty="0"/>
          </a:p>
        </p:txBody>
      </p:sp>
      <p:sp>
        <p:nvSpPr>
          <p:cNvPr id="30" name="c3_txt_978"/>
          <p:cNvSpPr txBox="1"/>
          <p:nvPr/>
        </p:nvSpPr>
        <p:spPr>
          <a:xfrm>
            <a:off x="548640" y="5760720"/>
            <a:ext cx="4754880" cy="274320"/>
          </a:xfrm>
          <a:prstGeom prst="rect">
            <a:avLst/>
          </a:prstGeom>
          <a:noFill/>
          <a:ln/>
        </p:spPr>
        <p:txBody>
          <a:bodyPr wrap="square" lIns="0" tIns="0" rIns="0" bIns="0" rtlCol="0" anchor="t"/>
          <a:lstStyle/>
          <a:p>
            <a:pPr indent="0" marL="0">
              <a:buNone/>
            </a:pPr>
            <a:r>
              <a:rPr lang="en-US" sz="1100" u="sng" dirty="0">
                <a:solidFill>
                  <a:srgbClr val="1E6B4F"/>
                </a:solidFill>
                <a:latin typeface="Inter" pitchFamily="34" charset="0"/>
                <a:ea typeface="Inter" pitchFamily="34" charset="-122"/>
                <a:cs typeface="Inter" pitchFamily="34" charset="-120"/>
                <a:hlinkClick r:id="rId1" invalidUrl="" action="" tgtFrame="" tooltip="" history="1" highlightClick="0" endSnd="0">
                  <a:extLst>
                    <a:ext uri="{A12FA001-AC4F-418D-AE19-62706E023703}">
                      <ahyp:hlinkClr xmlns:ahyp="http://schemas.microsoft.com/office/drawing/2018/hyperlinkcolor" val="tx"/>
                    </a:ext>
                  </a:extLst>
                </a:hlinkClick>
              </a:rPr>
              <a:t>deepmind.google/blog/putting-sign-language-ai-into-users-hands</a:t>
            </a:r>
            <a:endParaRPr lang="en-US" sz="1100" dirty="0"/>
          </a:p>
        </p:txBody>
      </p:sp>
      <p:sp>
        <p:nvSpPr>
          <p:cNvPr id="31" name="card_979"/>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sp>
      <p:pic>
        <p:nvPicPr>
          <p:cNvPr id="32" name="img_asl_input_phones_980" descr="/home/claude/assets/asl_input_phones.png">    </p:cNvPr>
          <p:cNvPicPr>
            <a:picLocks noChangeAspect="1"/>
          </p:cNvPicPr>
          <p:nvPr/>
        </p:nvPicPr>
        <p:blipFill>
          <a:blip r:embed="rId2"/>
          <a:stretch>
            <a:fillRect/>
          </a:stretch>
        </p:blipFill>
        <p:spPr>
          <a:xfrm>
            <a:off x="5623560" y="1758163"/>
            <a:ext cx="3566160" cy="2518714"/>
          </a:xfrm>
          <a:prstGeom prst="rect">
            <a:avLst/>
          </a:prstGeom>
          <a:effectLst>
            <a:outerShdw sx="100000" sy="100000" kx="0" ky="0" algn="bl" rotWithShape="0" blurRad="101600" dist="25400" dir="5400000">
              <a:srgbClr val="000000">
                <a:alpha val="18000"/>
              </a:srgbClr>
            </a:outerShdw>
          </a:effectLst>
        </p:spPr>
      </p:pic>
      <p:pic>
        <p:nvPicPr>
          <p:cNvPr id="33" name="img_fsboard_signers_981" descr="/home/claude/assets/fsboard_signers.png">    </p:cNvPr>
          <p:cNvPicPr>
            <a:picLocks noChangeAspect="1"/>
          </p:cNvPicPr>
          <p:nvPr/>
        </p:nvPicPr>
        <p:blipFill>
          <a:blip r:embed="rId3"/>
          <a:stretch>
            <a:fillRect/>
          </a:stretch>
        </p:blipFill>
        <p:spPr>
          <a:xfrm>
            <a:off x="9589711" y="1554480"/>
            <a:ext cx="1650609" cy="2926080"/>
          </a:xfrm>
          <a:prstGeom prst="rect">
            <a:avLst/>
          </a:prstGeom>
          <a:effectLst>
            <a:outerShdw sx="100000" sy="100000" kx="0" ky="0" algn="bl" rotWithShape="0" blurRad="101600" dist="25400" dir="5400000">
              <a:srgbClr val="000000">
                <a:alpha val="18000"/>
              </a:srgbClr>
            </a:outerShdw>
          </a:effectLst>
        </p:spPr>
      </p:pic>
      <p:sp>
        <p:nvSpPr>
          <p:cNvPr id="34" name="c4_card_982"/>
          <p:cNvSpPr/>
          <p:nvPr/>
        </p:nvSpPr>
        <p:spPr>
          <a:xfrm>
            <a:off x="5623560" y="4663440"/>
            <a:ext cx="5833872" cy="1188720"/>
          </a:xfrm>
          <a:prstGeom prst="roundRect">
            <a:avLst>
              <a:gd name="adj" fmla="val 9231"/>
            </a:avLst>
          </a:prstGeom>
          <a:solidFill>
            <a:srgbClr val="0E3B2E"/>
          </a:solidFill>
          <a:ln w="12700">
            <a:solidFill>
              <a:srgbClr val="0E3B2E"/>
            </a:solidFill>
            <a:prstDash val="solid"/>
          </a:ln>
        </p:spPr>
      </p:sp>
      <p:sp>
        <p:nvSpPr>
          <p:cNvPr id="35" name="c4_txt_983"/>
          <p:cNvSpPr txBox="1"/>
          <p:nvPr/>
        </p:nvSpPr>
        <p:spPr>
          <a:xfrm>
            <a:off x="5852160" y="4736592"/>
            <a:ext cx="5394960" cy="68580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“We believe in building with the Deaf community, not just for it.”</a:t>
            </a:r>
            <a:endParaRPr lang="en-US" sz="1600" dirty="0"/>
          </a:p>
        </p:txBody>
      </p:sp>
      <p:sp>
        <p:nvSpPr>
          <p:cNvPr id="36" name="c4_txt_984"/>
          <p:cNvSpPr txBox="1"/>
          <p:nvPr/>
        </p:nvSpPr>
        <p:spPr>
          <a:xfrm>
            <a:off x="5852160" y="5422392"/>
            <a:ext cx="5394960" cy="320040"/>
          </a:xfrm>
          <a:prstGeom prst="rect">
            <a:avLst/>
          </a:prstGeom>
          <a:noFill/>
          <a:ln/>
        </p:spPr>
        <p:txBody>
          <a:bodyPr wrap="square" lIns="0" tIns="0" rIns="0" bIns="0" rtlCol="0" anchor="t"/>
          <a:lstStyle/>
          <a:p>
            <a:pPr indent="0" marL="0">
              <a:buNone/>
            </a:pPr>
            <a:r>
              <a:rPr lang="en-US" sz="1100" dirty="0">
                <a:solidFill>
                  <a:srgbClr val="A9C4B8"/>
                </a:solidFill>
                <a:latin typeface="Inter" pitchFamily="34" charset="0"/>
                <a:ea typeface="Inter" pitchFamily="34" charset="-122"/>
                <a:cs typeface="Inter" pitchFamily="34" charset="-120"/>
              </a:rPr>
              <a:t>Google DeepMind, August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29" fill="hold">
                      <p:stCondLst>
                        <p:cond delay="indefinite"/>
                      </p:stCondLst>
                      <p:childTnLst>
                        <p:par>
                          <p:cTn id="2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40" fill="hold">
                      <p:stCondLst>
                        <p:cond delay="indefinite"/>
                      </p:stCondLst>
                      <p:childTnLst>
                        <p:par>
                          <p:cTn id="3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4" grpId="0" animBg="1"/>
      <p:bldP spid="35" grpId="0" animBg="1"/>
      <p:bldP spid="36"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Sign language learning</a:t>
            </a:r>
            <a:endParaRPr lang="en-US" sz="3000" dirty="0"/>
          </a:p>
        </p:txBody>
      </p:sp>
      <p:sp>
        <p:nvSpPr>
          <p:cNvPr id="3" name="time_chip_98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986"/>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987"/>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988"/>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989"/>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990"/>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991"/>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992"/>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993"/>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994"/>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995"/>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996"/>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997"/>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998"/>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999"/>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000"/>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1001"/>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002"/>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1003"/>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1004"/>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EXAMPLE 2</a:t>
            </a:r>
            <a:endParaRPr lang="en-US" sz="1100" dirty="0"/>
          </a:p>
        </p:txBody>
      </p:sp>
      <p:sp>
        <p:nvSpPr>
          <p:cNvPr id="23" name="txt_1005"/>
          <p:cNvSpPr txBox="1"/>
          <p:nvPr/>
        </p:nvSpPr>
        <p:spPr>
          <a:xfrm>
            <a:off x="548640" y="1783080"/>
            <a:ext cx="11064240" cy="731520"/>
          </a:xfrm>
          <a:prstGeom prst="rect">
            <a:avLst/>
          </a:prstGeom>
          <a:noFill/>
          <a:ln/>
        </p:spPr>
        <p:txBody>
          <a:bodyPr wrap="square" lIns="0" tIns="0" rIns="0" bIns="0" rtlCol="0" anchor="t"/>
          <a:lstStyle/>
          <a:p>
            <a:pPr indent="0" marL="0">
              <a:buNone/>
            </a:pPr>
            <a:r>
              <a:rPr lang="en-US" sz="2000" b="1" dirty="0">
                <a:solidFill>
                  <a:srgbClr val="13221D"/>
                </a:solidFill>
                <a:latin typeface="Inter" pitchFamily="34" charset="0"/>
                <a:ea typeface="Inter" pitchFamily="34" charset="-122"/>
                <a:cs typeface="Inter" pitchFamily="34" charset="-120"/>
              </a:rPr>
              <a:t>Supporting a disability community means supporting the people with disabilities and the people around them.</a:t>
            </a:r>
            <a:endParaRPr lang="en-US" sz="2000" dirty="0"/>
          </a:p>
        </p:txBody>
      </p:sp>
      <p:sp>
        <p:nvSpPr>
          <p:cNvPr id="24" name="c1_card_1006"/>
          <p:cNvSpPr/>
          <p:nvPr/>
        </p:nvSpPr>
        <p:spPr>
          <a:xfrm>
            <a:off x="548640" y="2697480"/>
            <a:ext cx="3520440" cy="3337560"/>
          </a:xfrm>
          <a:prstGeom prst="roundRect">
            <a:avLst>
              <a:gd name="adj" fmla="val 3288"/>
            </a:avLst>
          </a:prstGeom>
          <a:solidFill>
            <a:srgbClr val="E8F2ED"/>
          </a:solidFill>
          <a:ln w="12700">
            <a:solidFill>
              <a:srgbClr val="E8F2ED"/>
            </a:solidFill>
            <a:prstDash val="solid"/>
          </a:ln>
        </p:spPr>
      </p:sp>
      <p:sp>
        <p:nvSpPr>
          <p:cNvPr id="25" name="c1_card_1007"/>
          <p:cNvSpPr/>
          <p:nvPr/>
        </p:nvSpPr>
        <p:spPr>
          <a:xfrm>
            <a:off x="731520" y="2880360"/>
            <a:ext cx="3154680" cy="1874520"/>
          </a:xfrm>
          <a:prstGeom prst="roundRect">
            <a:avLst>
              <a:gd name="adj" fmla="val 5854"/>
            </a:avLst>
          </a:prstGeom>
          <a:solidFill>
            <a:srgbClr val="FFFFFF"/>
          </a:solidFill>
          <a:ln w="12700">
            <a:solidFill>
              <a:srgbClr val="FFFFFF"/>
            </a:solidFill>
            <a:prstDash val="solid"/>
          </a:ln>
        </p:spPr>
      </p:sp>
      <p:pic>
        <p:nvPicPr>
          <p:cNvPr id="26" name="c1_img_asl_family_1008" descr="/home/claude/assets/asl_family.jpg">    </p:cNvPr>
          <p:cNvPicPr>
            <a:picLocks noChangeAspect="1"/>
          </p:cNvPicPr>
          <p:nvPr/>
        </p:nvPicPr>
        <p:blipFill>
          <a:blip r:embed="rId1"/>
          <a:stretch>
            <a:fillRect/>
          </a:stretch>
        </p:blipFill>
        <p:spPr>
          <a:xfrm>
            <a:off x="971968" y="2926080"/>
            <a:ext cx="2673784" cy="1783080"/>
          </a:xfrm>
          <a:prstGeom prst="rect">
            <a:avLst/>
          </a:prstGeom>
        </p:spPr>
      </p:pic>
      <p:sp>
        <p:nvSpPr>
          <p:cNvPr id="27" name="c1_txt_1009"/>
          <p:cNvSpPr txBox="1"/>
          <p:nvPr/>
        </p:nvSpPr>
        <p:spPr>
          <a:xfrm>
            <a:off x="777240" y="4892040"/>
            <a:ext cx="3063240" cy="365760"/>
          </a:xfrm>
          <a:prstGeom prst="rect">
            <a:avLst/>
          </a:prstGeom>
          <a:noFill/>
          <a:ln/>
        </p:spPr>
        <p:txBody>
          <a:bodyPr wrap="square" lIns="0" tIns="0" rIns="0" bIns="0" rtlCol="0" anchor="t"/>
          <a:lstStyle/>
          <a:p>
            <a:pPr indent="0" marL="0">
              <a:buNone/>
            </a:pPr>
            <a:r>
              <a:rPr lang="en-US" sz="1700" b="1" dirty="0">
                <a:solidFill>
                  <a:srgbClr val="1E6B4F"/>
                </a:solidFill>
                <a:latin typeface="Inter" pitchFamily="34" charset="0"/>
                <a:ea typeface="Inter" pitchFamily="34" charset="-122"/>
                <a:cs typeface="Inter" pitchFamily="34" charset="-120"/>
              </a:rPr>
              <a:t>Hearing parents</a:t>
            </a:r>
            <a:endParaRPr lang="en-US" sz="1700" dirty="0"/>
          </a:p>
        </p:txBody>
      </p:sp>
      <p:sp>
        <p:nvSpPr>
          <p:cNvPr id="28" name="c1_txt_1010"/>
          <p:cNvSpPr txBox="1"/>
          <p:nvPr/>
        </p:nvSpPr>
        <p:spPr>
          <a:xfrm>
            <a:off x="777240" y="5257800"/>
            <a:ext cx="3063240" cy="685800"/>
          </a:xfrm>
          <a:prstGeom prst="rect">
            <a:avLst/>
          </a:prstGeom>
          <a:noFill/>
          <a:ln/>
        </p:spPr>
        <p:txBody>
          <a:bodyPr wrap="square" lIns="0" tIns="0" rIns="0" bIns="0" rtlCol="0" anchor="t"/>
          <a:lstStyle/>
          <a:p>
            <a:pPr indent="0" marL="0">
              <a:buNone/>
            </a:pPr>
            <a:r>
              <a:rPr lang="en-US" sz="1400" dirty="0">
                <a:solidFill>
                  <a:srgbClr val="13221D"/>
                </a:solidFill>
                <a:latin typeface="Inter" pitchFamily="34" charset="0"/>
                <a:ea typeface="Inter" pitchFamily="34" charset="-122"/>
                <a:cs typeface="Inter" pitchFamily="34" charset="-120"/>
              </a:rPr>
              <a:t>Learning to sign with their Deaf children</a:t>
            </a:r>
            <a:endParaRPr lang="en-US" sz="1400" dirty="0"/>
          </a:p>
        </p:txBody>
      </p:sp>
      <p:sp>
        <p:nvSpPr>
          <p:cNvPr id="29" name="c2_card_1011"/>
          <p:cNvSpPr/>
          <p:nvPr/>
        </p:nvSpPr>
        <p:spPr>
          <a:xfrm>
            <a:off x="4297680" y="2697480"/>
            <a:ext cx="3520440" cy="3337560"/>
          </a:xfrm>
          <a:prstGeom prst="roundRect">
            <a:avLst>
              <a:gd name="adj" fmla="val 3288"/>
            </a:avLst>
          </a:prstGeom>
          <a:solidFill>
            <a:srgbClr val="E8F2ED"/>
          </a:solidFill>
          <a:ln w="12700">
            <a:solidFill>
              <a:srgbClr val="E8F2ED"/>
            </a:solidFill>
            <a:prstDash val="solid"/>
          </a:ln>
        </p:spPr>
      </p:sp>
      <p:sp>
        <p:nvSpPr>
          <p:cNvPr id="30" name="c2_card_1012"/>
          <p:cNvSpPr/>
          <p:nvPr/>
        </p:nvSpPr>
        <p:spPr>
          <a:xfrm>
            <a:off x="4480560" y="2880360"/>
            <a:ext cx="3154680" cy="1874520"/>
          </a:xfrm>
          <a:prstGeom prst="roundRect">
            <a:avLst>
              <a:gd name="adj" fmla="val 5854"/>
            </a:avLst>
          </a:prstGeom>
          <a:solidFill>
            <a:srgbClr val="FFFFFF"/>
          </a:solidFill>
          <a:ln w="12700">
            <a:solidFill>
              <a:srgbClr val="FFFFFF"/>
            </a:solidFill>
            <a:prstDash val="solid"/>
          </a:ln>
        </p:spPr>
      </p:sp>
      <p:pic>
        <p:nvPicPr>
          <p:cNvPr id="31" name="c2_img_asl_lookup_demo_1013" descr="/home/claude/assets/asl_lookup_demo.jpg">    </p:cNvPr>
          <p:cNvPicPr>
            <a:picLocks noChangeAspect="1"/>
          </p:cNvPicPr>
          <p:nvPr/>
        </p:nvPicPr>
        <p:blipFill>
          <a:blip r:embed="rId2"/>
          <a:stretch>
            <a:fillRect/>
          </a:stretch>
        </p:blipFill>
        <p:spPr>
          <a:xfrm>
            <a:off x="4607643" y="2926080"/>
            <a:ext cx="2900515" cy="1783080"/>
          </a:xfrm>
          <a:prstGeom prst="rect">
            <a:avLst/>
          </a:prstGeom>
        </p:spPr>
      </p:pic>
      <p:sp>
        <p:nvSpPr>
          <p:cNvPr id="32" name="c2_txt_1014"/>
          <p:cNvSpPr txBox="1"/>
          <p:nvPr/>
        </p:nvSpPr>
        <p:spPr>
          <a:xfrm>
            <a:off x="4526280" y="4892040"/>
            <a:ext cx="3063240" cy="365760"/>
          </a:xfrm>
          <a:prstGeom prst="rect">
            <a:avLst/>
          </a:prstGeom>
          <a:noFill/>
          <a:ln/>
        </p:spPr>
        <p:txBody>
          <a:bodyPr wrap="square" lIns="0" tIns="0" rIns="0" bIns="0" rtlCol="0" anchor="t"/>
          <a:lstStyle/>
          <a:p>
            <a:pPr indent="0" marL="0">
              <a:buNone/>
            </a:pPr>
            <a:r>
              <a:rPr lang="en-US" sz="1700" b="1" dirty="0">
                <a:solidFill>
                  <a:srgbClr val="1E6B4F"/>
                </a:solidFill>
                <a:latin typeface="Inter" pitchFamily="34" charset="0"/>
                <a:ea typeface="Inter" pitchFamily="34" charset="-122"/>
                <a:cs typeface="Inter" pitchFamily="34" charset="-120"/>
              </a:rPr>
              <a:t>New signers</a:t>
            </a:r>
            <a:endParaRPr lang="en-US" sz="1700" dirty="0"/>
          </a:p>
        </p:txBody>
      </p:sp>
      <p:sp>
        <p:nvSpPr>
          <p:cNvPr id="33" name="c2_txt_1015"/>
          <p:cNvSpPr txBox="1"/>
          <p:nvPr/>
        </p:nvSpPr>
        <p:spPr>
          <a:xfrm>
            <a:off x="4526280" y="5257800"/>
            <a:ext cx="3063240" cy="685800"/>
          </a:xfrm>
          <a:prstGeom prst="rect">
            <a:avLst/>
          </a:prstGeom>
          <a:noFill/>
          <a:ln/>
        </p:spPr>
        <p:txBody>
          <a:bodyPr wrap="square" lIns="0" tIns="0" rIns="0" bIns="0" rtlCol="0" anchor="t"/>
          <a:lstStyle/>
          <a:p>
            <a:pPr indent="0" marL="0">
              <a:buNone/>
            </a:pPr>
            <a:r>
              <a:rPr lang="en-US" sz="1400" dirty="0">
                <a:solidFill>
                  <a:srgbClr val="13221D"/>
                </a:solidFill>
                <a:latin typeface="Inter" pitchFamily="34" charset="0"/>
                <a:ea typeface="Inter" pitchFamily="34" charset="-122"/>
                <a:cs typeface="Inter" pitchFamily="34" charset="-120"/>
              </a:rPr>
              <a:t>Looking up unfamiliar signs by video (CHI 2022, ASSETS 2022)</a:t>
            </a:r>
            <a:endParaRPr lang="en-US" sz="1400" dirty="0"/>
          </a:p>
        </p:txBody>
      </p:sp>
      <p:sp>
        <p:nvSpPr>
          <p:cNvPr id="34" name="c3_card_1016"/>
          <p:cNvSpPr/>
          <p:nvPr/>
        </p:nvSpPr>
        <p:spPr>
          <a:xfrm>
            <a:off x="8046720" y="2697480"/>
            <a:ext cx="3520440" cy="3337560"/>
          </a:xfrm>
          <a:prstGeom prst="roundRect">
            <a:avLst>
              <a:gd name="adj" fmla="val 3288"/>
            </a:avLst>
          </a:prstGeom>
          <a:solidFill>
            <a:srgbClr val="E8F2ED"/>
          </a:solidFill>
          <a:ln w="12700">
            <a:solidFill>
              <a:srgbClr val="E8F2ED"/>
            </a:solidFill>
            <a:prstDash val="solid"/>
          </a:ln>
        </p:spPr>
      </p:sp>
      <p:sp>
        <p:nvSpPr>
          <p:cNvPr id="35" name="c3_card_1017"/>
          <p:cNvSpPr/>
          <p:nvPr/>
        </p:nvSpPr>
        <p:spPr>
          <a:xfrm>
            <a:off x="8229600" y="2880360"/>
            <a:ext cx="3154680" cy="1874520"/>
          </a:xfrm>
          <a:prstGeom prst="roundRect">
            <a:avLst>
              <a:gd name="adj" fmla="val 5854"/>
            </a:avLst>
          </a:prstGeom>
          <a:solidFill>
            <a:srgbClr val="FFFFFF"/>
          </a:solidFill>
          <a:ln w="12700">
            <a:solidFill>
              <a:srgbClr val="FFFFFF"/>
            </a:solidFill>
            <a:prstDash val="solid"/>
          </a:ln>
        </p:spPr>
      </p:sp>
      <p:pic>
        <p:nvPicPr>
          <p:cNvPr id="36" name="c3_img_med_clinic_1018" descr="/home/claude/assets/med_clinic.jpg">    </p:cNvPr>
          <p:cNvPicPr>
            <a:picLocks noChangeAspect="1"/>
          </p:cNvPicPr>
          <p:nvPr/>
        </p:nvPicPr>
        <p:blipFill>
          <a:blip r:embed="rId3"/>
          <a:stretch>
            <a:fillRect/>
          </a:stretch>
        </p:blipFill>
        <p:spPr>
          <a:xfrm>
            <a:off x="8275320" y="2956084"/>
            <a:ext cx="3063240" cy="1723073"/>
          </a:xfrm>
          <a:prstGeom prst="rect">
            <a:avLst/>
          </a:prstGeom>
        </p:spPr>
      </p:pic>
      <p:sp>
        <p:nvSpPr>
          <p:cNvPr id="37" name="c3_txt_1019"/>
          <p:cNvSpPr txBox="1"/>
          <p:nvPr/>
        </p:nvSpPr>
        <p:spPr>
          <a:xfrm>
            <a:off x="8275320" y="4892040"/>
            <a:ext cx="3063240" cy="365760"/>
          </a:xfrm>
          <a:prstGeom prst="rect">
            <a:avLst/>
          </a:prstGeom>
          <a:noFill/>
          <a:ln/>
        </p:spPr>
        <p:txBody>
          <a:bodyPr wrap="square" lIns="0" tIns="0" rIns="0" bIns="0" rtlCol="0" anchor="t"/>
          <a:lstStyle/>
          <a:p>
            <a:pPr indent="0" marL="0">
              <a:buNone/>
            </a:pPr>
            <a:r>
              <a:rPr lang="en-US" sz="1700" b="1" dirty="0">
                <a:solidFill>
                  <a:srgbClr val="1E6B4F"/>
                </a:solidFill>
                <a:latin typeface="Inter" pitchFamily="34" charset="0"/>
                <a:ea typeface="Inter" pitchFamily="34" charset="-122"/>
                <a:cs typeface="Inter" pitchFamily="34" charset="-120"/>
              </a:rPr>
              <a:t>Healthcare providers</a:t>
            </a:r>
            <a:endParaRPr lang="en-US" sz="1700" dirty="0"/>
          </a:p>
        </p:txBody>
      </p:sp>
      <p:sp>
        <p:nvSpPr>
          <p:cNvPr id="38" name="c3_txt_1020"/>
          <p:cNvSpPr txBox="1"/>
          <p:nvPr/>
        </p:nvSpPr>
        <p:spPr>
          <a:xfrm>
            <a:off x="8275320" y="5257800"/>
            <a:ext cx="3063240" cy="685800"/>
          </a:xfrm>
          <a:prstGeom prst="rect">
            <a:avLst/>
          </a:prstGeom>
          <a:noFill/>
          <a:ln/>
        </p:spPr>
        <p:txBody>
          <a:bodyPr wrap="square" lIns="0" tIns="0" rIns="0" bIns="0" rtlCol="0" anchor="t"/>
          <a:lstStyle/>
          <a:p>
            <a:pPr indent="0" marL="0">
              <a:buNone/>
            </a:pPr>
            <a:r>
              <a:rPr lang="en-US" sz="1400" dirty="0">
                <a:solidFill>
                  <a:srgbClr val="13221D"/>
                </a:solidFill>
                <a:latin typeface="Inter" pitchFamily="34" charset="0"/>
                <a:ea typeface="Inter" pitchFamily="34" charset="-122"/>
                <a:cs typeface="Inter" pitchFamily="34" charset="-120"/>
              </a:rPr>
              <a:t>Communicating with Deaf patients (ASSETS 2025)</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1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400"/>
                                        <p:tgtEl>
                                          <p:spTgt spid="2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400"/>
                                        <p:tgtEl>
                                          <p:spTgt spid="2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36" fill="hold">
                      <p:stCondLst>
                        <p:cond delay="indefinite"/>
                      </p:stCondLst>
                      <p:childTnLst>
                        <p:par>
                          <p:cTn id="35"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400"/>
                                        <p:tgtEl>
                                          <p:spTgt spid="3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fade">
                                      <p:cBhvr>
                                        <p:cTn id="31" dur="400"/>
                                        <p:tgtEl>
                                          <p:spTgt spid="3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400"/>
                                        <p:tgtEl>
                                          <p:spTgt spid="33"/>
                                        </p:tgtEl>
                                      </p:cBhvr>
                                    </p:animEffect>
                                  </p:childTnLst>
                                </p:cTn>
                              </p:par>
                            </p:childTnLst>
                          </p:cTn>
                        </p:par>
                      </p:childTnLst>
                    </p:cTn>
                  </p:par>
                  <p:par>
                    <p:cTn id="53" fill="hold">
                      <p:stCondLst>
                        <p:cond delay="indefinite"/>
                      </p:stCondLst>
                      <p:childTnLst>
                        <p:par>
                          <p:cTn id="52"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7" grpId="0" animBg="1"/>
      <p:bldP spid="28" grpId="0" animBg="1"/>
      <p:bldP spid="29" grpId="0" animBg="1"/>
      <p:bldP spid="30" grpId="0" animBg="1"/>
      <p:bldP spid="32" grpId="0" animBg="1"/>
      <p:bldP spid="33" grpId="0" animBg="1"/>
      <p:bldP spid="34" grpId="0" animBg="1"/>
      <p:bldP spid="35" grpId="0" animBg="1"/>
      <p:bldP spid="37" grpId="0" animBg="1"/>
      <p:bldP spid="3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Captions that carry emotion</a:t>
            </a:r>
            <a:endParaRPr lang="en-US" sz="3000" dirty="0"/>
          </a:p>
        </p:txBody>
      </p:sp>
      <p:sp>
        <p:nvSpPr>
          <p:cNvPr id="3" name="time_chip_1021"/>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1022"/>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1023"/>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1024"/>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1025"/>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1026"/>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1027"/>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1028"/>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1029"/>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1030"/>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1031"/>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1032"/>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1033"/>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034"/>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1035"/>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036"/>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1037"/>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038"/>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1039"/>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1040"/>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EXAMPLE 3</a:t>
            </a:r>
            <a:endParaRPr lang="en-US" sz="1100" dirty="0"/>
          </a:p>
        </p:txBody>
      </p:sp>
      <p:sp>
        <p:nvSpPr>
          <p:cNvPr id="23" name="txt_1041"/>
          <p:cNvSpPr txBox="1"/>
          <p:nvPr/>
        </p:nvSpPr>
        <p:spPr>
          <a:xfrm>
            <a:off x="2103120" y="1371600"/>
            <a:ext cx="3246120" cy="310896"/>
          </a:xfrm>
          <a:prstGeom prst="rect">
            <a:avLst/>
          </a:prstGeom>
          <a:noFill/>
          <a:ln/>
        </p:spPr>
        <p:txBody>
          <a:bodyPr wrap="square" lIns="0" tIns="0" rIns="0" bIns="0" rtlCol="0" anchor="ctr"/>
          <a:lstStyle/>
          <a:p>
            <a:pPr indent="0" marL="0">
              <a:buNone/>
            </a:pPr>
            <a:r>
              <a:rPr lang="en-US" sz="1400" b="1" dirty="0">
                <a:solidFill>
                  <a:srgbClr val="1E6B4F"/>
                </a:solidFill>
                <a:latin typeface="Inter" pitchFamily="34" charset="0"/>
                <a:ea typeface="Inter" pitchFamily="34" charset="-122"/>
                <a:cs typeface="Inter" pitchFamily="34" charset="-120"/>
              </a:rPr>
              <a:t>Deaf &amp; hard-of-hearing viewers</a:t>
            </a:r>
            <a:endParaRPr lang="en-US" sz="1400" dirty="0"/>
          </a:p>
        </p:txBody>
      </p:sp>
      <p:sp>
        <p:nvSpPr>
          <p:cNvPr id="24" name="c1_txt_1042"/>
          <p:cNvSpPr txBox="1"/>
          <p:nvPr/>
        </p:nvSpPr>
        <p:spPr>
          <a:xfrm>
            <a:off x="548640" y="196596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THE CHALLENGE</a:t>
            </a:r>
            <a:endParaRPr lang="en-US" sz="1200" dirty="0"/>
          </a:p>
        </p:txBody>
      </p:sp>
      <p:sp>
        <p:nvSpPr>
          <p:cNvPr id="25" name="c1_txt_1043"/>
          <p:cNvSpPr txBox="1"/>
          <p:nvPr/>
        </p:nvSpPr>
        <p:spPr>
          <a:xfrm>
            <a:off x="548640" y="227685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Captions drop tone of voice: how something is said, not just what.</a:t>
            </a:r>
            <a:endParaRPr lang="en-US" sz="1700" dirty="0"/>
          </a:p>
        </p:txBody>
      </p:sp>
      <p:sp>
        <p:nvSpPr>
          <p:cNvPr id="26" name="c2_txt_1044"/>
          <p:cNvSpPr txBox="1"/>
          <p:nvPr/>
        </p:nvSpPr>
        <p:spPr>
          <a:xfrm>
            <a:off x="548640" y="329184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HOW IT WORKS</a:t>
            </a:r>
            <a:endParaRPr lang="en-US" sz="1200" dirty="0"/>
          </a:p>
        </p:txBody>
      </p:sp>
      <p:sp>
        <p:nvSpPr>
          <p:cNvPr id="27" name="c2_txt_1045"/>
          <p:cNvSpPr txBox="1"/>
          <p:nvPr/>
        </p:nvSpPr>
        <p:spPr>
          <a:xfrm>
            <a:off x="548640" y="360273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Slice speech word by word, estimate the emotion of each word, and show it in the caption or as vibration.</a:t>
            </a:r>
            <a:endParaRPr lang="en-US" sz="1700" dirty="0"/>
          </a:p>
        </p:txBody>
      </p:sp>
      <p:sp>
        <p:nvSpPr>
          <p:cNvPr id="28" name="c3_txt_1046"/>
          <p:cNvSpPr txBox="1"/>
          <p:nvPr/>
        </p:nvSpPr>
        <p:spPr>
          <a:xfrm>
            <a:off x="548640" y="4617720"/>
            <a:ext cx="4480560" cy="292608"/>
          </a:xfrm>
          <a:prstGeom prst="rect">
            <a:avLst/>
          </a:prstGeom>
          <a:noFill/>
          <a:ln/>
        </p:spPr>
        <p:txBody>
          <a:bodyPr wrap="square" lIns="0" tIns="0" rIns="0" bIns="0" rtlCol="0" anchor="t"/>
          <a:lstStyle/>
          <a:p>
            <a:pPr indent="0" marL="0">
              <a:buNone/>
            </a:pPr>
            <a:r>
              <a:rPr lang="en-US" sz="1200" b="1" spc="150" kern="0" dirty="0">
                <a:solidFill>
                  <a:srgbClr val="5E6E68"/>
                </a:solidFill>
                <a:latin typeface="Inter" pitchFamily="34" charset="0"/>
                <a:ea typeface="Inter" pitchFamily="34" charset="-122"/>
                <a:cs typeface="Inter" pitchFamily="34" charset="-120"/>
              </a:rPr>
              <a:t>PUBLISHED</a:t>
            </a:r>
            <a:endParaRPr lang="en-US" sz="1200" dirty="0"/>
          </a:p>
        </p:txBody>
      </p:sp>
      <p:sp>
        <p:nvSpPr>
          <p:cNvPr id="29" name="c3_txt_1047"/>
          <p:cNvSpPr txBox="1"/>
          <p:nvPr/>
        </p:nvSpPr>
        <p:spPr>
          <a:xfrm>
            <a:off x="548640" y="4928616"/>
            <a:ext cx="4480560" cy="914400"/>
          </a:xfrm>
          <a:prstGeom prst="rect">
            <a:avLst/>
          </a:prstGeom>
          <a:noFill/>
          <a:ln/>
        </p:spPr>
        <p:txBody>
          <a:bodyPr wrap="square" lIns="0" tIns="0" rIns="0" bIns="0" rtlCol="0" anchor="t"/>
          <a:lstStyle/>
          <a:p>
            <a:pPr indent="0" marL="0">
              <a:buNone/>
            </a:pPr>
            <a:r>
              <a:rPr lang="en-US" sz="1700" dirty="0">
                <a:solidFill>
                  <a:srgbClr val="13221D"/>
                </a:solidFill>
                <a:latin typeface="Inter" pitchFamily="34" charset="0"/>
                <a:ea typeface="Inter" pitchFamily="34" charset="-122"/>
                <a:cs typeface="Inter" pitchFamily="34" charset="-120"/>
              </a:rPr>
              <a:t>CHI 2024 (Honorable Mention), ASSETS 2024, CHI 2025</a:t>
            </a:r>
            <a:endParaRPr lang="en-US" sz="1700" dirty="0"/>
          </a:p>
        </p:txBody>
      </p:sp>
      <p:sp>
        <p:nvSpPr>
          <p:cNvPr id="30" name="card_1048"/>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sp>
      <p:pic>
        <p:nvPicPr>
          <p:cNvPr id="31" name="img_audio_slicing_1049" descr="/home/claude/assets/audio_slicing.png">    </p:cNvPr>
          <p:cNvPicPr>
            <a:picLocks noChangeAspect="1"/>
          </p:cNvPicPr>
          <p:nvPr/>
        </p:nvPicPr>
        <p:blipFill>
          <a:blip r:embed="rId1"/>
          <a:stretch>
            <a:fillRect/>
          </a:stretch>
        </p:blipFill>
        <p:spPr>
          <a:xfrm>
            <a:off x="5969420" y="1554480"/>
            <a:ext cx="5142151" cy="2578608"/>
          </a:xfrm>
          <a:prstGeom prst="rect">
            <a:avLst/>
          </a:prstGeom>
          <a:effectLst>
            <a:outerShdw sx="100000" sy="100000" kx="0" ky="0" algn="bl" rotWithShape="0" blurRad="101600" dist="25400" dir="5400000">
              <a:srgbClr val="000000">
                <a:alpha val="18000"/>
              </a:srgbClr>
            </a:outerShdw>
          </a:effectLst>
        </p:spPr>
      </p:pic>
      <p:pic>
        <p:nvPicPr>
          <p:cNvPr id="32" name="img_haptic_setup_1050" descr="/home/claude/assets/haptic_setup.jpg">    </p:cNvPr>
          <p:cNvPicPr>
            <a:picLocks noChangeAspect="1"/>
          </p:cNvPicPr>
          <p:nvPr/>
        </p:nvPicPr>
        <p:blipFill>
          <a:blip r:embed="rId2"/>
          <a:stretch>
            <a:fillRect/>
          </a:stretch>
        </p:blipFill>
        <p:spPr>
          <a:xfrm>
            <a:off x="5713920" y="4304995"/>
            <a:ext cx="2619538" cy="1547165"/>
          </a:xfrm>
          <a:prstGeom prst="rect">
            <a:avLst/>
          </a:prstGeom>
          <a:effectLst>
            <a:outerShdw sx="100000" sy="100000" kx="0" ky="0" algn="bl" rotWithShape="0" blurRad="101600" dist="25400" dir="5400000">
              <a:srgbClr val="000000">
                <a:alpha val="18000"/>
              </a:srgbClr>
            </a:outerShdw>
          </a:effectLst>
        </p:spPr>
      </p:pic>
      <p:pic>
        <p:nvPicPr>
          <p:cNvPr id="33" name="img_rich_captions_1051" descr="/home/claude/assets/rich_captions.png">    </p:cNvPr>
          <p:cNvPicPr>
            <a:picLocks noChangeAspect="1"/>
          </p:cNvPicPr>
          <p:nvPr/>
        </p:nvPicPr>
        <p:blipFill>
          <a:blip r:embed="rId3"/>
          <a:stretch>
            <a:fillRect/>
          </a:stretch>
        </p:blipFill>
        <p:spPr>
          <a:xfrm>
            <a:off x="8657173" y="4396377"/>
            <a:ext cx="2800259" cy="1364400"/>
          </a:xfrm>
          <a:prstGeom prst="rect">
            <a:avLst/>
          </a:prstGeom>
          <a:effectLst>
            <a:outerShdw sx="100000" sy="100000" kx="0" ky="0" algn="bl" rotWithShape="0" blurRad="101600" dist="25400" dir="540000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26" fill="hold">
                      <p:stCondLst>
                        <p:cond delay="indefinite"/>
                      </p:stCondLst>
                      <p:childTnLst>
                        <p:par>
                          <p:cTn id="25"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Civic AI with community organizations</a:t>
            </a:r>
            <a:endParaRPr lang="en-US" sz="3000" dirty="0"/>
          </a:p>
        </p:txBody>
      </p:sp>
      <p:sp>
        <p:nvSpPr>
          <p:cNvPr id="3" name="time_chip_105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9:25 – 9:40  ·  15 min</a:t>
            </a:r>
            <a:endParaRPr lang="en-US" sz="1400" dirty="0"/>
          </a:p>
        </p:txBody>
      </p:sp>
      <p:sp>
        <p:nvSpPr>
          <p:cNvPr id="4" name="prog_welcome_1053"/>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1054"/>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1055"/>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1056"/>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1057"/>
          <p:cNvSpPr/>
          <p:nvPr/>
        </p:nvSpPr>
        <p:spPr>
          <a:xfrm>
            <a:off x="2428189" y="6400800"/>
            <a:ext cx="1072866" cy="73152"/>
          </a:xfrm>
          <a:prstGeom prst="rect">
            <a:avLst/>
          </a:prstGeom>
          <a:solidFill>
            <a:srgbClr val="E8613A"/>
          </a:solidFill>
          <a:ln w="12700">
            <a:solidFill>
              <a:srgbClr val="E8613A"/>
            </a:solidFill>
            <a:prstDash val="solid"/>
          </a:ln>
        </p:spPr>
      </p:sp>
      <p:sp>
        <p:nvSpPr>
          <p:cNvPr id="9" name="prog_lbl_pd_1058"/>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1059"/>
          <p:cNvSpPr/>
          <p:nvPr/>
        </p:nvSpPr>
        <p:spPr>
          <a:xfrm>
            <a:off x="3546775" y="6400800"/>
            <a:ext cx="1072866" cy="73152"/>
          </a:xfrm>
          <a:prstGeom prst="rect">
            <a:avLst/>
          </a:prstGeom>
          <a:solidFill>
            <a:srgbClr val="D9E1DD"/>
          </a:solidFill>
          <a:ln w="12700">
            <a:solidFill>
              <a:srgbClr val="D9E1DD"/>
            </a:solidFill>
            <a:prstDash val="solid"/>
          </a:ln>
        </p:spPr>
      </p:sp>
      <p:sp>
        <p:nvSpPr>
          <p:cNvPr id="11" name="prog_lbl_reflect_1060"/>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1061"/>
          <p:cNvSpPr/>
          <p:nvPr/>
        </p:nvSpPr>
        <p:spPr>
          <a:xfrm>
            <a:off x="4665360" y="6400800"/>
            <a:ext cx="1072866" cy="73152"/>
          </a:xfrm>
          <a:prstGeom prst="rect">
            <a:avLst/>
          </a:prstGeom>
          <a:solidFill>
            <a:srgbClr val="D9E1DD"/>
          </a:solidFill>
          <a:ln w="12700">
            <a:solidFill>
              <a:srgbClr val="D9E1DD"/>
            </a:solidFill>
            <a:prstDash val="solid"/>
          </a:ln>
        </p:spPr>
      </p:sp>
      <p:sp>
        <p:nvSpPr>
          <p:cNvPr id="13" name="prog_lbl_share_1062"/>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1063"/>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1064"/>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065"/>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1066"/>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067"/>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1068"/>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069"/>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1070"/>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1071"/>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EXAMPLE 4</a:t>
            </a:r>
            <a:endParaRPr lang="en-US" sz="1100" dirty="0"/>
          </a:p>
        </p:txBody>
      </p:sp>
      <p:sp>
        <p:nvSpPr>
          <p:cNvPr id="23" name="txt_1072"/>
          <p:cNvSpPr txBox="1"/>
          <p:nvPr/>
        </p:nvSpPr>
        <p:spPr>
          <a:xfrm>
            <a:off x="2103120" y="1371600"/>
            <a:ext cx="4754880" cy="310896"/>
          </a:xfrm>
          <a:prstGeom prst="rect">
            <a:avLst/>
          </a:prstGeom>
          <a:noFill/>
          <a:ln/>
        </p:spPr>
        <p:txBody>
          <a:bodyPr wrap="square" lIns="0" tIns="0" rIns="0" bIns="0" rtlCol="0" anchor="ctr"/>
          <a:lstStyle/>
          <a:p>
            <a:pPr indent="0" marL="0">
              <a:buNone/>
            </a:pPr>
            <a:r>
              <a:rPr lang="en-US" sz="1400" b="1" dirty="0">
                <a:solidFill>
                  <a:srgbClr val="1E6B4F"/>
                </a:solidFill>
                <a:latin typeface="Inter" pitchFamily="34" charset="0"/>
                <a:ea typeface="Inter" pitchFamily="34" charset="-122"/>
                <a:cs typeface="Inter" pitchFamily="34" charset="-120"/>
              </a:rPr>
              <a:t>What civic and disability advocates told us</a:t>
            </a:r>
            <a:endParaRPr lang="en-US" sz="1400" dirty="0"/>
          </a:p>
        </p:txBody>
      </p:sp>
      <p:sp>
        <p:nvSpPr>
          <p:cNvPr id="24" name="c1_card_1073"/>
          <p:cNvSpPr/>
          <p:nvPr/>
        </p:nvSpPr>
        <p:spPr>
          <a:xfrm>
            <a:off x="548640" y="1874520"/>
            <a:ext cx="6309360" cy="1965960"/>
          </a:xfrm>
          <a:prstGeom prst="roundRect">
            <a:avLst>
              <a:gd name="adj" fmla="val 5581"/>
            </a:avLst>
          </a:prstGeom>
          <a:solidFill>
            <a:srgbClr val="E8F2ED"/>
          </a:solidFill>
          <a:ln w="12700">
            <a:solidFill>
              <a:srgbClr val="E8F2ED"/>
            </a:solidFill>
            <a:prstDash val="solid"/>
          </a:ln>
        </p:spPr>
      </p:sp>
      <p:sp>
        <p:nvSpPr>
          <p:cNvPr id="25" name="c1_txt_1074"/>
          <p:cNvSpPr txBox="1"/>
          <p:nvPr/>
        </p:nvSpPr>
        <p:spPr>
          <a:xfrm>
            <a:off x="822960" y="2011680"/>
            <a:ext cx="5760720" cy="1691640"/>
          </a:xfrm>
          <a:prstGeom prst="rect">
            <a:avLst/>
          </a:prstGeom>
          <a:noFill/>
          <a:ln/>
        </p:spPr>
        <p:txBody>
          <a:bodyPr wrap="square" lIns="0" tIns="0" rIns="0" bIns="0" rtlCol="0" anchor="ctr"/>
          <a:lstStyle/>
          <a:p>
            <a:pPr indent="0" marL="0">
              <a:buNone/>
            </a:pPr>
            <a:r>
              <a:rPr lang="en-US" sz="1700" dirty="0">
                <a:solidFill>
                  <a:srgbClr val="13221D"/>
                </a:solidFill>
                <a:latin typeface="Inter" pitchFamily="34" charset="0"/>
                <a:ea typeface="Inter" pitchFamily="34" charset="-122"/>
                <a:cs typeface="Inter" pitchFamily="34" charset="-120"/>
              </a:rPr>
              <a:t>“If I could ask, ‘Give me a list of all ADA sidewalk problems on North State Street between X and Y,’ and it answered accurately and verifiably, that would be game-changing.”</a:t>
            </a:r>
            <a:endParaRPr lang="en-US" sz="1700" dirty="0"/>
          </a:p>
        </p:txBody>
      </p:sp>
      <p:sp>
        <p:nvSpPr>
          <p:cNvPr id="26" name="c2_card_1075"/>
          <p:cNvSpPr/>
          <p:nvPr/>
        </p:nvSpPr>
        <p:spPr>
          <a:xfrm>
            <a:off x="548640" y="4023360"/>
            <a:ext cx="6309360" cy="2011680"/>
          </a:xfrm>
          <a:prstGeom prst="roundRect">
            <a:avLst>
              <a:gd name="adj" fmla="val 5455"/>
            </a:avLst>
          </a:prstGeom>
          <a:solidFill>
            <a:srgbClr val="FCE7DF"/>
          </a:solidFill>
          <a:ln w="12700">
            <a:solidFill>
              <a:srgbClr val="FCE7DF"/>
            </a:solidFill>
            <a:prstDash val="solid"/>
          </a:ln>
        </p:spPr>
      </p:sp>
      <p:sp>
        <p:nvSpPr>
          <p:cNvPr id="27" name="c2_txt_1076"/>
          <p:cNvSpPr txBox="1"/>
          <p:nvPr/>
        </p:nvSpPr>
        <p:spPr>
          <a:xfrm>
            <a:off x="822960" y="4160520"/>
            <a:ext cx="5760720" cy="1737360"/>
          </a:xfrm>
          <a:prstGeom prst="rect">
            <a:avLst/>
          </a:prstGeom>
          <a:noFill/>
          <a:ln/>
        </p:spPr>
        <p:txBody>
          <a:bodyPr wrap="square" lIns="0" tIns="0" rIns="0" bIns="0" rtlCol="0" anchor="ctr"/>
          <a:lstStyle/>
          <a:p>
            <a:pPr indent="0" marL="0">
              <a:buNone/>
            </a:pPr>
            <a:r>
              <a:rPr lang="en-US" sz="1700" dirty="0">
                <a:solidFill>
                  <a:srgbClr val="13221D"/>
                </a:solidFill>
                <a:latin typeface="Inter" pitchFamily="34" charset="0"/>
                <a:ea typeface="Inter" pitchFamily="34" charset="-122"/>
                <a:cs typeface="Inter" pitchFamily="34" charset="-120"/>
              </a:rPr>
              <a:t>“The tool is only as good as the software developers. If they have no background in the ADA or in issues related to disabilities, their questions will sometimes omit significant areas of knowledge.”</a:t>
            </a:r>
            <a:endParaRPr lang="en-US" sz="1700" dirty="0"/>
          </a:p>
        </p:txBody>
      </p:sp>
      <p:sp>
        <p:nvSpPr>
          <p:cNvPr id="28" name="c3_card_1077"/>
          <p:cNvSpPr/>
          <p:nvPr/>
        </p:nvSpPr>
        <p:spPr>
          <a:xfrm>
            <a:off x="7086600" y="1371600"/>
            <a:ext cx="4553712" cy="4663440"/>
          </a:xfrm>
          <a:prstGeom prst="roundRect">
            <a:avLst>
              <a:gd name="adj" fmla="val 2410"/>
            </a:avLst>
          </a:prstGeom>
          <a:solidFill>
            <a:srgbClr val="0E3B2E"/>
          </a:solidFill>
          <a:ln w="12700">
            <a:solidFill>
              <a:srgbClr val="0E3B2E"/>
            </a:solidFill>
            <a:prstDash val="solid"/>
          </a:ln>
        </p:spPr>
      </p:sp>
      <p:sp>
        <p:nvSpPr>
          <p:cNvPr id="29" name="c3_txt_1078"/>
          <p:cNvSpPr txBox="1"/>
          <p:nvPr/>
        </p:nvSpPr>
        <p:spPr>
          <a:xfrm>
            <a:off x="7360920" y="1600200"/>
            <a:ext cx="4023360" cy="320040"/>
          </a:xfrm>
          <a:prstGeom prst="rect">
            <a:avLst/>
          </a:prstGeom>
          <a:noFill/>
          <a:ln/>
        </p:spPr>
        <p:txBody>
          <a:bodyPr wrap="square" lIns="0" tIns="0" rIns="0" bIns="0" rtlCol="0" anchor="t"/>
          <a:lstStyle/>
          <a:p>
            <a:pPr indent="0" marL="0">
              <a:buNone/>
            </a:pPr>
            <a:r>
              <a:rPr lang="en-US" sz="1200" b="1" spc="150" kern="0" dirty="0">
                <a:solidFill>
                  <a:srgbClr val="F2B33D"/>
                </a:solidFill>
                <a:latin typeface="Inter" pitchFamily="34" charset="0"/>
                <a:ea typeface="Inter" pitchFamily="34" charset="-122"/>
                <a:cs typeface="Inter" pitchFamily="34" charset="-120"/>
              </a:rPr>
              <a:t>WHAT WE WANT TO DO</a:t>
            </a:r>
            <a:endParaRPr lang="en-US" sz="1200" dirty="0"/>
          </a:p>
        </p:txBody>
      </p:sp>
      <p:sp>
        <p:nvSpPr>
          <p:cNvPr id="30" name="c3_txt_1079"/>
          <p:cNvSpPr txBox="1"/>
          <p:nvPr/>
        </p:nvSpPr>
        <p:spPr>
          <a:xfrm>
            <a:off x="7360920" y="1965960"/>
            <a:ext cx="4023360" cy="1097280"/>
          </a:xfrm>
          <a:prstGeom prst="rect">
            <a:avLst/>
          </a:prstGeom>
          <a:noFill/>
          <a:ln/>
        </p:spPr>
        <p:txBody>
          <a:bodyPr wrap="square" lIns="0" tIns="0" rIns="0" bIns="0" rtlCol="0" anchor="t"/>
          <a:lstStyle/>
          <a:p>
            <a:pPr indent="0" marL="0">
              <a:buNone/>
            </a:pPr>
            <a:r>
              <a:rPr lang="en-US" sz="2000" b="1" dirty="0">
                <a:solidFill>
                  <a:srgbClr val="FFFFFF"/>
                </a:solidFill>
                <a:latin typeface="Inter" pitchFamily="34" charset="0"/>
                <a:ea typeface="Inter" pitchFamily="34" charset="-122"/>
                <a:cs typeface="Inter" pitchFamily="34" charset="-120"/>
              </a:rPr>
              <a:t>Design civic AI that connects residents, communities, and local governments.</a:t>
            </a:r>
            <a:endParaRPr lang="en-US" sz="2000" dirty="0"/>
          </a:p>
        </p:txBody>
      </p:sp>
      <p:sp>
        <p:nvSpPr>
          <p:cNvPr id="31" name="c3_dot_1080"/>
          <p:cNvSpPr/>
          <p:nvPr/>
        </p:nvSpPr>
        <p:spPr>
          <a:xfrm>
            <a:off x="7388352" y="3383280"/>
            <a:ext cx="128016" cy="128016"/>
          </a:xfrm>
          <a:prstGeom prst="ellipse">
            <a:avLst/>
          </a:prstGeom>
          <a:solidFill>
            <a:srgbClr val="E8613A"/>
          </a:solidFill>
          <a:ln w="12700">
            <a:solidFill>
              <a:srgbClr val="E8613A"/>
            </a:solidFill>
            <a:prstDash val="solid"/>
          </a:ln>
        </p:spPr>
      </p:sp>
      <p:sp>
        <p:nvSpPr>
          <p:cNvPr id="32" name="c3_txt_1081"/>
          <p:cNvSpPr txBox="1"/>
          <p:nvPr/>
        </p:nvSpPr>
        <p:spPr>
          <a:xfrm>
            <a:off x="7680960" y="3200400"/>
            <a:ext cx="3749040" cy="548640"/>
          </a:xfrm>
          <a:prstGeom prst="rect">
            <a:avLst/>
          </a:prstGeom>
          <a:noFill/>
          <a:ln/>
        </p:spPr>
        <p:txBody>
          <a:bodyPr wrap="square" lIns="0" tIns="0" rIns="0" bIns="0" rtlCol="0" anchor="ctr"/>
          <a:lstStyle/>
          <a:p>
            <a:pPr indent="0" marL="0">
              <a:buNone/>
            </a:pPr>
            <a:r>
              <a:rPr lang="en-US" sz="1400" dirty="0">
                <a:solidFill>
                  <a:srgbClr val="D7E7DF"/>
                </a:solidFill>
                <a:latin typeface="Inter" pitchFamily="34" charset="0"/>
                <a:ea typeface="Inter" pitchFamily="34" charset="-122"/>
                <a:cs typeface="Inter" pitchFamily="34" charset="-120"/>
              </a:rPr>
              <a:t>Answers people can verify, linked to local records</a:t>
            </a:r>
            <a:endParaRPr lang="en-US" sz="1400" dirty="0"/>
          </a:p>
        </p:txBody>
      </p:sp>
      <p:sp>
        <p:nvSpPr>
          <p:cNvPr id="33" name="c3_dot_1082"/>
          <p:cNvSpPr/>
          <p:nvPr/>
        </p:nvSpPr>
        <p:spPr>
          <a:xfrm>
            <a:off x="7388352" y="4005072"/>
            <a:ext cx="128016" cy="128016"/>
          </a:xfrm>
          <a:prstGeom prst="ellipse">
            <a:avLst/>
          </a:prstGeom>
          <a:solidFill>
            <a:srgbClr val="E8613A"/>
          </a:solidFill>
          <a:ln w="12700">
            <a:solidFill>
              <a:srgbClr val="E8613A"/>
            </a:solidFill>
            <a:prstDash val="solid"/>
          </a:ln>
        </p:spPr>
      </p:sp>
      <p:sp>
        <p:nvSpPr>
          <p:cNvPr id="34" name="c3_txt_1083"/>
          <p:cNvSpPr txBox="1"/>
          <p:nvPr/>
        </p:nvSpPr>
        <p:spPr>
          <a:xfrm>
            <a:off x="7680960" y="3822192"/>
            <a:ext cx="3749040" cy="548640"/>
          </a:xfrm>
          <a:prstGeom prst="rect">
            <a:avLst/>
          </a:prstGeom>
          <a:noFill/>
          <a:ln/>
        </p:spPr>
        <p:txBody>
          <a:bodyPr wrap="square" lIns="0" tIns="0" rIns="0" bIns="0" rtlCol="0" anchor="ctr"/>
          <a:lstStyle/>
          <a:p>
            <a:pPr indent="0" marL="0">
              <a:buNone/>
            </a:pPr>
            <a:r>
              <a:rPr lang="en-US" sz="1400" dirty="0">
                <a:solidFill>
                  <a:srgbClr val="D7E7DF"/>
                </a:solidFill>
                <a:latin typeface="Inter" pitchFamily="34" charset="0"/>
                <a:ea typeface="Inter" pitchFamily="34" charset="-122"/>
                <a:cs typeface="Inter" pitchFamily="34" charset="-120"/>
              </a:rPr>
              <a:t>A clear path to a person when AI falls short</a:t>
            </a:r>
            <a:endParaRPr lang="en-US" sz="1400" dirty="0"/>
          </a:p>
        </p:txBody>
      </p:sp>
      <p:sp>
        <p:nvSpPr>
          <p:cNvPr id="35" name="c3_dot_1084"/>
          <p:cNvSpPr/>
          <p:nvPr/>
        </p:nvSpPr>
        <p:spPr>
          <a:xfrm>
            <a:off x="7388352" y="4626864"/>
            <a:ext cx="128016" cy="128016"/>
          </a:xfrm>
          <a:prstGeom prst="ellipse">
            <a:avLst/>
          </a:prstGeom>
          <a:solidFill>
            <a:srgbClr val="E8613A"/>
          </a:solidFill>
          <a:ln w="12700">
            <a:solidFill>
              <a:srgbClr val="E8613A"/>
            </a:solidFill>
            <a:prstDash val="solid"/>
          </a:ln>
        </p:spPr>
      </p:sp>
      <p:sp>
        <p:nvSpPr>
          <p:cNvPr id="36" name="c3_txt_1085"/>
          <p:cNvSpPr txBox="1"/>
          <p:nvPr/>
        </p:nvSpPr>
        <p:spPr>
          <a:xfrm>
            <a:off x="7680960" y="4443984"/>
            <a:ext cx="3749040" cy="548640"/>
          </a:xfrm>
          <a:prstGeom prst="rect">
            <a:avLst/>
          </a:prstGeom>
          <a:noFill/>
          <a:ln/>
        </p:spPr>
        <p:txBody>
          <a:bodyPr wrap="square" lIns="0" tIns="0" rIns="0" bIns="0" rtlCol="0" anchor="ctr"/>
          <a:lstStyle/>
          <a:p>
            <a:pPr indent="0" marL="0">
              <a:buNone/>
            </a:pPr>
            <a:r>
              <a:rPr lang="en-US" sz="1400" dirty="0">
                <a:solidFill>
                  <a:srgbClr val="D7E7DF"/>
                </a:solidFill>
                <a:latin typeface="Inter" pitchFamily="34" charset="0"/>
                <a:ea typeface="Inter" pitchFamily="34" charset="-122"/>
                <a:cs typeface="Inter" pitchFamily="34" charset="-120"/>
              </a:rPr>
              <a:t>Built with disability advocates and civic groups from the start</a:t>
            </a:r>
            <a:endParaRPr lang="en-US" sz="1400" dirty="0"/>
          </a:p>
        </p:txBody>
      </p:sp>
      <p:sp>
        <p:nvSpPr>
          <p:cNvPr id="37" name="c3_pill_1086"/>
          <p:cNvSpPr txBox="1"/>
          <p:nvPr/>
        </p:nvSpPr>
        <p:spPr>
          <a:xfrm>
            <a:off x="7360920" y="5349240"/>
            <a:ext cx="3291840" cy="384048"/>
          </a:xfrm>
          <a:prstGeom prst="roundRect">
            <a:avLst>
              <a:gd name="adj" fmla="val 42857"/>
            </a:avLst>
          </a:prstGeom>
          <a:solidFill>
            <a:srgbClr val="F2B33D"/>
          </a:solidFill>
          <a:ln/>
        </p:spPr>
        <p:txBody>
          <a:bodyPr wrap="square" lIns="0" tIns="0" rIns="0" bIns="0" rtlCol="0" anchor="ctr"/>
          <a:lstStyle/>
          <a:p>
            <a:pPr algn="ctr" indent="0" marL="0">
              <a:buNone/>
            </a:pPr>
            <a:r>
              <a:rPr lang="en-US" sz="1200" b="1" dirty="0">
                <a:solidFill>
                  <a:srgbClr val="0E3B2E"/>
                </a:solidFill>
                <a:latin typeface="Inter" pitchFamily="34" charset="0"/>
                <a:ea typeface="Inter" pitchFamily="34" charset="-122"/>
                <a:cs typeface="Inter" pitchFamily="34" charset="-120"/>
              </a:rPr>
              <a:t>NSF award, 2026  ·  Saad Hassan, PI</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400"/>
                                        <p:tgtEl>
                                          <p:spTgt spid="2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400"/>
                                        <p:tgtEl>
                                          <p:spTgt spid="25"/>
                                        </p:tgtEl>
                                      </p:cBhvr>
                                    </p:animEffect>
                                  </p:childTnLst>
                                </p:cTn>
                              </p:par>
                            </p:childTnLst>
                          </p:cTn>
                        </p:par>
                      </p:childTnLst>
                    </p:cTn>
                  </p:par>
                  <p:par>
                    <p:cTn id="18" fill="hold">
                      <p:stCondLst>
                        <p:cond delay="indefinite"/>
                      </p:stCondLst>
                      <p:childTnLst>
                        <p:par>
                          <p:cTn id="17"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50" fill="hold">
                      <p:stCondLst>
                        <p:cond delay="indefinite"/>
                      </p:stCondLst>
                      <p:childTnLst>
                        <p:par>
                          <p:cTn id="49"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400"/>
                                        <p:tgtEl>
                                          <p:spTgt spid="3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4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Your one problem</a:t>
            </a:r>
            <a:endParaRPr lang="en-US" sz="3000" dirty="0"/>
          </a:p>
        </p:txBody>
      </p:sp>
      <p:sp>
        <p:nvSpPr>
          <p:cNvPr id="3" name="time_chip_1087"/>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9:40 – 10:10  ·  30 min</a:t>
            </a:r>
            <a:endParaRPr lang="en-US" sz="1400" dirty="0"/>
          </a:p>
        </p:txBody>
      </p:sp>
      <p:sp>
        <p:nvSpPr>
          <p:cNvPr id="4" name="prog_welcome_1088"/>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1089"/>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1090"/>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1091"/>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1092"/>
          <p:cNvSpPr/>
          <p:nvPr/>
        </p:nvSpPr>
        <p:spPr>
          <a:xfrm>
            <a:off x="2428189" y="6400800"/>
            <a:ext cx="1072866" cy="73152"/>
          </a:xfrm>
          <a:prstGeom prst="rect">
            <a:avLst/>
          </a:prstGeom>
          <a:solidFill>
            <a:srgbClr val="1E6B4F"/>
          </a:solidFill>
          <a:ln w="12700">
            <a:solidFill>
              <a:srgbClr val="1E6B4F"/>
            </a:solidFill>
            <a:prstDash val="solid"/>
          </a:ln>
        </p:spPr>
      </p:sp>
      <p:sp>
        <p:nvSpPr>
          <p:cNvPr id="9" name="prog_lbl_pd_1093"/>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Design</a:t>
            </a:r>
            <a:endParaRPr lang="en-US" sz="1000" dirty="0"/>
          </a:p>
        </p:txBody>
      </p:sp>
      <p:sp>
        <p:nvSpPr>
          <p:cNvPr id="10" name="prog_reflect_1094"/>
          <p:cNvSpPr/>
          <p:nvPr/>
        </p:nvSpPr>
        <p:spPr>
          <a:xfrm>
            <a:off x="3546775" y="6400800"/>
            <a:ext cx="1072866" cy="73152"/>
          </a:xfrm>
          <a:prstGeom prst="rect">
            <a:avLst/>
          </a:prstGeom>
          <a:solidFill>
            <a:srgbClr val="E8613A"/>
          </a:solidFill>
          <a:ln w="12700">
            <a:solidFill>
              <a:srgbClr val="E8613A"/>
            </a:solidFill>
            <a:prstDash val="solid"/>
          </a:ln>
        </p:spPr>
      </p:sp>
      <p:sp>
        <p:nvSpPr>
          <p:cNvPr id="11" name="prog_lbl_reflect_1095"/>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Reflect</a:t>
            </a:r>
            <a:endParaRPr lang="en-US" sz="1000" dirty="0"/>
          </a:p>
        </p:txBody>
      </p:sp>
      <p:sp>
        <p:nvSpPr>
          <p:cNvPr id="12" name="prog_share_1096"/>
          <p:cNvSpPr/>
          <p:nvPr/>
        </p:nvSpPr>
        <p:spPr>
          <a:xfrm>
            <a:off x="4665360" y="6400800"/>
            <a:ext cx="1072866" cy="73152"/>
          </a:xfrm>
          <a:prstGeom prst="rect">
            <a:avLst/>
          </a:prstGeom>
          <a:solidFill>
            <a:srgbClr val="E8613A"/>
          </a:solidFill>
          <a:ln w="12700">
            <a:solidFill>
              <a:srgbClr val="E8613A"/>
            </a:solidFill>
            <a:prstDash val="solid"/>
          </a:ln>
        </p:spPr>
      </p:sp>
      <p:sp>
        <p:nvSpPr>
          <p:cNvPr id="13" name="prog_lbl_share_1097"/>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Share</a:t>
            </a:r>
            <a:endParaRPr lang="en-US" sz="1000" dirty="0"/>
          </a:p>
        </p:txBody>
      </p:sp>
      <p:sp>
        <p:nvSpPr>
          <p:cNvPr id="14" name="prog_break_1098"/>
          <p:cNvSpPr/>
          <p:nvPr/>
        </p:nvSpPr>
        <p:spPr>
          <a:xfrm>
            <a:off x="5783946" y="6400800"/>
            <a:ext cx="1072866" cy="73152"/>
          </a:xfrm>
          <a:prstGeom prst="rect">
            <a:avLst/>
          </a:prstGeom>
          <a:solidFill>
            <a:srgbClr val="D9E1DD"/>
          </a:solidFill>
          <a:ln w="12700">
            <a:solidFill>
              <a:srgbClr val="D9E1DD"/>
            </a:solidFill>
            <a:prstDash val="solid"/>
          </a:ln>
        </p:spPr>
      </p:sp>
      <p:sp>
        <p:nvSpPr>
          <p:cNvPr id="15" name="prog_lbl_break_1099"/>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100"/>
          <p:cNvSpPr/>
          <p:nvPr/>
        </p:nvSpPr>
        <p:spPr>
          <a:xfrm>
            <a:off x="6902531" y="6400800"/>
            <a:ext cx="3218597" cy="73152"/>
          </a:xfrm>
          <a:prstGeom prst="rect">
            <a:avLst/>
          </a:prstGeom>
          <a:solidFill>
            <a:srgbClr val="D9E1DD"/>
          </a:solidFill>
          <a:ln w="12700">
            <a:solidFill>
              <a:srgbClr val="D9E1DD"/>
            </a:solidFill>
            <a:prstDash val="solid"/>
          </a:ln>
        </p:spPr>
      </p:sp>
      <p:sp>
        <p:nvSpPr>
          <p:cNvPr id="17" name="prog_lbl_breakout_1101"/>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102"/>
          <p:cNvSpPr/>
          <p:nvPr/>
        </p:nvSpPr>
        <p:spPr>
          <a:xfrm>
            <a:off x="10166848" y="6400800"/>
            <a:ext cx="715244" cy="73152"/>
          </a:xfrm>
          <a:prstGeom prst="rect">
            <a:avLst/>
          </a:prstGeom>
          <a:solidFill>
            <a:srgbClr val="D9E1DD"/>
          </a:solidFill>
          <a:ln w="12700">
            <a:solidFill>
              <a:srgbClr val="D9E1DD"/>
            </a:solidFill>
            <a:prstDash val="solid"/>
          </a:ln>
        </p:spPr>
      </p:sp>
      <p:sp>
        <p:nvSpPr>
          <p:cNvPr id="19" name="prog_lbl_report_1103"/>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104"/>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1105"/>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1106"/>
          <p:cNvSpPr txBox="1"/>
          <p:nvPr/>
        </p:nvSpPr>
        <p:spPr>
          <a:xfrm>
            <a:off x="548640" y="1371600"/>
            <a:ext cx="10972800" cy="548640"/>
          </a:xfrm>
          <a:prstGeom prst="rect">
            <a:avLst/>
          </a:prstGeom>
          <a:noFill/>
          <a:ln/>
        </p:spPr>
        <p:txBody>
          <a:bodyPr wrap="square" lIns="0" tIns="0" rIns="0" bIns="0" rtlCol="0" anchor="t"/>
          <a:lstStyle/>
          <a:p>
            <a:pPr indent="0" marL="0">
              <a:buNone/>
            </a:pPr>
            <a:r>
              <a:rPr lang="en-US" sz="1800" dirty="0">
                <a:solidFill>
                  <a:srgbClr val="5E6E68"/>
                </a:solidFill>
                <a:latin typeface="Inter" pitchFamily="34" charset="0"/>
                <a:ea typeface="Inter" pitchFamily="34" charset="-122"/>
                <a:cs typeface="Inter" pitchFamily="34" charset="-120"/>
              </a:rPr>
              <a:t>Pick one community engagement challenge where AI could help, hurt, create barriers, or lower them.</a:t>
            </a:r>
            <a:endParaRPr lang="en-US" sz="1800" dirty="0"/>
          </a:p>
        </p:txBody>
      </p:sp>
      <p:sp>
        <p:nvSpPr>
          <p:cNvPr id="23" name="c1_card_1107"/>
          <p:cNvSpPr/>
          <p:nvPr/>
        </p:nvSpPr>
        <p:spPr>
          <a:xfrm>
            <a:off x="548640" y="2057400"/>
            <a:ext cx="6035040" cy="676656"/>
          </a:xfrm>
          <a:prstGeom prst="roundRect">
            <a:avLst>
              <a:gd name="adj" fmla="val 16216"/>
            </a:avLst>
          </a:prstGeom>
          <a:solidFill>
            <a:srgbClr val="E8F2ED"/>
          </a:solidFill>
          <a:ln w="12700">
            <a:solidFill>
              <a:srgbClr val="E8F2ED"/>
            </a:solidFill>
            <a:prstDash val="solid"/>
          </a:ln>
        </p:spPr>
      </p:sp>
      <p:sp>
        <p:nvSpPr>
          <p:cNvPr id="24" name="c1_num_1108"/>
          <p:cNvSpPr txBox="1"/>
          <p:nvPr/>
        </p:nvSpPr>
        <p:spPr>
          <a:xfrm>
            <a:off x="685800" y="2185416"/>
            <a:ext cx="420624" cy="420624"/>
          </a:xfrm>
          <a:prstGeom prst="ellipse">
            <a:avLst/>
          </a:prstGeom>
          <a:solidFill>
            <a:srgbClr val="1E6B4F"/>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25" name="c1_txt_1109"/>
          <p:cNvSpPr txBox="1"/>
          <p:nvPr/>
        </p:nvSpPr>
        <p:spPr>
          <a:xfrm>
            <a:off x="1280160" y="2057400"/>
            <a:ext cx="3017520" cy="676656"/>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The problem</a:t>
            </a:r>
            <a:endParaRPr lang="en-US" sz="1700" dirty="0"/>
          </a:p>
        </p:txBody>
      </p:sp>
      <p:sp>
        <p:nvSpPr>
          <p:cNvPr id="26" name="c1_txt_1110"/>
          <p:cNvSpPr txBox="1"/>
          <p:nvPr/>
        </p:nvSpPr>
        <p:spPr>
          <a:xfrm>
            <a:off x="4206240" y="2057400"/>
            <a:ext cx="2240280" cy="676656"/>
          </a:xfrm>
          <a:prstGeom prst="rect">
            <a:avLst/>
          </a:prstGeom>
          <a:noFill/>
          <a:ln/>
        </p:spPr>
        <p:txBody>
          <a:bodyPr wrap="square" lIns="0" tIns="0" rIns="0" bIns="0" rtlCol="0" anchor="ctr"/>
          <a:lstStyle/>
          <a:p>
            <a:pPr indent="0" marL="0">
              <a:buNone/>
            </a:pPr>
            <a:r>
              <a:rPr lang="en-US" sz="1300" dirty="0">
                <a:solidFill>
                  <a:srgbClr val="5E6E68"/>
                </a:solidFill>
                <a:latin typeface="Inter" pitchFamily="34" charset="0"/>
                <a:ea typeface="Inter" pitchFamily="34" charset="-122"/>
                <a:cs typeface="Inter" pitchFamily="34" charset="-120"/>
              </a:rPr>
              <a:t>One sentence</a:t>
            </a:r>
            <a:endParaRPr lang="en-US" sz="1300" dirty="0"/>
          </a:p>
        </p:txBody>
      </p:sp>
      <p:sp>
        <p:nvSpPr>
          <p:cNvPr id="27" name="c1_card_1111"/>
          <p:cNvSpPr/>
          <p:nvPr/>
        </p:nvSpPr>
        <p:spPr>
          <a:xfrm>
            <a:off x="548640" y="2825496"/>
            <a:ext cx="6035040" cy="676656"/>
          </a:xfrm>
          <a:prstGeom prst="roundRect">
            <a:avLst>
              <a:gd name="adj" fmla="val 16216"/>
            </a:avLst>
          </a:prstGeom>
          <a:solidFill>
            <a:srgbClr val="FFFFFF"/>
          </a:solidFill>
          <a:ln w="12700">
            <a:solidFill>
              <a:srgbClr val="D9E1DD"/>
            </a:solidFill>
            <a:prstDash val="solid"/>
          </a:ln>
        </p:spPr>
      </p:sp>
      <p:sp>
        <p:nvSpPr>
          <p:cNvPr id="28" name="c1_num_1112"/>
          <p:cNvSpPr txBox="1"/>
          <p:nvPr/>
        </p:nvSpPr>
        <p:spPr>
          <a:xfrm>
            <a:off x="685800" y="2953512"/>
            <a:ext cx="420624" cy="420624"/>
          </a:xfrm>
          <a:prstGeom prst="ellipse">
            <a:avLst/>
          </a:prstGeom>
          <a:solidFill>
            <a:srgbClr val="1E6B4F"/>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29" name="c1_txt_1113"/>
          <p:cNvSpPr txBox="1"/>
          <p:nvPr/>
        </p:nvSpPr>
        <p:spPr>
          <a:xfrm>
            <a:off x="1280160" y="2825496"/>
            <a:ext cx="3017520" cy="676656"/>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Who is affected</a:t>
            </a:r>
            <a:endParaRPr lang="en-US" sz="1700" dirty="0"/>
          </a:p>
        </p:txBody>
      </p:sp>
      <p:sp>
        <p:nvSpPr>
          <p:cNvPr id="30" name="c1_txt_1114"/>
          <p:cNvSpPr txBox="1"/>
          <p:nvPr/>
        </p:nvSpPr>
        <p:spPr>
          <a:xfrm>
            <a:off x="4206240" y="2825496"/>
            <a:ext cx="2240280" cy="676656"/>
          </a:xfrm>
          <a:prstGeom prst="rect">
            <a:avLst/>
          </a:prstGeom>
          <a:noFill/>
          <a:ln/>
        </p:spPr>
        <p:txBody>
          <a:bodyPr wrap="square" lIns="0" tIns="0" rIns="0" bIns="0" rtlCol="0" anchor="ctr"/>
          <a:lstStyle/>
          <a:p>
            <a:pPr indent="0" marL="0">
              <a:buNone/>
            </a:pPr>
            <a:r>
              <a:rPr lang="en-US" sz="1300" dirty="0">
                <a:solidFill>
                  <a:srgbClr val="5E6E68"/>
                </a:solidFill>
                <a:latin typeface="Inter" pitchFamily="34" charset="0"/>
                <a:ea typeface="Inter" pitchFamily="34" charset="-122"/>
                <a:cs typeface="Inter" pitchFamily="34" charset="-120"/>
              </a:rPr>
              <a:t>Partners, students, residents</a:t>
            </a:r>
            <a:endParaRPr lang="en-US" sz="1300" dirty="0"/>
          </a:p>
        </p:txBody>
      </p:sp>
      <p:sp>
        <p:nvSpPr>
          <p:cNvPr id="31" name="c1_card_1115"/>
          <p:cNvSpPr/>
          <p:nvPr/>
        </p:nvSpPr>
        <p:spPr>
          <a:xfrm>
            <a:off x="548640" y="3593592"/>
            <a:ext cx="6035040" cy="676656"/>
          </a:xfrm>
          <a:prstGeom prst="roundRect">
            <a:avLst>
              <a:gd name="adj" fmla="val 16216"/>
            </a:avLst>
          </a:prstGeom>
          <a:solidFill>
            <a:srgbClr val="E8F2ED"/>
          </a:solidFill>
          <a:ln w="12700">
            <a:solidFill>
              <a:srgbClr val="E8F2ED"/>
            </a:solidFill>
            <a:prstDash val="solid"/>
          </a:ln>
        </p:spPr>
      </p:sp>
      <p:sp>
        <p:nvSpPr>
          <p:cNvPr id="32" name="c1_num_1116"/>
          <p:cNvSpPr txBox="1"/>
          <p:nvPr/>
        </p:nvSpPr>
        <p:spPr>
          <a:xfrm>
            <a:off x="685800" y="3721608"/>
            <a:ext cx="420624" cy="420624"/>
          </a:xfrm>
          <a:prstGeom prst="ellipse">
            <a:avLst/>
          </a:prstGeom>
          <a:solidFill>
            <a:srgbClr val="1E6B4F"/>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33" name="c1_txt_1117"/>
          <p:cNvSpPr txBox="1"/>
          <p:nvPr/>
        </p:nvSpPr>
        <p:spPr>
          <a:xfrm>
            <a:off x="1280160" y="3593592"/>
            <a:ext cx="3017520" cy="676656"/>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Where AI might help</a:t>
            </a:r>
            <a:endParaRPr lang="en-US" sz="1700" dirty="0"/>
          </a:p>
        </p:txBody>
      </p:sp>
      <p:sp>
        <p:nvSpPr>
          <p:cNvPr id="34" name="c1_txt_1118"/>
          <p:cNvSpPr txBox="1"/>
          <p:nvPr/>
        </p:nvSpPr>
        <p:spPr>
          <a:xfrm>
            <a:off x="4206240" y="3593592"/>
            <a:ext cx="2240280" cy="676656"/>
          </a:xfrm>
          <a:prstGeom prst="rect">
            <a:avLst/>
          </a:prstGeom>
          <a:noFill/>
          <a:ln/>
        </p:spPr>
        <p:txBody>
          <a:bodyPr wrap="square" lIns="0" tIns="0" rIns="0" bIns="0" rtlCol="0" anchor="ctr"/>
          <a:lstStyle/>
          <a:p>
            <a:pPr indent="0" marL="0">
              <a:buNone/>
            </a:pPr>
            <a:r>
              <a:rPr lang="en-US" sz="1300" dirty="0">
                <a:solidFill>
                  <a:srgbClr val="5E6E68"/>
                </a:solidFill>
                <a:latin typeface="Inter" pitchFamily="34" charset="0"/>
                <a:ea typeface="Inter" pitchFamily="34" charset="-122"/>
                <a:cs typeface="Inter" pitchFamily="34" charset="-120"/>
              </a:rPr>
              <a:t>Even a little</a:t>
            </a:r>
            <a:endParaRPr lang="en-US" sz="1300" dirty="0"/>
          </a:p>
        </p:txBody>
      </p:sp>
      <p:sp>
        <p:nvSpPr>
          <p:cNvPr id="35" name="c1_card_1119"/>
          <p:cNvSpPr/>
          <p:nvPr/>
        </p:nvSpPr>
        <p:spPr>
          <a:xfrm>
            <a:off x="548640" y="4361688"/>
            <a:ext cx="6035040" cy="676656"/>
          </a:xfrm>
          <a:prstGeom prst="roundRect">
            <a:avLst>
              <a:gd name="adj" fmla="val 16216"/>
            </a:avLst>
          </a:prstGeom>
          <a:solidFill>
            <a:srgbClr val="FFFFFF"/>
          </a:solidFill>
          <a:ln w="12700">
            <a:solidFill>
              <a:srgbClr val="D9E1DD"/>
            </a:solidFill>
            <a:prstDash val="solid"/>
          </a:ln>
        </p:spPr>
      </p:sp>
      <p:sp>
        <p:nvSpPr>
          <p:cNvPr id="36" name="c1_num_1120"/>
          <p:cNvSpPr txBox="1"/>
          <p:nvPr/>
        </p:nvSpPr>
        <p:spPr>
          <a:xfrm>
            <a:off x="685800" y="4489704"/>
            <a:ext cx="420624" cy="420624"/>
          </a:xfrm>
          <a:prstGeom prst="ellipse">
            <a:avLst/>
          </a:prstGeom>
          <a:solidFill>
            <a:srgbClr val="1E6B4F"/>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37" name="c1_txt_1121"/>
          <p:cNvSpPr txBox="1"/>
          <p:nvPr/>
        </p:nvSpPr>
        <p:spPr>
          <a:xfrm>
            <a:off x="1280160" y="4361688"/>
            <a:ext cx="3017520" cy="676656"/>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Where AI worries you</a:t>
            </a:r>
            <a:endParaRPr lang="en-US" sz="1700" dirty="0"/>
          </a:p>
        </p:txBody>
      </p:sp>
      <p:sp>
        <p:nvSpPr>
          <p:cNvPr id="38" name="c1_txt_1122"/>
          <p:cNvSpPr txBox="1"/>
          <p:nvPr/>
        </p:nvSpPr>
        <p:spPr>
          <a:xfrm>
            <a:off x="4206240" y="4361688"/>
            <a:ext cx="2240280" cy="676656"/>
          </a:xfrm>
          <a:prstGeom prst="rect">
            <a:avLst/>
          </a:prstGeom>
          <a:noFill/>
          <a:ln/>
        </p:spPr>
        <p:txBody>
          <a:bodyPr wrap="square" lIns="0" tIns="0" rIns="0" bIns="0" rtlCol="0" anchor="ctr"/>
          <a:lstStyle/>
          <a:p>
            <a:pPr indent="0" marL="0">
              <a:buNone/>
            </a:pPr>
            <a:r>
              <a:rPr lang="en-US" sz="1300" dirty="0">
                <a:solidFill>
                  <a:srgbClr val="5E6E68"/>
                </a:solidFill>
                <a:latin typeface="Inter" pitchFamily="34" charset="0"/>
                <a:ea typeface="Inter" pitchFamily="34" charset="-122"/>
                <a:cs typeface="Inter" pitchFamily="34" charset="-120"/>
              </a:rPr>
              <a:t>Risks, harms, trust</a:t>
            </a:r>
            <a:endParaRPr lang="en-US" sz="1300" dirty="0"/>
          </a:p>
        </p:txBody>
      </p:sp>
      <p:sp>
        <p:nvSpPr>
          <p:cNvPr id="39" name="c1_card_1123"/>
          <p:cNvSpPr/>
          <p:nvPr/>
        </p:nvSpPr>
        <p:spPr>
          <a:xfrm>
            <a:off x="548640" y="5129784"/>
            <a:ext cx="6035040" cy="676656"/>
          </a:xfrm>
          <a:prstGeom prst="roundRect">
            <a:avLst>
              <a:gd name="adj" fmla="val 16216"/>
            </a:avLst>
          </a:prstGeom>
          <a:solidFill>
            <a:srgbClr val="E8F2ED"/>
          </a:solidFill>
          <a:ln w="12700">
            <a:solidFill>
              <a:srgbClr val="E8F2ED"/>
            </a:solidFill>
            <a:prstDash val="solid"/>
          </a:ln>
        </p:spPr>
      </p:sp>
      <p:sp>
        <p:nvSpPr>
          <p:cNvPr id="40" name="c1_num_1124"/>
          <p:cNvSpPr txBox="1"/>
          <p:nvPr/>
        </p:nvSpPr>
        <p:spPr>
          <a:xfrm>
            <a:off x="685800" y="5257800"/>
            <a:ext cx="420624" cy="420624"/>
          </a:xfrm>
          <a:prstGeom prst="ellipse">
            <a:avLst/>
          </a:prstGeom>
          <a:solidFill>
            <a:srgbClr val="1E6B4F"/>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a:t>
            </a:r>
            <a:endParaRPr lang="en-US" sz="1400" dirty="0"/>
          </a:p>
        </p:txBody>
      </p:sp>
      <p:sp>
        <p:nvSpPr>
          <p:cNvPr id="41" name="c1_txt_1125"/>
          <p:cNvSpPr txBox="1"/>
          <p:nvPr/>
        </p:nvSpPr>
        <p:spPr>
          <a:xfrm>
            <a:off x="1280160" y="5129784"/>
            <a:ext cx="3017520" cy="676656"/>
          </a:xfrm>
          <a:prstGeom prst="rect">
            <a:avLst/>
          </a:prstGeom>
          <a:noFill/>
          <a:ln/>
        </p:spPr>
        <p:txBody>
          <a:bodyPr wrap="square" lIns="0" tIns="0" rIns="0" bIns="0" rtlCol="0" anchor="ctr"/>
          <a:lstStyle/>
          <a:p>
            <a:pPr indent="0" marL="0">
              <a:buNone/>
            </a:pPr>
            <a:r>
              <a:rPr lang="en-US" sz="1700" b="1" dirty="0">
                <a:solidFill>
                  <a:srgbClr val="13221D"/>
                </a:solidFill>
                <a:latin typeface="Inter" pitchFamily="34" charset="0"/>
                <a:ea typeface="Inter" pitchFamily="34" charset="-122"/>
                <a:cs typeface="Inter" pitchFamily="34" charset="-120"/>
              </a:rPr>
              <a:t>Who isn't at the table yet</a:t>
            </a:r>
            <a:endParaRPr lang="en-US" sz="1700" dirty="0"/>
          </a:p>
        </p:txBody>
      </p:sp>
      <p:sp>
        <p:nvSpPr>
          <p:cNvPr id="42" name="c1_txt_1126"/>
          <p:cNvSpPr txBox="1"/>
          <p:nvPr/>
        </p:nvSpPr>
        <p:spPr>
          <a:xfrm>
            <a:off x="4206240" y="5129784"/>
            <a:ext cx="2240280" cy="676656"/>
          </a:xfrm>
          <a:prstGeom prst="rect">
            <a:avLst/>
          </a:prstGeom>
          <a:noFill/>
          <a:ln/>
        </p:spPr>
        <p:txBody>
          <a:bodyPr wrap="square" lIns="0" tIns="0" rIns="0" bIns="0" rtlCol="0" anchor="ctr"/>
          <a:lstStyle/>
          <a:p>
            <a:pPr indent="0" marL="0">
              <a:buNone/>
            </a:pPr>
            <a:r>
              <a:rPr lang="en-US" sz="1300" dirty="0">
                <a:solidFill>
                  <a:srgbClr val="5E6E68"/>
                </a:solidFill>
                <a:latin typeface="Inter" pitchFamily="34" charset="0"/>
                <a:ea typeface="Inter" pitchFamily="34" charset="-122"/>
                <a:cs typeface="Inter" pitchFamily="34" charset="-120"/>
              </a:rPr>
              <a:t>Voices to bring in</a:t>
            </a:r>
            <a:endParaRPr lang="en-US" sz="1300" dirty="0"/>
          </a:p>
        </p:txBody>
      </p:sp>
      <p:sp>
        <p:nvSpPr>
          <p:cNvPr id="43" name="c2_card_1127"/>
          <p:cNvSpPr/>
          <p:nvPr/>
        </p:nvSpPr>
        <p:spPr>
          <a:xfrm>
            <a:off x="6903720" y="2057400"/>
            <a:ext cx="4736592" cy="1783080"/>
          </a:xfrm>
          <a:prstGeom prst="roundRect">
            <a:avLst>
              <a:gd name="adj" fmla="val 6154"/>
            </a:avLst>
          </a:prstGeom>
          <a:solidFill>
            <a:srgbClr val="FCE7DF"/>
          </a:solidFill>
          <a:ln w="12700">
            <a:solidFill>
              <a:srgbClr val="FCE7DF"/>
            </a:solidFill>
            <a:prstDash val="solid"/>
          </a:ln>
        </p:spPr>
      </p:sp>
      <p:sp>
        <p:nvSpPr>
          <p:cNvPr id="44" name="c2_txt_1128"/>
          <p:cNvSpPr txBox="1"/>
          <p:nvPr/>
        </p:nvSpPr>
        <p:spPr>
          <a:xfrm>
            <a:off x="7178040" y="2194560"/>
            <a:ext cx="4206240" cy="457200"/>
          </a:xfrm>
          <a:prstGeom prst="rect">
            <a:avLst/>
          </a:prstGeom>
          <a:noFill/>
          <a:ln/>
        </p:spPr>
        <p:txBody>
          <a:bodyPr wrap="square" lIns="0" tIns="0" rIns="0" bIns="0" rtlCol="0" anchor="t"/>
          <a:lstStyle/>
          <a:p>
            <a:pPr indent="0" marL="0">
              <a:buNone/>
            </a:pPr>
            <a:r>
              <a:rPr lang="en-US" sz="2000" b="1" dirty="0">
                <a:solidFill>
                  <a:srgbClr val="E8613A"/>
                </a:solidFill>
                <a:latin typeface="Inter" pitchFamily="34" charset="0"/>
                <a:ea typeface="Inter" pitchFamily="34" charset="-122"/>
                <a:cs typeface="Inter" pitchFamily="34" charset="-120"/>
              </a:rPr>
              <a:t>◯  Circle</a:t>
            </a:r>
            <a:endParaRPr lang="en-US" sz="2000" dirty="0"/>
          </a:p>
        </p:txBody>
      </p:sp>
      <p:sp>
        <p:nvSpPr>
          <p:cNvPr id="45" name="c2_txt_1129"/>
          <p:cNvSpPr txBox="1"/>
          <p:nvPr/>
        </p:nvSpPr>
        <p:spPr>
          <a:xfrm>
            <a:off x="7178040" y="2697480"/>
            <a:ext cx="4206240" cy="1005840"/>
          </a:xfrm>
          <a:prstGeom prst="rect">
            <a:avLst/>
          </a:prstGeom>
          <a:noFill/>
          <a:ln/>
        </p:spPr>
        <p:txBody>
          <a:bodyPr wrap="square" lIns="0" tIns="0" rIns="0" bIns="0" rtlCol="0" anchor="t"/>
          <a:lstStyle/>
          <a:p>
            <a:pPr indent="0" marL="0">
              <a:buNone/>
            </a:pPr>
            <a:r>
              <a:rPr lang="en-US" sz="1600" dirty="0">
                <a:solidFill>
                  <a:srgbClr val="13221D"/>
                </a:solidFill>
                <a:latin typeface="Inter" pitchFamily="34" charset="0"/>
                <a:ea typeface="Inter" pitchFamily="34" charset="-122"/>
                <a:cs typeface="Inter" pitchFamily="34" charset="-120"/>
              </a:rPr>
              <a:t>the one line you most want to dig into: a hope or a worry.</a:t>
            </a:r>
            <a:endParaRPr lang="en-US" sz="1600" dirty="0"/>
          </a:p>
        </p:txBody>
      </p:sp>
      <p:sp>
        <p:nvSpPr>
          <p:cNvPr id="46" name="c3_card_1130"/>
          <p:cNvSpPr/>
          <p:nvPr/>
        </p:nvSpPr>
        <p:spPr>
          <a:xfrm>
            <a:off x="6903720" y="4023360"/>
            <a:ext cx="4736592" cy="1783080"/>
          </a:xfrm>
          <a:prstGeom prst="roundRect">
            <a:avLst>
              <a:gd name="adj" fmla="val 6154"/>
            </a:avLst>
          </a:prstGeom>
          <a:solidFill>
            <a:srgbClr val="0E3B2E"/>
          </a:solidFill>
          <a:ln w="12700">
            <a:solidFill>
              <a:srgbClr val="0E3B2E"/>
            </a:solidFill>
            <a:prstDash val="solid"/>
          </a:ln>
        </p:spPr>
      </p:sp>
      <p:sp>
        <p:nvSpPr>
          <p:cNvPr id="47" name="c3_txt_1131"/>
          <p:cNvSpPr txBox="1"/>
          <p:nvPr/>
        </p:nvSpPr>
        <p:spPr>
          <a:xfrm>
            <a:off x="7178040" y="4160520"/>
            <a:ext cx="4206240" cy="457200"/>
          </a:xfrm>
          <a:prstGeom prst="rect">
            <a:avLst/>
          </a:prstGeom>
          <a:noFill/>
          <a:ln/>
        </p:spPr>
        <p:txBody>
          <a:bodyPr wrap="square" lIns="0" tIns="0" rIns="0" bIns="0" rtlCol="0" anchor="t"/>
          <a:lstStyle/>
          <a:p>
            <a:pPr indent="0" marL="0">
              <a:buNone/>
            </a:pPr>
            <a:r>
              <a:rPr lang="en-US" sz="2000" b="1" dirty="0">
                <a:solidFill>
                  <a:srgbClr val="F2B33D"/>
                </a:solidFill>
                <a:latin typeface="Inter" pitchFamily="34" charset="0"/>
                <a:ea typeface="Inter" pitchFamily="34" charset="-122"/>
                <a:cs typeface="Inter" pitchFamily="34" charset="-120"/>
              </a:rPr>
              <a:t>Share in 1–2 sentences</a:t>
            </a:r>
            <a:endParaRPr lang="en-US" sz="2000" dirty="0"/>
          </a:p>
        </p:txBody>
      </p:sp>
      <p:sp>
        <p:nvSpPr>
          <p:cNvPr id="48" name="c3_txt_1132"/>
          <p:cNvSpPr txBox="1"/>
          <p:nvPr/>
        </p:nvSpPr>
        <p:spPr>
          <a:xfrm>
            <a:off x="7178040" y="4663440"/>
            <a:ext cx="4206240" cy="1005840"/>
          </a:xfrm>
          <a:prstGeom prst="rect">
            <a:avLst/>
          </a:prstGeom>
          <a:noFill/>
          <a:ln/>
        </p:spPr>
        <p:txBody>
          <a:bodyPr wrap="square" lIns="0" tIns="0" rIns="0" bIns="0" rtlCol="0" anchor="t"/>
          <a:lstStyle/>
          <a:p>
            <a:pPr indent="0" marL="0">
              <a:buNone/>
            </a:pPr>
            <a:r>
              <a:rPr lang="en-US" sz="1600" dirty="0">
                <a:solidFill>
                  <a:srgbClr val="FFFFFF"/>
                </a:solidFill>
                <a:latin typeface="Inter" pitchFamily="34" charset="0"/>
                <a:ea typeface="Inter" pitchFamily="34" charset="-122"/>
                <a:cs typeface="Inter" pitchFamily="34" charset="-120"/>
              </a:rPr>
              <a:t>Your problem, plus what you circled. Sticky note goes on the wall.</a:t>
            </a:r>
            <a:endParaRPr lang="en-US" sz="1600" dirty="0"/>
          </a:p>
        </p:txBody>
      </p:sp>
      <p:sp>
        <p:nvSpPr>
          <p:cNvPr id="49" name="pill_1133"/>
          <p:cNvSpPr txBox="1"/>
          <p:nvPr/>
        </p:nvSpPr>
        <p:spPr>
          <a:xfrm>
            <a:off x="548640" y="5925312"/>
            <a:ext cx="2926080" cy="347472"/>
          </a:xfrm>
          <a:prstGeom prst="roundRect">
            <a:avLst>
              <a:gd name="adj" fmla="val 47368"/>
            </a:avLst>
          </a:prstGeom>
          <a:solidFill>
            <a:srgbClr val="E8613A"/>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9:40  ·  15 min to write</a:t>
            </a:r>
            <a:endParaRPr lang="en-US" sz="1300" dirty="0"/>
          </a:p>
        </p:txBody>
      </p:sp>
      <p:sp>
        <p:nvSpPr>
          <p:cNvPr id="50" name="pill_1134"/>
          <p:cNvSpPr txBox="1"/>
          <p:nvPr/>
        </p:nvSpPr>
        <p:spPr>
          <a:xfrm>
            <a:off x="3657600" y="5925312"/>
            <a:ext cx="2926080" cy="347472"/>
          </a:xfrm>
          <a:prstGeom prst="roundRect">
            <a:avLst>
              <a:gd name="adj" fmla="val 47368"/>
            </a:avLst>
          </a:prstGeom>
          <a:solidFill>
            <a:srgbClr val="0E3B2E"/>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9:55  ·  15 min to share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4" fill="hold">
                      <p:stCondLst>
                        <p:cond delay="indefinite"/>
                      </p:stCondLst>
                      <p:childTnLst>
                        <p:par>
                          <p:cTn id="6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3"/>
                                        </p:tgtEl>
                                        <p:attrNameLst>
                                          <p:attrName>style.visibility</p:attrName>
                                        </p:attrNameLst>
                                      </p:cBhvr>
                                      <p:to>
                                        <p:strVal val="visible"/>
                                      </p:to>
                                    </p:set>
                                    <p:animEffect transition="in" filter="fade">
                                      <p:cBhvr>
                                        <p:cTn id="5" dur="400"/>
                                        <p:tgtEl>
                                          <p:spTgt spid="2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4"/>
                                        </p:tgtEl>
                                        <p:attrNameLst>
                                          <p:attrName>style.visibility</p:attrName>
                                        </p:attrNameLst>
                                      </p:cBhvr>
                                      <p:to>
                                        <p:strVal val="visible"/>
                                      </p:to>
                                    </p:set>
                                    <p:animEffect transition="in" filter="fade">
                                      <p:cBhvr>
                                        <p:cTn id="8" dur="400"/>
                                        <p:tgtEl>
                                          <p:spTgt spid="2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400"/>
                                        <p:tgtEl>
                                          <p:spTgt spid="2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fade">
                                      <p:cBhvr>
                                        <p:cTn id="14" dur="400"/>
                                        <p:tgtEl>
                                          <p:spTgt spid="2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00"/>
                                        <p:tgtEl>
                                          <p:spTgt spid="2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400"/>
                                        <p:tgtEl>
                                          <p:spTgt spid="3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4"/>
                                        </p:tgtEl>
                                        <p:attrNameLst>
                                          <p:attrName>style.visibility</p:attrName>
                                        </p:attrNameLst>
                                      </p:cBhvr>
                                      <p:to>
                                        <p:strVal val="visible"/>
                                      </p:to>
                                    </p:set>
                                    <p:animEffect transition="in" filter="fade">
                                      <p:cBhvr>
                                        <p:cTn id="38" dur="400"/>
                                        <p:tgtEl>
                                          <p:spTgt spid="3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fade">
                                      <p:cBhvr>
                                        <p:cTn id="41" dur="400"/>
                                        <p:tgtEl>
                                          <p:spTgt spid="3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400"/>
                                        <p:tgtEl>
                                          <p:spTgt spid="3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8"/>
                                        </p:tgtEl>
                                        <p:attrNameLst>
                                          <p:attrName>style.visibility</p:attrName>
                                        </p:attrNameLst>
                                      </p:cBhvr>
                                      <p:to>
                                        <p:strVal val="visible"/>
                                      </p:to>
                                    </p:set>
                                    <p:animEffect transition="in" filter="fade">
                                      <p:cBhvr>
                                        <p:cTn id="50" dur="400"/>
                                        <p:tgtEl>
                                          <p:spTgt spid="3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fade">
                                      <p:cBhvr>
                                        <p:cTn id="53" dur="400"/>
                                        <p:tgtEl>
                                          <p:spTgt spid="3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400"/>
                                        <p:tgtEl>
                                          <p:spTgt spid="4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animEffect transition="in" filter="fade">
                                      <p:cBhvr>
                                        <p:cTn id="59" dur="400"/>
                                        <p:tgtEl>
                                          <p:spTgt spid="4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fade">
                                      <p:cBhvr>
                                        <p:cTn id="62" dur="400"/>
                                        <p:tgtEl>
                                          <p:spTgt spid="42"/>
                                        </p:tgtEl>
                                      </p:cBhvr>
                                    </p:animEffect>
                                  </p:childTnLst>
                                </p:cTn>
                              </p:par>
                            </p:childTnLst>
                          </p:cTn>
                        </p:par>
                      </p:childTnLst>
                    </p:cTn>
                  </p:par>
                  <p:par>
                    <p:cTn id="75" fill="hold">
                      <p:stCondLst>
                        <p:cond delay="indefinite"/>
                      </p:stCondLst>
                      <p:childTnLst>
                        <p:par>
                          <p:cTn id="7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43"/>
                                        </p:tgtEl>
                                        <p:attrNameLst>
                                          <p:attrName>style.visibility</p:attrName>
                                        </p:attrNameLst>
                                      </p:cBhvr>
                                      <p:to>
                                        <p:strVal val="visible"/>
                                      </p:to>
                                    </p:set>
                                    <p:animEffect transition="in" filter="fade">
                                      <p:cBhvr>
                                        <p:cTn id="67" dur="400"/>
                                        <p:tgtEl>
                                          <p:spTgt spid="4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4"/>
                                        </p:tgtEl>
                                        <p:attrNameLst>
                                          <p:attrName>style.visibility</p:attrName>
                                        </p:attrNameLst>
                                      </p:cBhvr>
                                      <p:to>
                                        <p:strVal val="visible"/>
                                      </p:to>
                                    </p:set>
                                    <p:animEffect transition="in" filter="fade">
                                      <p:cBhvr>
                                        <p:cTn id="70" dur="400"/>
                                        <p:tgtEl>
                                          <p:spTgt spid="4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5"/>
                                        </p:tgtEl>
                                        <p:attrNameLst>
                                          <p:attrName>style.visibility</p:attrName>
                                        </p:attrNameLst>
                                      </p:cBhvr>
                                      <p:to>
                                        <p:strVal val="visible"/>
                                      </p:to>
                                    </p:set>
                                    <p:animEffect transition="in" filter="fade">
                                      <p:cBhvr>
                                        <p:cTn id="73" dur="400"/>
                                        <p:tgtEl>
                                          <p:spTgt spid="45"/>
                                        </p:tgtEl>
                                      </p:cBhvr>
                                    </p:animEffect>
                                  </p:childTnLst>
                                </p:cTn>
                              </p:par>
                            </p:childTnLst>
                          </p:cTn>
                        </p:par>
                      </p:childTnLst>
                    </p:cTn>
                  </p:par>
                  <p:par>
                    <p:cTn id="86" fill="hold">
                      <p:stCondLst>
                        <p:cond delay="indefinite"/>
                      </p:stCondLst>
                      <p:childTnLst>
                        <p:par>
                          <p:cTn id="8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6"/>
                                        </p:tgtEl>
                                        <p:attrNameLst>
                                          <p:attrName>style.visibility</p:attrName>
                                        </p:attrNameLst>
                                      </p:cBhvr>
                                      <p:to>
                                        <p:strVal val="visible"/>
                                      </p:to>
                                    </p:set>
                                    <p:animEffect transition="in" filter="fade">
                                      <p:cBhvr>
                                        <p:cTn id="78" dur="400"/>
                                        <p:tgtEl>
                                          <p:spTgt spid="4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7"/>
                                        </p:tgtEl>
                                        <p:attrNameLst>
                                          <p:attrName>style.visibility</p:attrName>
                                        </p:attrNameLst>
                                      </p:cBhvr>
                                      <p:to>
                                        <p:strVal val="visible"/>
                                      </p:to>
                                    </p:set>
                                    <p:animEffect transition="in" filter="fade">
                                      <p:cBhvr>
                                        <p:cTn id="81" dur="400"/>
                                        <p:tgtEl>
                                          <p:spTgt spid="4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me_chip_113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10:10 – 10:25  ·  15 min</a:t>
            </a:r>
            <a:endParaRPr lang="en-US" sz="1400" dirty="0"/>
          </a:p>
        </p:txBody>
      </p:sp>
      <p:sp>
        <p:nvSpPr>
          <p:cNvPr id="3" name="prog_welcome_1136"/>
          <p:cNvSpPr/>
          <p:nvPr/>
        </p:nvSpPr>
        <p:spPr>
          <a:xfrm>
            <a:off x="548640" y="6400800"/>
            <a:ext cx="715244" cy="73152"/>
          </a:xfrm>
          <a:prstGeom prst="rect">
            <a:avLst/>
          </a:prstGeom>
          <a:solidFill>
            <a:srgbClr val="A9C4B8"/>
          </a:solidFill>
          <a:ln w="12700">
            <a:solidFill>
              <a:srgbClr val="A9C4B8"/>
            </a:solidFill>
            <a:prstDash val="solid"/>
          </a:ln>
        </p:spPr>
      </p:sp>
      <p:sp>
        <p:nvSpPr>
          <p:cNvPr id="4" name="prog_lbl_welcome_1137"/>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1138"/>
          <p:cNvSpPr/>
          <p:nvPr/>
        </p:nvSpPr>
        <p:spPr>
          <a:xfrm>
            <a:off x="1309604" y="6400800"/>
            <a:ext cx="1072866" cy="73152"/>
          </a:xfrm>
          <a:prstGeom prst="rect">
            <a:avLst/>
          </a:prstGeom>
          <a:solidFill>
            <a:srgbClr val="A9C4B8"/>
          </a:solidFill>
          <a:ln w="12700">
            <a:solidFill>
              <a:srgbClr val="A9C4B8"/>
            </a:solidFill>
            <a:prstDash val="solid"/>
          </a:ln>
        </p:spPr>
      </p:sp>
      <p:sp>
        <p:nvSpPr>
          <p:cNvPr id="6" name="prog_lbl_ai_1139"/>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AI</a:t>
            </a:r>
            <a:endParaRPr lang="en-US" sz="1000" dirty="0"/>
          </a:p>
        </p:txBody>
      </p:sp>
      <p:sp>
        <p:nvSpPr>
          <p:cNvPr id="7" name="prog_pd_1140"/>
          <p:cNvSpPr/>
          <p:nvPr/>
        </p:nvSpPr>
        <p:spPr>
          <a:xfrm>
            <a:off x="2428189" y="6400800"/>
            <a:ext cx="1072866" cy="73152"/>
          </a:xfrm>
          <a:prstGeom prst="rect">
            <a:avLst/>
          </a:prstGeom>
          <a:solidFill>
            <a:srgbClr val="A9C4B8"/>
          </a:solidFill>
          <a:ln w="12700">
            <a:solidFill>
              <a:srgbClr val="A9C4B8"/>
            </a:solidFill>
            <a:prstDash val="solid"/>
          </a:ln>
        </p:spPr>
      </p:sp>
      <p:sp>
        <p:nvSpPr>
          <p:cNvPr id="8" name="prog_lbl_pd_1141"/>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Design</a:t>
            </a:r>
            <a:endParaRPr lang="en-US" sz="1000" dirty="0"/>
          </a:p>
        </p:txBody>
      </p:sp>
      <p:sp>
        <p:nvSpPr>
          <p:cNvPr id="9" name="prog_reflect_1142"/>
          <p:cNvSpPr/>
          <p:nvPr/>
        </p:nvSpPr>
        <p:spPr>
          <a:xfrm>
            <a:off x="3546775" y="6400800"/>
            <a:ext cx="1072866" cy="73152"/>
          </a:xfrm>
          <a:prstGeom prst="rect">
            <a:avLst/>
          </a:prstGeom>
          <a:solidFill>
            <a:srgbClr val="A9C4B8"/>
          </a:solidFill>
          <a:ln w="12700">
            <a:solidFill>
              <a:srgbClr val="A9C4B8"/>
            </a:solidFill>
            <a:prstDash val="solid"/>
          </a:ln>
        </p:spPr>
      </p:sp>
      <p:sp>
        <p:nvSpPr>
          <p:cNvPr id="10" name="prog_lbl_reflect_1143"/>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Reflect</a:t>
            </a:r>
            <a:endParaRPr lang="en-US" sz="1000" dirty="0"/>
          </a:p>
        </p:txBody>
      </p:sp>
      <p:sp>
        <p:nvSpPr>
          <p:cNvPr id="11" name="prog_share_1144"/>
          <p:cNvSpPr/>
          <p:nvPr/>
        </p:nvSpPr>
        <p:spPr>
          <a:xfrm>
            <a:off x="4665360" y="6400800"/>
            <a:ext cx="1072866" cy="73152"/>
          </a:xfrm>
          <a:prstGeom prst="rect">
            <a:avLst/>
          </a:prstGeom>
          <a:solidFill>
            <a:srgbClr val="A9C4B8"/>
          </a:solidFill>
          <a:ln w="12700">
            <a:solidFill>
              <a:srgbClr val="A9C4B8"/>
            </a:solidFill>
            <a:prstDash val="solid"/>
          </a:ln>
        </p:spPr>
      </p:sp>
      <p:sp>
        <p:nvSpPr>
          <p:cNvPr id="12" name="prog_lbl_share_1145"/>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Share</a:t>
            </a:r>
            <a:endParaRPr lang="en-US" sz="1000" dirty="0"/>
          </a:p>
        </p:txBody>
      </p:sp>
      <p:sp>
        <p:nvSpPr>
          <p:cNvPr id="13" name="prog_break_1146"/>
          <p:cNvSpPr/>
          <p:nvPr/>
        </p:nvSpPr>
        <p:spPr>
          <a:xfrm>
            <a:off x="5783946" y="6400800"/>
            <a:ext cx="1072866" cy="73152"/>
          </a:xfrm>
          <a:prstGeom prst="rect">
            <a:avLst/>
          </a:prstGeom>
          <a:solidFill>
            <a:srgbClr val="E8613A"/>
          </a:solidFill>
          <a:ln w="12700">
            <a:solidFill>
              <a:srgbClr val="E8613A"/>
            </a:solidFill>
            <a:prstDash val="solid"/>
          </a:ln>
        </p:spPr>
      </p:sp>
      <p:sp>
        <p:nvSpPr>
          <p:cNvPr id="14" name="prog_lbl_break_1147"/>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Break</a:t>
            </a:r>
            <a:endParaRPr lang="en-US" sz="1000" dirty="0"/>
          </a:p>
        </p:txBody>
      </p:sp>
      <p:sp>
        <p:nvSpPr>
          <p:cNvPr id="15" name="prog_breakout_1148"/>
          <p:cNvSpPr/>
          <p:nvPr/>
        </p:nvSpPr>
        <p:spPr>
          <a:xfrm>
            <a:off x="6902531" y="6400800"/>
            <a:ext cx="3218597" cy="73152"/>
          </a:xfrm>
          <a:prstGeom prst="rect">
            <a:avLst/>
          </a:prstGeom>
          <a:solidFill>
            <a:srgbClr val="2A5A4A"/>
          </a:solidFill>
          <a:ln w="12700">
            <a:solidFill>
              <a:srgbClr val="2A5A4A"/>
            </a:solidFill>
            <a:prstDash val="solid"/>
          </a:ln>
        </p:spPr>
      </p:sp>
      <p:sp>
        <p:nvSpPr>
          <p:cNvPr id="16" name="prog_lbl_breakout_1149"/>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1150"/>
          <p:cNvSpPr/>
          <p:nvPr/>
        </p:nvSpPr>
        <p:spPr>
          <a:xfrm>
            <a:off x="10166848" y="6400800"/>
            <a:ext cx="715244" cy="73152"/>
          </a:xfrm>
          <a:prstGeom prst="rect">
            <a:avLst/>
          </a:prstGeom>
          <a:solidFill>
            <a:srgbClr val="2A5A4A"/>
          </a:solidFill>
          <a:ln w="12700">
            <a:solidFill>
              <a:srgbClr val="2A5A4A"/>
            </a:solidFill>
            <a:prstDash val="solid"/>
          </a:ln>
        </p:spPr>
      </p:sp>
      <p:sp>
        <p:nvSpPr>
          <p:cNvPr id="18" name="prog_lbl_report_1151"/>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1152"/>
          <p:cNvSpPr/>
          <p:nvPr/>
        </p:nvSpPr>
        <p:spPr>
          <a:xfrm>
            <a:off x="10927812" y="6400800"/>
            <a:ext cx="715244" cy="73152"/>
          </a:xfrm>
          <a:prstGeom prst="rect">
            <a:avLst/>
          </a:prstGeom>
          <a:solidFill>
            <a:srgbClr val="2A5A4A"/>
          </a:solidFill>
          <a:ln w="12700">
            <a:solidFill>
              <a:srgbClr val="2A5A4A"/>
            </a:solidFill>
            <a:prstDash val="solid"/>
          </a:ln>
        </p:spPr>
      </p:sp>
      <p:sp>
        <p:nvSpPr>
          <p:cNvPr id="20" name="prog_lbl_close_1153"/>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1" name="txt_1154"/>
          <p:cNvSpPr txBox="1"/>
          <p:nvPr/>
        </p:nvSpPr>
        <p:spPr>
          <a:xfrm>
            <a:off x="548640" y="1463040"/>
            <a:ext cx="5486400" cy="914400"/>
          </a:xfrm>
          <a:prstGeom prst="rect">
            <a:avLst/>
          </a:prstGeom>
          <a:noFill/>
          <a:ln/>
        </p:spPr>
        <p:txBody>
          <a:bodyPr wrap="square" lIns="0" tIns="0" rIns="0" bIns="0" rtlCol="0" anchor="t"/>
          <a:lstStyle/>
          <a:p>
            <a:pPr indent="0" marL="0">
              <a:buNone/>
            </a:pPr>
            <a:r>
              <a:rPr lang="en-US" sz="4400" b="1" dirty="0">
                <a:solidFill>
                  <a:srgbClr val="FFFFFF"/>
                </a:solidFill>
                <a:latin typeface="Inter" pitchFamily="34" charset="0"/>
                <a:ea typeface="Inter" pitchFamily="34" charset="-122"/>
                <a:cs typeface="Inter" pitchFamily="34" charset="-120"/>
              </a:rPr>
              <a:t>Break</a:t>
            </a:r>
            <a:endParaRPr lang="en-US" sz="4400" dirty="0"/>
          </a:p>
        </p:txBody>
      </p:sp>
      <p:sp>
        <p:nvSpPr>
          <p:cNvPr id="22" name="txt_1155"/>
          <p:cNvSpPr txBox="1"/>
          <p:nvPr/>
        </p:nvSpPr>
        <p:spPr>
          <a:xfrm>
            <a:off x="548640" y="2331720"/>
            <a:ext cx="3657600" cy="2194560"/>
          </a:xfrm>
          <a:prstGeom prst="rect">
            <a:avLst/>
          </a:prstGeom>
          <a:noFill/>
          <a:ln/>
        </p:spPr>
        <p:txBody>
          <a:bodyPr wrap="square" lIns="0" tIns="0" rIns="0" bIns="0" rtlCol="0" anchor="ctr"/>
          <a:lstStyle/>
          <a:p>
            <a:pPr indent="0" marL="0">
              <a:buNone/>
            </a:pPr>
            <a:r>
              <a:rPr lang="en-US" sz="15000" b="1" dirty="0">
                <a:solidFill>
                  <a:srgbClr val="E8613A"/>
                </a:solidFill>
                <a:latin typeface="Inter" pitchFamily="34" charset="0"/>
                <a:ea typeface="Inter" pitchFamily="34" charset="-122"/>
                <a:cs typeface="Inter" pitchFamily="34" charset="-120"/>
              </a:rPr>
              <a:t>15</a:t>
            </a:r>
            <a:endParaRPr lang="en-US" sz="15000" dirty="0"/>
          </a:p>
        </p:txBody>
      </p:sp>
      <p:sp>
        <p:nvSpPr>
          <p:cNvPr id="23" name="txt_1156"/>
          <p:cNvSpPr txBox="1"/>
          <p:nvPr/>
        </p:nvSpPr>
        <p:spPr>
          <a:xfrm>
            <a:off x="640080" y="4434840"/>
            <a:ext cx="3657600" cy="457200"/>
          </a:xfrm>
          <a:prstGeom prst="rect">
            <a:avLst/>
          </a:prstGeom>
          <a:noFill/>
          <a:ln/>
        </p:spPr>
        <p:txBody>
          <a:bodyPr wrap="square" lIns="0" tIns="0" rIns="0" bIns="0" rtlCol="0" anchor="t"/>
          <a:lstStyle/>
          <a:p>
            <a:pPr indent="0" marL="0">
              <a:buNone/>
            </a:pPr>
            <a:r>
              <a:rPr lang="en-US" sz="2200" b="1" dirty="0">
                <a:solidFill>
                  <a:srgbClr val="FFFFFF"/>
                </a:solidFill>
                <a:latin typeface="Inter" pitchFamily="34" charset="0"/>
                <a:ea typeface="Inter" pitchFamily="34" charset="-122"/>
                <a:cs typeface="Inter" pitchFamily="34" charset="-120"/>
              </a:rPr>
              <a:t>minutes</a:t>
            </a:r>
            <a:endParaRPr lang="en-US" sz="2200" dirty="0"/>
          </a:p>
        </p:txBody>
      </p:sp>
      <p:sp>
        <p:nvSpPr>
          <p:cNvPr id="24" name="txt_1157"/>
          <p:cNvSpPr txBox="1"/>
          <p:nvPr/>
        </p:nvSpPr>
        <p:spPr>
          <a:xfrm>
            <a:off x="640080" y="4983480"/>
            <a:ext cx="4572000" cy="457200"/>
          </a:xfrm>
          <a:prstGeom prst="rect">
            <a:avLst/>
          </a:prstGeom>
          <a:noFill/>
          <a:ln/>
        </p:spPr>
        <p:txBody>
          <a:bodyPr wrap="square" lIns="0" tIns="0" rIns="0" bIns="0" rtlCol="0" anchor="t"/>
          <a:lstStyle/>
          <a:p>
            <a:pPr indent="0" marL="0">
              <a:buNone/>
            </a:pPr>
            <a:r>
              <a:rPr lang="en-US" sz="2000" b="1" dirty="0">
                <a:solidFill>
                  <a:srgbClr val="F2B33D"/>
                </a:solidFill>
                <a:latin typeface="Inter" pitchFamily="34" charset="0"/>
                <a:ea typeface="Inter" pitchFamily="34" charset="-122"/>
                <a:cs typeface="Inter" pitchFamily="34" charset="-120"/>
              </a:rPr>
              <a:t>Back at 10:25</a:t>
            </a:r>
            <a:endParaRPr lang="en-US" sz="2000" dirty="0"/>
          </a:p>
        </p:txBody>
      </p:sp>
      <p:sp>
        <p:nvSpPr>
          <p:cNvPr id="25" name="card_1158"/>
          <p:cNvSpPr/>
          <p:nvPr/>
        </p:nvSpPr>
        <p:spPr>
          <a:xfrm>
            <a:off x="6309360" y="1554480"/>
            <a:ext cx="5330952" cy="4206240"/>
          </a:xfrm>
          <a:prstGeom prst="roundRect">
            <a:avLst>
              <a:gd name="adj" fmla="val 2609"/>
            </a:avLst>
          </a:prstGeom>
          <a:solidFill>
            <a:srgbClr val="174A3A"/>
          </a:solidFill>
          <a:ln w="12700">
            <a:solidFill>
              <a:srgbClr val="174A3A"/>
            </a:solidFill>
            <a:prstDash val="solid"/>
          </a:ln>
        </p:spPr>
      </p:sp>
      <p:sp>
        <p:nvSpPr>
          <p:cNvPr id="26" name="txt_1159"/>
          <p:cNvSpPr txBox="1"/>
          <p:nvPr/>
        </p:nvSpPr>
        <p:spPr>
          <a:xfrm>
            <a:off x="6675120" y="1828800"/>
            <a:ext cx="4663440" cy="457200"/>
          </a:xfrm>
          <a:prstGeom prst="rect">
            <a:avLst/>
          </a:prstGeom>
          <a:noFill/>
          <a:ln/>
        </p:spPr>
        <p:txBody>
          <a:bodyPr wrap="square" lIns="0" tIns="0" rIns="0" bIns="0" rtlCol="0" anchor="t"/>
          <a:lstStyle/>
          <a:p>
            <a:pPr indent="0" marL="0">
              <a:buNone/>
            </a:pPr>
            <a:r>
              <a:rPr lang="en-US" sz="2000" b="1" dirty="0">
                <a:solidFill>
                  <a:srgbClr val="F2B33D"/>
                </a:solidFill>
                <a:latin typeface="Inter" pitchFamily="34" charset="0"/>
                <a:ea typeface="Inter" pitchFamily="34" charset="-122"/>
                <a:cs typeface="Inter" pitchFamily="34" charset="-120"/>
              </a:rPr>
              <a:t>While you're away</a:t>
            </a:r>
            <a:endParaRPr lang="en-US" sz="2000" dirty="0"/>
          </a:p>
        </p:txBody>
      </p:sp>
      <p:sp>
        <p:nvSpPr>
          <p:cNvPr id="27" name="num_1160"/>
          <p:cNvSpPr txBox="1"/>
          <p:nvPr/>
        </p:nvSpPr>
        <p:spPr>
          <a:xfrm>
            <a:off x="6675120" y="2514600"/>
            <a:ext cx="457200" cy="457200"/>
          </a:xfrm>
          <a:prstGeom prst="ellipse">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28" name="txt_1161"/>
          <p:cNvSpPr txBox="1"/>
          <p:nvPr/>
        </p:nvSpPr>
        <p:spPr>
          <a:xfrm>
            <a:off x="7315200" y="2468880"/>
            <a:ext cx="4114800" cy="822960"/>
          </a:xfrm>
          <a:prstGeom prst="rect">
            <a:avLst/>
          </a:prstGeom>
          <a:noFill/>
          <a:ln/>
        </p:spPr>
        <p:txBody>
          <a:bodyPr wrap="square" lIns="0" tIns="0" rIns="0" bIns="0" rtlCol="0" anchor="ctr"/>
          <a:lstStyle/>
          <a:p>
            <a:pPr indent="0" marL="0">
              <a:buNone/>
            </a:pPr>
            <a:r>
              <a:rPr lang="en-US" sz="1700" dirty="0">
                <a:solidFill>
                  <a:srgbClr val="FFFFFF"/>
                </a:solidFill>
                <a:latin typeface="Inter" pitchFamily="34" charset="0"/>
                <a:ea typeface="Inter" pitchFamily="34" charset="-122"/>
                <a:cs typeface="Inter" pitchFamily="34" charset="-120"/>
              </a:rPr>
              <a:t>We group your sticky notes into 2–4 shared themes</a:t>
            </a:r>
            <a:endParaRPr lang="en-US" sz="1700" dirty="0"/>
          </a:p>
        </p:txBody>
      </p:sp>
      <p:sp>
        <p:nvSpPr>
          <p:cNvPr id="29" name="num_1162"/>
          <p:cNvSpPr txBox="1"/>
          <p:nvPr/>
        </p:nvSpPr>
        <p:spPr>
          <a:xfrm>
            <a:off x="6675120" y="3520440"/>
            <a:ext cx="457200" cy="457200"/>
          </a:xfrm>
          <a:prstGeom prst="ellipse">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30" name="txt_1163"/>
          <p:cNvSpPr txBox="1"/>
          <p:nvPr/>
        </p:nvSpPr>
        <p:spPr>
          <a:xfrm>
            <a:off x="7315200" y="3474720"/>
            <a:ext cx="4114800" cy="822960"/>
          </a:xfrm>
          <a:prstGeom prst="rect">
            <a:avLst/>
          </a:prstGeom>
          <a:noFill/>
          <a:ln/>
        </p:spPr>
        <p:txBody>
          <a:bodyPr wrap="square" lIns="0" tIns="0" rIns="0" bIns="0" rtlCol="0" anchor="ctr"/>
          <a:lstStyle/>
          <a:p>
            <a:pPr indent="0" marL="0">
              <a:buNone/>
            </a:pPr>
            <a:r>
              <a:rPr lang="en-US" sz="1700" dirty="0">
                <a:solidFill>
                  <a:srgbClr val="FFFFFF"/>
                </a:solidFill>
                <a:latin typeface="Inter" pitchFamily="34" charset="0"/>
                <a:ea typeface="Inter" pitchFamily="34" charset="-122"/>
                <a:cs typeface="Inter" pitchFamily="34" charset="-120"/>
              </a:rPr>
              <a:t>Each theme becomes a breakout starting point</a:t>
            </a:r>
            <a:endParaRPr lang="en-US" sz="1700" dirty="0"/>
          </a:p>
        </p:txBody>
      </p:sp>
      <p:sp>
        <p:nvSpPr>
          <p:cNvPr id="31" name="num_1164"/>
          <p:cNvSpPr txBox="1"/>
          <p:nvPr/>
        </p:nvSpPr>
        <p:spPr>
          <a:xfrm>
            <a:off x="6675120" y="4526280"/>
            <a:ext cx="457200" cy="457200"/>
          </a:xfrm>
          <a:prstGeom prst="ellipse">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32" name="txt_1165"/>
          <p:cNvSpPr txBox="1"/>
          <p:nvPr/>
        </p:nvSpPr>
        <p:spPr>
          <a:xfrm>
            <a:off x="7315200" y="4480560"/>
            <a:ext cx="4114800" cy="822960"/>
          </a:xfrm>
          <a:prstGeom prst="rect">
            <a:avLst/>
          </a:prstGeom>
          <a:noFill/>
          <a:ln/>
        </p:spPr>
        <p:txBody>
          <a:bodyPr wrap="square" lIns="0" tIns="0" rIns="0" bIns="0" rtlCol="0" anchor="ctr"/>
          <a:lstStyle/>
          <a:p>
            <a:pPr indent="0" marL="0">
              <a:buNone/>
            </a:pPr>
            <a:r>
              <a:rPr lang="en-US" sz="1700" dirty="0">
                <a:solidFill>
                  <a:srgbClr val="FFFFFF"/>
                </a:solidFill>
                <a:latin typeface="Inter" pitchFamily="34" charset="0"/>
                <a:ea typeface="Inter" pitchFamily="34" charset="-122"/>
                <a:cs typeface="Inter" pitchFamily="34" charset="-120"/>
              </a:rPr>
              <a:t>Add another sticky note if something new comes up</a:t>
            </a:r>
            <a:endParaRPr lang="en-US" sz="17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13221D"/>
                </a:solidFill>
                <a:latin typeface="Inter" pitchFamily="34" charset="0"/>
                <a:ea typeface="Inter" pitchFamily="34" charset="-122"/>
                <a:cs typeface="Inter" pitchFamily="34" charset="-120"/>
              </a:rPr>
              <a:t>Breakout groups and share-outs</a:t>
            </a:r>
            <a:endParaRPr lang="en-US" sz="3000" dirty="0"/>
          </a:p>
        </p:txBody>
      </p:sp>
      <p:sp>
        <p:nvSpPr>
          <p:cNvPr id="3" name="time_chip_116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10:25 – 11:20  ·  55 min</a:t>
            </a:r>
            <a:endParaRPr lang="en-US" sz="1400" dirty="0"/>
          </a:p>
        </p:txBody>
      </p:sp>
      <p:sp>
        <p:nvSpPr>
          <p:cNvPr id="4" name="prog_welcome_1167"/>
          <p:cNvSpPr/>
          <p:nvPr/>
        </p:nvSpPr>
        <p:spPr>
          <a:xfrm>
            <a:off x="548640" y="6400800"/>
            <a:ext cx="715244" cy="73152"/>
          </a:xfrm>
          <a:prstGeom prst="rect">
            <a:avLst/>
          </a:prstGeom>
          <a:solidFill>
            <a:srgbClr val="1E6B4F"/>
          </a:solidFill>
          <a:ln w="12700">
            <a:solidFill>
              <a:srgbClr val="1E6B4F"/>
            </a:solidFill>
            <a:prstDash val="solid"/>
          </a:ln>
        </p:spPr>
      </p:sp>
      <p:sp>
        <p:nvSpPr>
          <p:cNvPr id="5" name="prog_lbl_welcome_1168"/>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1169"/>
          <p:cNvSpPr/>
          <p:nvPr/>
        </p:nvSpPr>
        <p:spPr>
          <a:xfrm>
            <a:off x="1309604" y="6400800"/>
            <a:ext cx="1072866" cy="73152"/>
          </a:xfrm>
          <a:prstGeom prst="rect">
            <a:avLst/>
          </a:prstGeom>
          <a:solidFill>
            <a:srgbClr val="1E6B4F"/>
          </a:solidFill>
          <a:ln w="12700">
            <a:solidFill>
              <a:srgbClr val="1E6B4F"/>
            </a:solidFill>
            <a:prstDash val="solid"/>
          </a:ln>
        </p:spPr>
      </p:sp>
      <p:sp>
        <p:nvSpPr>
          <p:cNvPr id="7" name="prog_lbl_ai_1170"/>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1171"/>
          <p:cNvSpPr/>
          <p:nvPr/>
        </p:nvSpPr>
        <p:spPr>
          <a:xfrm>
            <a:off x="2428189" y="6400800"/>
            <a:ext cx="1072866" cy="73152"/>
          </a:xfrm>
          <a:prstGeom prst="rect">
            <a:avLst/>
          </a:prstGeom>
          <a:solidFill>
            <a:srgbClr val="1E6B4F"/>
          </a:solidFill>
          <a:ln w="12700">
            <a:solidFill>
              <a:srgbClr val="1E6B4F"/>
            </a:solidFill>
            <a:prstDash val="solid"/>
          </a:ln>
        </p:spPr>
      </p:sp>
      <p:sp>
        <p:nvSpPr>
          <p:cNvPr id="9" name="prog_lbl_pd_1172"/>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Design</a:t>
            </a:r>
            <a:endParaRPr lang="en-US" sz="1000" dirty="0"/>
          </a:p>
        </p:txBody>
      </p:sp>
      <p:sp>
        <p:nvSpPr>
          <p:cNvPr id="10" name="prog_reflect_1173"/>
          <p:cNvSpPr/>
          <p:nvPr/>
        </p:nvSpPr>
        <p:spPr>
          <a:xfrm>
            <a:off x="3546775" y="6400800"/>
            <a:ext cx="1072866" cy="73152"/>
          </a:xfrm>
          <a:prstGeom prst="rect">
            <a:avLst/>
          </a:prstGeom>
          <a:solidFill>
            <a:srgbClr val="1E6B4F"/>
          </a:solidFill>
          <a:ln w="12700">
            <a:solidFill>
              <a:srgbClr val="1E6B4F"/>
            </a:solidFill>
            <a:prstDash val="solid"/>
          </a:ln>
        </p:spPr>
      </p:sp>
      <p:sp>
        <p:nvSpPr>
          <p:cNvPr id="11" name="prog_lbl_reflect_1174"/>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Reflect</a:t>
            </a:r>
            <a:endParaRPr lang="en-US" sz="1000" dirty="0"/>
          </a:p>
        </p:txBody>
      </p:sp>
      <p:sp>
        <p:nvSpPr>
          <p:cNvPr id="12" name="prog_share_1175"/>
          <p:cNvSpPr/>
          <p:nvPr/>
        </p:nvSpPr>
        <p:spPr>
          <a:xfrm>
            <a:off x="4665360" y="6400800"/>
            <a:ext cx="1072866" cy="73152"/>
          </a:xfrm>
          <a:prstGeom prst="rect">
            <a:avLst/>
          </a:prstGeom>
          <a:solidFill>
            <a:srgbClr val="1E6B4F"/>
          </a:solidFill>
          <a:ln w="12700">
            <a:solidFill>
              <a:srgbClr val="1E6B4F"/>
            </a:solidFill>
            <a:prstDash val="solid"/>
          </a:ln>
        </p:spPr>
      </p:sp>
      <p:sp>
        <p:nvSpPr>
          <p:cNvPr id="13" name="prog_lbl_share_1176"/>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Share</a:t>
            </a:r>
            <a:endParaRPr lang="en-US" sz="1000" dirty="0"/>
          </a:p>
        </p:txBody>
      </p:sp>
      <p:sp>
        <p:nvSpPr>
          <p:cNvPr id="14" name="prog_break_1177"/>
          <p:cNvSpPr/>
          <p:nvPr/>
        </p:nvSpPr>
        <p:spPr>
          <a:xfrm>
            <a:off x="5783946" y="6400800"/>
            <a:ext cx="1072866" cy="73152"/>
          </a:xfrm>
          <a:prstGeom prst="rect">
            <a:avLst/>
          </a:prstGeom>
          <a:solidFill>
            <a:srgbClr val="1E6B4F"/>
          </a:solidFill>
          <a:ln w="12700">
            <a:solidFill>
              <a:srgbClr val="1E6B4F"/>
            </a:solidFill>
            <a:prstDash val="solid"/>
          </a:ln>
        </p:spPr>
      </p:sp>
      <p:sp>
        <p:nvSpPr>
          <p:cNvPr id="15" name="prog_lbl_break_1178"/>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5E6E68"/>
                </a:solidFill>
                <a:latin typeface="Inter" pitchFamily="34" charset="0"/>
                <a:ea typeface="Inter" pitchFamily="34" charset="-122"/>
                <a:cs typeface="Inter" pitchFamily="34" charset="-120"/>
              </a:rPr>
              <a:t>Break</a:t>
            </a:r>
            <a:endParaRPr lang="en-US" sz="1000" dirty="0"/>
          </a:p>
        </p:txBody>
      </p:sp>
      <p:sp>
        <p:nvSpPr>
          <p:cNvPr id="16" name="prog_breakout_1179"/>
          <p:cNvSpPr/>
          <p:nvPr/>
        </p:nvSpPr>
        <p:spPr>
          <a:xfrm>
            <a:off x="6902531" y="6400800"/>
            <a:ext cx="3218597" cy="73152"/>
          </a:xfrm>
          <a:prstGeom prst="rect">
            <a:avLst/>
          </a:prstGeom>
          <a:solidFill>
            <a:srgbClr val="E8613A"/>
          </a:solidFill>
          <a:ln w="12700">
            <a:solidFill>
              <a:srgbClr val="E8613A"/>
            </a:solidFill>
            <a:prstDash val="solid"/>
          </a:ln>
        </p:spPr>
      </p:sp>
      <p:sp>
        <p:nvSpPr>
          <p:cNvPr id="17" name="prog_lbl_breakout_1180"/>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Breakouts</a:t>
            </a:r>
            <a:endParaRPr lang="en-US" sz="1000" dirty="0"/>
          </a:p>
        </p:txBody>
      </p:sp>
      <p:sp>
        <p:nvSpPr>
          <p:cNvPr id="18" name="prog_report_1181"/>
          <p:cNvSpPr/>
          <p:nvPr/>
        </p:nvSpPr>
        <p:spPr>
          <a:xfrm>
            <a:off x="10166848" y="6400800"/>
            <a:ext cx="715244" cy="73152"/>
          </a:xfrm>
          <a:prstGeom prst="rect">
            <a:avLst/>
          </a:prstGeom>
          <a:solidFill>
            <a:srgbClr val="E8613A"/>
          </a:solidFill>
          <a:ln w="12700">
            <a:solidFill>
              <a:srgbClr val="E8613A"/>
            </a:solidFill>
            <a:prstDash val="solid"/>
          </a:ln>
        </p:spPr>
      </p:sp>
      <p:sp>
        <p:nvSpPr>
          <p:cNvPr id="19" name="prog_lbl_report_1182"/>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Report</a:t>
            </a:r>
            <a:endParaRPr lang="en-US" sz="1000" dirty="0"/>
          </a:p>
        </p:txBody>
      </p:sp>
      <p:sp>
        <p:nvSpPr>
          <p:cNvPr id="20" name="prog_close_1183"/>
          <p:cNvSpPr/>
          <p:nvPr/>
        </p:nvSpPr>
        <p:spPr>
          <a:xfrm>
            <a:off x="10927812" y="6400800"/>
            <a:ext cx="715244" cy="73152"/>
          </a:xfrm>
          <a:prstGeom prst="rect">
            <a:avLst/>
          </a:prstGeom>
          <a:solidFill>
            <a:srgbClr val="D9E1DD"/>
          </a:solidFill>
          <a:ln w="12700">
            <a:solidFill>
              <a:srgbClr val="D9E1DD"/>
            </a:solidFill>
            <a:prstDash val="solid"/>
          </a:ln>
        </p:spPr>
      </p:sp>
      <p:sp>
        <p:nvSpPr>
          <p:cNvPr id="21" name="prog_lbl_close_1184"/>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1185"/>
          <p:cNvSpPr/>
          <p:nvPr/>
        </p:nvSpPr>
        <p:spPr>
          <a:xfrm>
            <a:off x="548640" y="1371600"/>
            <a:ext cx="2606040" cy="868680"/>
          </a:xfrm>
          <a:prstGeom prst="roundRect">
            <a:avLst>
              <a:gd name="adj" fmla="val 12632"/>
            </a:avLst>
          </a:prstGeom>
          <a:solidFill>
            <a:srgbClr val="0E3B2E"/>
          </a:solidFill>
          <a:ln w="12700">
            <a:solidFill>
              <a:srgbClr val="0E3B2E"/>
            </a:solidFill>
            <a:prstDash val="solid"/>
          </a:ln>
        </p:spPr>
      </p:sp>
      <p:sp>
        <p:nvSpPr>
          <p:cNvPr id="23" name="txt_1186"/>
          <p:cNvSpPr txBox="1"/>
          <p:nvPr/>
        </p:nvSpPr>
        <p:spPr>
          <a:xfrm>
            <a:off x="731520" y="1417320"/>
            <a:ext cx="2286000" cy="457200"/>
          </a:xfrm>
          <a:prstGeom prst="rect">
            <a:avLst/>
          </a:prstGeom>
          <a:noFill/>
          <a:ln/>
        </p:spPr>
        <p:txBody>
          <a:bodyPr wrap="square" lIns="0" tIns="0" rIns="0" bIns="0" rtlCol="0" anchor="t"/>
          <a:lstStyle/>
          <a:p>
            <a:pPr indent="0" marL="0">
              <a:buNone/>
            </a:pPr>
            <a:r>
              <a:rPr lang="en-US" sz="1500" b="1" dirty="0">
                <a:solidFill>
                  <a:srgbClr val="FFFFFF"/>
                </a:solidFill>
                <a:latin typeface="Inter" pitchFamily="34" charset="0"/>
                <a:ea typeface="Inter" pitchFamily="34" charset="-122"/>
                <a:cs typeface="Inter" pitchFamily="34" charset="-120"/>
              </a:rPr>
              <a:t>Group A  ·  AI lens</a:t>
            </a:r>
            <a:endParaRPr lang="en-US" sz="1500" dirty="0"/>
          </a:p>
        </p:txBody>
      </p:sp>
      <p:sp>
        <p:nvSpPr>
          <p:cNvPr id="24" name="txt_1187"/>
          <p:cNvSpPr txBox="1"/>
          <p:nvPr/>
        </p:nvSpPr>
        <p:spPr>
          <a:xfrm>
            <a:off x="731520" y="1810512"/>
            <a:ext cx="2286000" cy="365760"/>
          </a:xfrm>
          <a:prstGeom prst="rect">
            <a:avLst/>
          </a:prstGeom>
          <a:noFill/>
          <a:ln/>
        </p:spPr>
        <p:txBody>
          <a:bodyPr wrap="square" lIns="0" tIns="0" rIns="0" bIns="0" rtlCol="0" anchor="t"/>
          <a:lstStyle/>
          <a:p>
            <a:pPr indent="0" marL="0">
              <a:buNone/>
            </a:pPr>
            <a:r>
              <a:rPr lang="en-US" sz="1300" dirty="0">
                <a:solidFill>
                  <a:srgbClr val="A9C4B8"/>
                </a:solidFill>
                <a:latin typeface="Inter" pitchFamily="34" charset="0"/>
                <a:ea typeface="Inter" pitchFamily="34" charset="-122"/>
                <a:cs typeface="Inter" pitchFamily="34" charset="-120"/>
              </a:rPr>
              <a:t>with Nick</a:t>
            </a:r>
            <a:endParaRPr lang="en-US" sz="1300" dirty="0"/>
          </a:p>
        </p:txBody>
      </p:sp>
      <p:sp>
        <p:nvSpPr>
          <p:cNvPr id="25" name="card_1188"/>
          <p:cNvSpPr/>
          <p:nvPr/>
        </p:nvSpPr>
        <p:spPr>
          <a:xfrm>
            <a:off x="3291840" y="1371600"/>
            <a:ext cx="2606040" cy="868680"/>
          </a:xfrm>
          <a:prstGeom prst="roundRect">
            <a:avLst>
              <a:gd name="adj" fmla="val 12632"/>
            </a:avLst>
          </a:prstGeom>
          <a:solidFill>
            <a:srgbClr val="1E6B4F"/>
          </a:solidFill>
          <a:ln w="12700">
            <a:solidFill>
              <a:srgbClr val="1E6B4F"/>
            </a:solidFill>
            <a:prstDash val="solid"/>
          </a:ln>
        </p:spPr>
      </p:sp>
      <p:sp>
        <p:nvSpPr>
          <p:cNvPr id="26" name="txt_1189"/>
          <p:cNvSpPr txBox="1"/>
          <p:nvPr/>
        </p:nvSpPr>
        <p:spPr>
          <a:xfrm>
            <a:off x="3474720" y="1417320"/>
            <a:ext cx="2286000" cy="457200"/>
          </a:xfrm>
          <a:prstGeom prst="rect">
            <a:avLst/>
          </a:prstGeom>
          <a:noFill/>
          <a:ln/>
        </p:spPr>
        <p:txBody>
          <a:bodyPr wrap="square" lIns="0" tIns="0" rIns="0" bIns="0" rtlCol="0" anchor="t"/>
          <a:lstStyle/>
          <a:p>
            <a:pPr indent="0" marL="0">
              <a:buNone/>
            </a:pPr>
            <a:r>
              <a:rPr lang="en-US" sz="1500" b="1" dirty="0">
                <a:solidFill>
                  <a:srgbClr val="FFFFFF"/>
                </a:solidFill>
                <a:latin typeface="Inter" pitchFamily="34" charset="0"/>
                <a:ea typeface="Inter" pitchFamily="34" charset="-122"/>
                <a:cs typeface="Inter" pitchFamily="34" charset="-120"/>
              </a:rPr>
              <a:t>Group B  ·  Design lens</a:t>
            </a:r>
            <a:endParaRPr lang="en-US" sz="1500" dirty="0"/>
          </a:p>
        </p:txBody>
      </p:sp>
      <p:sp>
        <p:nvSpPr>
          <p:cNvPr id="27" name="txt_1190"/>
          <p:cNvSpPr txBox="1"/>
          <p:nvPr/>
        </p:nvSpPr>
        <p:spPr>
          <a:xfrm>
            <a:off x="3474720" y="1810512"/>
            <a:ext cx="2286000" cy="365760"/>
          </a:xfrm>
          <a:prstGeom prst="rect">
            <a:avLst/>
          </a:prstGeom>
          <a:noFill/>
          <a:ln/>
        </p:spPr>
        <p:txBody>
          <a:bodyPr wrap="square" lIns="0" tIns="0" rIns="0" bIns="0" rtlCol="0" anchor="t"/>
          <a:lstStyle/>
          <a:p>
            <a:pPr indent="0" marL="0">
              <a:buNone/>
            </a:pPr>
            <a:r>
              <a:rPr lang="en-US" sz="1300" dirty="0">
                <a:solidFill>
                  <a:srgbClr val="D7E7DF"/>
                </a:solidFill>
                <a:latin typeface="Inter" pitchFamily="34" charset="0"/>
                <a:ea typeface="Inter" pitchFamily="34" charset="-122"/>
                <a:cs typeface="Inter" pitchFamily="34" charset="-120"/>
              </a:rPr>
              <a:t>with Saad</a:t>
            </a:r>
            <a:endParaRPr lang="en-US" sz="1300" dirty="0"/>
          </a:p>
        </p:txBody>
      </p:sp>
      <p:sp>
        <p:nvSpPr>
          <p:cNvPr id="28" name="txt_1191"/>
          <p:cNvSpPr txBox="1"/>
          <p:nvPr/>
        </p:nvSpPr>
        <p:spPr>
          <a:xfrm>
            <a:off x="6172200" y="1371600"/>
            <a:ext cx="5486400" cy="868680"/>
          </a:xfrm>
          <a:prstGeom prst="rect">
            <a:avLst/>
          </a:prstGeom>
          <a:noFill/>
          <a:ln/>
        </p:spPr>
        <p:txBody>
          <a:bodyPr wrap="square" lIns="0" tIns="0" rIns="0" bIns="0" rtlCol="0" anchor="ctr"/>
          <a:lstStyle/>
          <a:p>
            <a:pPr indent="0" marL="0">
              <a:buNone/>
            </a:pPr>
            <a:r>
              <a:rPr lang="en-US" sz="1500" dirty="0">
                <a:solidFill>
                  <a:srgbClr val="5E6E68"/>
                </a:solidFill>
                <a:latin typeface="Inter" pitchFamily="34" charset="0"/>
                <a:ea typeface="Inter" pitchFamily="34" charset="-122"/>
                <a:cs typeface="Inter" pitchFamily="34" charset="-120"/>
              </a:rPr>
              <a:t>Pick the group closest to your problem.</a:t>
            </a:r>
            <a:endParaRPr lang="en-US" sz="1500" dirty="0"/>
          </a:p>
        </p:txBody>
      </p:sp>
      <p:sp>
        <p:nvSpPr>
          <p:cNvPr id="29" name="c1_card_1192"/>
          <p:cNvSpPr/>
          <p:nvPr/>
        </p:nvSpPr>
        <p:spPr>
          <a:xfrm>
            <a:off x="548640" y="2514600"/>
            <a:ext cx="11091672" cy="868680"/>
          </a:xfrm>
          <a:prstGeom prst="roundRect">
            <a:avLst>
              <a:gd name="adj" fmla="val 12632"/>
            </a:avLst>
          </a:prstGeom>
          <a:solidFill>
            <a:srgbClr val="E8F2ED"/>
          </a:solidFill>
          <a:ln w="12700">
            <a:solidFill>
              <a:srgbClr val="E8F2ED"/>
            </a:solidFill>
            <a:prstDash val="solid"/>
          </a:ln>
        </p:spPr>
      </p:sp>
      <p:sp>
        <p:nvSpPr>
          <p:cNvPr id="30" name="c1_txt_1193"/>
          <p:cNvSpPr txBox="1"/>
          <p:nvPr/>
        </p:nvSpPr>
        <p:spPr>
          <a:xfrm>
            <a:off x="777240" y="2514600"/>
            <a:ext cx="914400" cy="868680"/>
          </a:xfrm>
          <a:prstGeom prst="rect">
            <a:avLst/>
          </a:prstGeom>
          <a:noFill/>
          <a:ln/>
        </p:spPr>
        <p:txBody>
          <a:bodyPr wrap="square" lIns="0" tIns="0" rIns="0" bIns="0" rtlCol="0" anchor="ctr"/>
          <a:lstStyle/>
          <a:p>
            <a:pPr indent="0" marL="0">
              <a:buNone/>
            </a:pPr>
            <a:r>
              <a:rPr lang="en-US" sz="1700" b="1" dirty="0">
                <a:solidFill>
                  <a:srgbClr val="E8613A"/>
                </a:solidFill>
                <a:latin typeface="Inter" pitchFamily="34" charset="0"/>
                <a:ea typeface="Inter" pitchFamily="34" charset="-122"/>
                <a:cs typeface="Inter" pitchFamily="34" charset="-120"/>
              </a:rPr>
              <a:t>10:25</a:t>
            </a:r>
            <a:endParaRPr lang="en-US" sz="1700" dirty="0"/>
          </a:p>
        </p:txBody>
      </p:sp>
      <p:sp>
        <p:nvSpPr>
          <p:cNvPr id="31" name="c1_pill_1194"/>
          <p:cNvSpPr txBox="1"/>
          <p:nvPr/>
        </p:nvSpPr>
        <p:spPr>
          <a:xfrm>
            <a:off x="1737360" y="2770632"/>
            <a:ext cx="914400" cy="347472"/>
          </a:xfrm>
          <a:prstGeom prst="roundRect">
            <a:avLst>
              <a:gd name="adj" fmla="val 47368"/>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15 min</a:t>
            </a:r>
            <a:endParaRPr lang="en-US" sz="1200" dirty="0"/>
          </a:p>
        </p:txBody>
      </p:sp>
      <p:sp>
        <p:nvSpPr>
          <p:cNvPr id="32" name="c1_txt_1195"/>
          <p:cNvSpPr txBox="1"/>
          <p:nvPr/>
        </p:nvSpPr>
        <p:spPr>
          <a:xfrm>
            <a:off x="2880360" y="2514600"/>
            <a:ext cx="3931920" cy="868680"/>
          </a:xfrm>
          <a:prstGeom prst="rect">
            <a:avLst/>
          </a:prstGeom>
          <a:noFill/>
          <a:ln/>
        </p:spPr>
        <p:txBody>
          <a:bodyPr wrap="square" lIns="0" tIns="0" rIns="0" bIns="0" rtlCol="0" anchor="ctr"/>
          <a:lstStyle/>
          <a:p>
            <a:pPr indent="0" marL="0">
              <a:buNone/>
            </a:pPr>
            <a:r>
              <a:rPr lang="en-US" sz="1800" b="1" dirty="0">
                <a:solidFill>
                  <a:srgbClr val="13221D"/>
                </a:solidFill>
                <a:latin typeface="Inter" pitchFamily="34" charset="0"/>
                <a:ea typeface="Inter" pitchFamily="34" charset="-122"/>
                <a:cs typeface="Inter" pitchFamily="34" charset="-120"/>
              </a:rPr>
              <a:t>Elaborate the problem</a:t>
            </a:r>
            <a:endParaRPr lang="en-US" sz="1800" dirty="0"/>
          </a:p>
        </p:txBody>
      </p:sp>
      <p:sp>
        <p:nvSpPr>
          <p:cNvPr id="33" name="c1_txt_1196"/>
          <p:cNvSpPr txBox="1"/>
          <p:nvPr/>
        </p:nvSpPr>
        <p:spPr>
          <a:xfrm>
            <a:off x="6858000" y="2514600"/>
            <a:ext cx="4663440" cy="868680"/>
          </a:xfrm>
          <a:prstGeom prst="rect">
            <a:avLst/>
          </a:prstGeom>
          <a:noFill/>
          <a:ln/>
        </p:spPr>
        <p:txBody>
          <a:bodyPr wrap="square" lIns="0" tIns="0" rIns="0" bIns="0" rtlCol="0" anchor="ctr"/>
          <a:lstStyle/>
          <a:p>
            <a:pPr indent="0" marL="0">
              <a:buNone/>
            </a:pPr>
            <a:r>
              <a:rPr lang="en-US" sz="1400" dirty="0">
                <a:solidFill>
                  <a:srgbClr val="5E6E68"/>
                </a:solidFill>
                <a:latin typeface="Inter" pitchFamily="34" charset="0"/>
                <a:ea typeface="Inter" pitchFamily="34" charset="-122"/>
                <a:cs typeface="Inter" pitchFamily="34" charset="-120"/>
              </a:rPr>
              <a:t>Add context on sticky notes. What's really going on?</a:t>
            </a:r>
            <a:endParaRPr lang="en-US" sz="1400" dirty="0"/>
          </a:p>
        </p:txBody>
      </p:sp>
      <p:sp>
        <p:nvSpPr>
          <p:cNvPr id="34" name="c2_card_1197"/>
          <p:cNvSpPr/>
          <p:nvPr/>
        </p:nvSpPr>
        <p:spPr>
          <a:xfrm>
            <a:off x="548640" y="3502152"/>
            <a:ext cx="11091672" cy="868680"/>
          </a:xfrm>
          <a:prstGeom prst="roundRect">
            <a:avLst>
              <a:gd name="adj" fmla="val 12632"/>
            </a:avLst>
          </a:prstGeom>
          <a:solidFill>
            <a:srgbClr val="FFFFFF"/>
          </a:solidFill>
          <a:ln w="12700">
            <a:solidFill>
              <a:srgbClr val="D9E1DD"/>
            </a:solidFill>
            <a:prstDash val="solid"/>
          </a:ln>
        </p:spPr>
      </p:sp>
      <p:sp>
        <p:nvSpPr>
          <p:cNvPr id="35" name="c2_txt_1198"/>
          <p:cNvSpPr txBox="1"/>
          <p:nvPr/>
        </p:nvSpPr>
        <p:spPr>
          <a:xfrm>
            <a:off x="777240" y="3502152"/>
            <a:ext cx="914400" cy="868680"/>
          </a:xfrm>
          <a:prstGeom prst="rect">
            <a:avLst/>
          </a:prstGeom>
          <a:noFill/>
          <a:ln/>
        </p:spPr>
        <p:txBody>
          <a:bodyPr wrap="square" lIns="0" tIns="0" rIns="0" bIns="0" rtlCol="0" anchor="ctr"/>
          <a:lstStyle/>
          <a:p>
            <a:pPr indent="0" marL="0">
              <a:buNone/>
            </a:pPr>
            <a:r>
              <a:rPr lang="en-US" sz="1700" b="1" dirty="0">
                <a:solidFill>
                  <a:srgbClr val="E8613A"/>
                </a:solidFill>
                <a:latin typeface="Inter" pitchFamily="34" charset="0"/>
                <a:ea typeface="Inter" pitchFamily="34" charset="-122"/>
                <a:cs typeface="Inter" pitchFamily="34" charset="-120"/>
              </a:rPr>
              <a:t>10:40</a:t>
            </a:r>
            <a:endParaRPr lang="en-US" sz="1700" dirty="0"/>
          </a:p>
        </p:txBody>
      </p:sp>
      <p:sp>
        <p:nvSpPr>
          <p:cNvPr id="36" name="c2_pill_1199"/>
          <p:cNvSpPr txBox="1"/>
          <p:nvPr/>
        </p:nvSpPr>
        <p:spPr>
          <a:xfrm>
            <a:off x="1737360" y="3758184"/>
            <a:ext cx="914400" cy="347472"/>
          </a:xfrm>
          <a:prstGeom prst="roundRect">
            <a:avLst>
              <a:gd name="adj" fmla="val 47368"/>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15 min</a:t>
            </a:r>
            <a:endParaRPr lang="en-US" sz="1200" dirty="0"/>
          </a:p>
        </p:txBody>
      </p:sp>
      <p:sp>
        <p:nvSpPr>
          <p:cNvPr id="37" name="c2_txt_1200"/>
          <p:cNvSpPr txBox="1"/>
          <p:nvPr/>
        </p:nvSpPr>
        <p:spPr>
          <a:xfrm>
            <a:off x="2880360" y="3502152"/>
            <a:ext cx="3931920" cy="868680"/>
          </a:xfrm>
          <a:prstGeom prst="rect">
            <a:avLst/>
          </a:prstGeom>
          <a:noFill/>
          <a:ln/>
        </p:spPr>
        <p:txBody>
          <a:bodyPr wrap="square" lIns="0" tIns="0" rIns="0" bIns="0" rtlCol="0" anchor="ctr"/>
          <a:lstStyle/>
          <a:p>
            <a:pPr indent="0" marL="0">
              <a:buNone/>
            </a:pPr>
            <a:r>
              <a:rPr lang="en-US" sz="1800" b="1" dirty="0">
                <a:solidFill>
                  <a:srgbClr val="13221D"/>
                </a:solidFill>
                <a:latin typeface="Inter" pitchFamily="34" charset="0"/>
                <a:ea typeface="Inter" pitchFamily="34" charset="-122"/>
                <a:cs typeface="Inter" pitchFamily="34" charset="-120"/>
              </a:rPr>
              <a:t>Who else belongs in this conversation?</a:t>
            </a:r>
            <a:endParaRPr lang="en-US" sz="1800" dirty="0"/>
          </a:p>
        </p:txBody>
      </p:sp>
      <p:sp>
        <p:nvSpPr>
          <p:cNvPr id="38" name="c2_txt_1201"/>
          <p:cNvSpPr txBox="1"/>
          <p:nvPr/>
        </p:nvSpPr>
        <p:spPr>
          <a:xfrm>
            <a:off x="6858000" y="3502152"/>
            <a:ext cx="4663440" cy="868680"/>
          </a:xfrm>
          <a:prstGeom prst="rect">
            <a:avLst/>
          </a:prstGeom>
          <a:noFill/>
          <a:ln/>
        </p:spPr>
        <p:txBody>
          <a:bodyPr wrap="square" lIns="0" tIns="0" rIns="0" bIns="0" rtlCol="0" anchor="ctr"/>
          <a:lstStyle/>
          <a:p>
            <a:pPr indent="0" marL="0">
              <a:buNone/>
            </a:pPr>
            <a:r>
              <a:rPr lang="en-US" sz="1400" dirty="0">
                <a:solidFill>
                  <a:srgbClr val="5E6E68"/>
                </a:solidFill>
                <a:latin typeface="Inter" pitchFamily="34" charset="0"/>
                <a:ea typeface="Inter" pitchFamily="34" charset="-122"/>
                <a:cs typeface="Inter" pitchFamily="34" charset="-120"/>
              </a:rPr>
              <a:t>Partners and community members you could bring in.</a:t>
            </a:r>
            <a:endParaRPr lang="en-US" sz="1400" dirty="0"/>
          </a:p>
        </p:txBody>
      </p:sp>
      <p:sp>
        <p:nvSpPr>
          <p:cNvPr id="39" name="c3_card_1202"/>
          <p:cNvSpPr/>
          <p:nvPr/>
        </p:nvSpPr>
        <p:spPr>
          <a:xfrm>
            <a:off x="548640" y="4489704"/>
            <a:ext cx="11091672" cy="868680"/>
          </a:xfrm>
          <a:prstGeom prst="roundRect">
            <a:avLst>
              <a:gd name="adj" fmla="val 12632"/>
            </a:avLst>
          </a:prstGeom>
          <a:solidFill>
            <a:srgbClr val="E8F2ED"/>
          </a:solidFill>
          <a:ln w="12700">
            <a:solidFill>
              <a:srgbClr val="E8F2ED"/>
            </a:solidFill>
            <a:prstDash val="solid"/>
          </a:ln>
        </p:spPr>
      </p:sp>
      <p:sp>
        <p:nvSpPr>
          <p:cNvPr id="40" name="c3_txt_1203"/>
          <p:cNvSpPr txBox="1"/>
          <p:nvPr/>
        </p:nvSpPr>
        <p:spPr>
          <a:xfrm>
            <a:off x="777240" y="4489704"/>
            <a:ext cx="914400" cy="868680"/>
          </a:xfrm>
          <a:prstGeom prst="rect">
            <a:avLst/>
          </a:prstGeom>
          <a:noFill/>
          <a:ln/>
        </p:spPr>
        <p:txBody>
          <a:bodyPr wrap="square" lIns="0" tIns="0" rIns="0" bIns="0" rtlCol="0" anchor="ctr"/>
          <a:lstStyle/>
          <a:p>
            <a:pPr indent="0" marL="0">
              <a:buNone/>
            </a:pPr>
            <a:r>
              <a:rPr lang="en-US" sz="1700" b="1" dirty="0">
                <a:solidFill>
                  <a:srgbClr val="E8613A"/>
                </a:solidFill>
                <a:latin typeface="Inter" pitchFamily="34" charset="0"/>
                <a:ea typeface="Inter" pitchFamily="34" charset="-122"/>
                <a:cs typeface="Inter" pitchFamily="34" charset="-120"/>
              </a:rPr>
              <a:t>10:55</a:t>
            </a:r>
            <a:endParaRPr lang="en-US" sz="1700" dirty="0"/>
          </a:p>
        </p:txBody>
      </p:sp>
      <p:sp>
        <p:nvSpPr>
          <p:cNvPr id="41" name="c3_pill_1204"/>
          <p:cNvSpPr txBox="1"/>
          <p:nvPr/>
        </p:nvSpPr>
        <p:spPr>
          <a:xfrm>
            <a:off x="1737360" y="4745736"/>
            <a:ext cx="914400" cy="347472"/>
          </a:xfrm>
          <a:prstGeom prst="roundRect">
            <a:avLst>
              <a:gd name="adj" fmla="val 47368"/>
            </a:avLst>
          </a:prstGeom>
          <a:solidFill>
            <a:srgbClr val="FCE7DF"/>
          </a:solidFill>
          <a:ln/>
        </p:spPr>
        <p:txBody>
          <a:bodyPr wrap="square" lIns="0" tIns="0" rIns="0" bIns="0" rtlCol="0" anchor="ctr"/>
          <a:lstStyle/>
          <a:p>
            <a:pPr algn="ctr" indent="0" marL="0">
              <a:buNone/>
            </a:pPr>
            <a:r>
              <a:rPr lang="en-US" sz="1200" b="1" dirty="0">
                <a:solidFill>
                  <a:srgbClr val="E8613A"/>
                </a:solidFill>
                <a:latin typeface="Inter" pitchFamily="34" charset="0"/>
                <a:ea typeface="Inter" pitchFamily="34" charset="-122"/>
                <a:cs typeface="Inter" pitchFamily="34" charset="-120"/>
              </a:rPr>
              <a:t>15 min</a:t>
            </a:r>
            <a:endParaRPr lang="en-US" sz="1200" dirty="0"/>
          </a:p>
        </p:txBody>
      </p:sp>
      <p:sp>
        <p:nvSpPr>
          <p:cNvPr id="42" name="c3_txt_1205"/>
          <p:cNvSpPr txBox="1"/>
          <p:nvPr/>
        </p:nvSpPr>
        <p:spPr>
          <a:xfrm>
            <a:off x="2880360" y="4489704"/>
            <a:ext cx="3931920" cy="868680"/>
          </a:xfrm>
          <a:prstGeom prst="rect">
            <a:avLst/>
          </a:prstGeom>
          <a:noFill/>
          <a:ln/>
        </p:spPr>
        <p:txBody>
          <a:bodyPr wrap="square" lIns="0" tIns="0" rIns="0" bIns="0" rtlCol="0" anchor="ctr"/>
          <a:lstStyle/>
          <a:p>
            <a:pPr indent="0" marL="0">
              <a:buNone/>
            </a:pPr>
            <a:r>
              <a:rPr lang="en-US" sz="1800" b="1" dirty="0">
                <a:solidFill>
                  <a:srgbClr val="13221D"/>
                </a:solidFill>
                <a:latin typeface="Inter" pitchFamily="34" charset="0"/>
                <a:ea typeface="Inter" pitchFamily="34" charset="-122"/>
                <a:cs typeface="Inter" pitchFamily="34" charset="-120"/>
              </a:rPr>
              <a:t>Limits of AI</a:t>
            </a:r>
            <a:endParaRPr lang="en-US" sz="1800" dirty="0"/>
          </a:p>
        </p:txBody>
      </p:sp>
      <p:sp>
        <p:nvSpPr>
          <p:cNvPr id="43" name="c3_txt_1206"/>
          <p:cNvSpPr txBox="1"/>
          <p:nvPr/>
        </p:nvSpPr>
        <p:spPr>
          <a:xfrm>
            <a:off x="6858000" y="4489704"/>
            <a:ext cx="4663440" cy="868680"/>
          </a:xfrm>
          <a:prstGeom prst="rect">
            <a:avLst/>
          </a:prstGeom>
          <a:noFill/>
          <a:ln/>
        </p:spPr>
        <p:txBody>
          <a:bodyPr wrap="square" lIns="0" tIns="0" rIns="0" bIns="0" rtlCol="0" anchor="ctr"/>
          <a:lstStyle/>
          <a:p>
            <a:pPr indent="0" marL="0">
              <a:buNone/>
            </a:pPr>
            <a:r>
              <a:rPr lang="en-US" sz="1400" dirty="0">
                <a:solidFill>
                  <a:srgbClr val="5E6E68"/>
                </a:solidFill>
                <a:latin typeface="Inter" pitchFamily="34" charset="0"/>
                <a:ea typeface="Inter" pitchFamily="34" charset="-122"/>
                <a:cs typeface="Inter" pitchFamily="34" charset="-120"/>
              </a:rPr>
              <a:t>Where should human agency stay? Where does human-centered work stand after AI?</a:t>
            </a:r>
            <a:endParaRPr lang="en-US" sz="1400" dirty="0"/>
          </a:p>
        </p:txBody>
      </p:sp>
      <p:sp>
        <p:nvSpPr>
          <p:cNvPr id="44" name="c4_card_1207"/>
          <p:cNvSpPr/>
          <p:nvPr/>
        </p:nvSpPr>
        <p:spPr>
          <a:xfrm>
            <a:off x="548640" y="5532120"/>
            <a:ext cx="11091672" cy="658368"/>
          </a:xfrm>
          <a:prstGeom prst="roundRect">
            <a:avLst>
              <a:gd name="adj" fmla="val 16667"/>
            </a:avLst>
          </a:prstGeom>
          <a:solidFill>
            <a:srgbClr val="0E3B2E"/>
          </a:solidFill>
          <a:ln w="12700">
            <a:solidFill>
              <a:srgbClr val="0E3B2E"/>
            </a:solidFill>
            <a:prstDash val="solid"/>
          </a:ln>
        </p:spPr>
      </p:sp>
      <p:sp>
        <p:nvSpPr>
          <p:cNvPr id="45" name="c4_txt_1208"/>
          <p:cNvSpPr txBox="1"/>
          <p:nvPr/>
        </p:nvSpPr>
        <p:spPr>
          <a:xfrm>
            <a:off x="777240" y="5532120"/>
            <a:ext cx="914400" cy="658368"/>
          </a:xfrm>
          <a:prstGeom prst="rect">
            <a:avLst/>
          </a:prstGeom>
          <a:noFill/>
          <a:ln/>
        </p:spPr>
        <p:txBody>
          <a:bodyPr wrap="square" lIns="0" tIns="0" rIns="0" bIns="0" rtlCol="0" anchor="ctr"/>
          <a:lstStyle/>
          <a:p>
            <a:pPr indent="0" marL="0">
              <a:buNone/>
            </a:pPr>
            <a:r>
              <a:rPr lang="en-US" sz="1700" b="1" dirty="0">
                <a:solidFill>
                  <a:srgbClr val="F2B33D"/>
                </a:solidFill>
                <a:latin typeface="Inter" pitchFamily="34" charset="0"/>
                <a:ea typeface="Inter" pitchFamily="34" charset="-122"/>
                <a:cs typeface="Inter" pitchFamily="34" charset="-120"/>
              </a:rPr>
              <a:t>11:10</a:t>
            </a:r>
            <a:endParaRPr lang="en-US" sz="1700" dirty="0"/>
          </a:p>
        </p:txBody>
      </p:sp>
      <p:sp>
        <p:nvSpPr>
          <p:cNvPr id="46" name="c4_txt_1209"/>
          <p:cNvSpPr txBox="1"/>
          <p:nvPr/>
        </p:nvSpPr>
        <p:spPr>
          <a:xfrm>
            <a:off x="1737360" y="5532120"/>
            <a:ext cx="9784080" cy="658368"/>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Share out: 5 min per group. One problem, one partner to bring in, one line AI shouldn't cross.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1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9"/>
                                        </p:tgtEl>
                                        <p:attrNameLst>
                                          <p:attrName>style.visibility</p:attrName>
                                        </p:attrNameLst>
                                      </p:cBhvr>
                                      <p:to>
                                        <p:strVal val="visible"/>
                                      </p:to>
                                    </p:set>
                                    <p:animEffect transition="in" filter="fade">
                                      <p:cBhvr>
                                        <p:cTn id="5" dur="400"/>
                                        <p:tgtEl>
                                          <p:spTgt spid="2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36" fill="hold">
                      <p:stCondLst>
                        <p:cond delay="indefinite"/>
                      </p:stCondLst>
                      <p:childTnLst>
                        <p:par>
                          <p:cTn id="35"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animEffect transition="in" filter="fade">
                                      <p:cBhvr>
                                        <p:cTn id="25" dur="400"/>
                                        <p:tgtEl>
                                          <p:spTgt spid="3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6"/>
                                        </p:tgtEl>
                                        <p:attrNameLst>
                                          <p:attrName>style.visibility</p:attrName>
                                        </p:attrNameLst>
                                      </p:cBhvr>
                                      <p:to>
                                        <p:strVal val="visible"/>
                                      </p:to>
                                    </p:set>
                                    <p:animEffect transition="in" filter="fade">
                                      <p:cBhvr>
                                        <p:cTn id="28" dur="400"/>
                                        <p:tgtEl>
                                          <p:spTgt spid="3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7"/>
                                        </p:tgtEl>
                                        <p:attrNameLst>
                                          <p:attrName>style.visibility</p:attrName>
                                        </p:attrNameLst>
                                      </p:cBhvr>
                                      <p:to>
                                        <p:strVal val="visible"/>
                                      </p:to>
                                    </p:set>
                                    <p:animEffect transition="in" filter="fade">
                                      <p:cBhvr>
                                        <p:cTn id="31" dur="400"/>
                                        <p:tgtEl>
                                          <p:spTgt spid="3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8"/>
                                        </p:tgtEl>
                                        <p:attrNameLst>
                                          <p:attrName>style.visibility</p:attrName>
                                        </p:attrNameLst>
                                      </p:cBhvr>
                                      <p:to>
                                        <p:strVal val="visible"/>
                                      </p:to>
                                    </p:set>
                                    <p:animEffect transition="in" filter="fade">
                                      <p:cBhvr>
                                        <p:cTn id="34" dur="400"/>
                                        <p:tgtEl>
                                          <p:spTgt spid="38"/>
                                        </p:tgtEl>
                                      </p:cBhvr>
                                    </p:animEffect>
                                  </p:childTnLst>
                                </p:cTn>
                              </p:par>
                            </p:childTnLst>
                          </p:cTn>
                        </p:par>
                      </p:childTnLst>
                    </p:cTn>
                  </p:par>
                  <p:par>
                    <p:cTn id="53" fill="hold">
                      <p:stCondLst>
                        <p:cond delay="indefinite"/>
                      </p:stCondLst>
                      <p:childTnLst>
                        <p:par>
                          <p:cTn id="52"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9"/>
                                        </p:tgtEl>
                                        <p:attrNameLst>
                                          <p:attrName>style.visibility</p:attrName>
                                        </p:attrNameLst>
                                      </p:cBhvr>
                                      <p:to>
                                        <p:strVal val="visible"/>
                                      </p:to>
                                    </p:set>
                                    <p:animEffect transition="in" filter="fade">
                                      <p:cBhvr>
                                        <p:cTn id="39" dur="400"/>
                                        <p:tgtEl>
                                          <p:spTgt spid="3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animEffect transition="in" filter="fade">
                                      <p:cBhvr>
                                        <p:cTn id="45" dur="400"/>
                                        <p:tgtEl>
                                          <p:spTgt spid="4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2"/>
                                        </p:tgtEl>
                                        <p:attrNameLst>
                                          <p:attrName>style.visibility</p:attrName>
                                        </p:attrNameLst>
                                      </p:cBhvr>
                                      <p:to>
                                        <p:strVal val="visible"/>
                                      </p:to>
                                    </p:set>
                                    <p:animEffect transition="in" filter="fade">
                                      <p:cBhvr>
                                        <p:cTn id="48" dur="400"/>
                                        <p:tgtEl>
                                          <p:spTgt spid="4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fade">
                                      <p:cBhvr>
                                        <p:cTn id="51" dur="400"/>
                                        <p:tgtEl>
                                          <p:spTgt spid="43"/>
                                        </p:tgtEl>
                                      </p:cBhvr>
                                    </p:animEffect>
                                  </p:childTnLst>
                                </p:cTn>
                              </p:par>
                            </p:childTnLst>
                          </p:cTn>
                        </p:par>
                      </p:childTnLst>
                    </p:cTn>
                  </p:par>
                  <p:par>
                    <p:cTn id="64" fill="hold">
                      <p:stCondLst>
                        <p:cond delay="indefinite"/>
                      </p:stCondLst>
                      <p:childTnLst>
                        <p:par>
                          <p:cTn id="6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fade">
                                      <p:cBhvr>
                                        <p:cTn id="56" dur="400"/>
                                        <p:tgtEl>
                                          <p:spTgt spid="4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5"/>
                                        </p:tgtEl>
                                        <p:attrNameLst>
                                          <p:attrName>style.visibility</p:attrName>
                                        </p:attrNameLst>
                                      </p:cBhvr>
                                      <p:to>
                                        <p:strVal val="visible"/>
                                      </p:to>
                                    </p:set>
                                    <p:animEffect transition="in" filter="fade">
                                      <p:cBhvr>
                                        <p:cTn id="59" dur="400"/>
                                        <p:tgtEl>
                                          <p:spTgt spid="4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46"/>
                                        </p:tgtEl>
                                        <p:attrNameLst>
                                          <p:attrName>style.visibility</p:attrName>
                                        </p:attrNameLst>
                                      </p:cBhvr>
                                      <p:to>
                                        <p:strVal val="visible"/>
                                      </p:to>
                                    </p:set>
                                    <p:animEffect transition="in" filter="fade">
                                      <p:cBhvr>
                                        <p:cTn id="6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me_chip_1210"/>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  </a:t>
            </a:r>
            <a:pPr algn="ctr" indent="0" marL="0">
              <a:buNone/>
            </a:pPr>
            <a:r>
              <a:rPr lang="en-US" sz="1400" b="1" dirty="0">
                <a:solidFill>
                  <a:srgbClr val="FFFFFF"/>
                </a:solidFill>
                <a:latin typeface="Inter" pitchFamily="34" charset="0"/>
                <a:ea typeface="Inter" pitchFamily="34" charset="-122"/>
                <a:cs typeface="Inter" pitchFamily="34" charset="-120"/>
              </a:rPr>
              <a:t>11:20 – 11:30  ·  10 min</a:t>
            </a:r>
            <a:endParaRPr lang="en-US" sz="1400" dirty="0"/>
          </a:p>
        </p:txBody>
      </p:sp>
      <p:sp>
        <p:nvSpPr>
          <p:cNvPr id="3" name="prog_welcome_1211"/>
          <p:cNvSpPr/>
          <p:nvPr/>
        </p:nvSpPr>
        <p:spPr>
          <a:xfrm>
            <a:off x="548640" y="6400800"/>
            <a:ext cx="715244" cy="73152"/>
          </a:xfrm>
          <a:prstGeom prst="rect">
            <a:avLst/>
          </a:prstGeom>
          <a:solidFill>
            <a:srgbClr val="A9C4B8"/>
          </a:solidFill>
          <a:ln w="12700">
            <a:solidFill>
              <a:srgbClr val="A9C4B8"/>
            </a:solidFill>
            <a:prstDash val="solid"/>
          </a:ln>
        </p:spPr>
      </p:sp>
      <p:sp>
        <p:nvSpPr>
          <p:cNvPr id="4" name="prog_lbl_welcome_1212"/>
          <p:cNvSpPr txBox="1"/>
          <p:nvPr/>
        </p:nvSpPr>
        <p:spPr>
          <a:xfrm>
            <a:off x="548640" y="6492240"/>
            <a:ext cx="715244"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1213"/>
          <p:cNvSpPr/>
          <p:nvPr/>
        </p:nvSpPr>
        <p:spPr>
          <a:xfrm>
            <a:off x="1309604" y="6400800"/>
            <a:ext cx="1072866" cy="73152"/>
          </a:xfrm>
          <a:prstGeom prst="rect">
            <a:avLst/>
          </a:prstGeom>
          <a:solidFill>
            <a:srgbClr val="A9C4B8"/>
          </a:solidFill>
          <a:ln w="12700">
            <a:solidFill>
              <a:srgbClr val="A9C4B8"/>
            </a:solidFill>
            <a:prstDash val="solid"/>
          </a:ln>
        </p:spPr>
      </p:sp>
      <p:sp>
        <p:nvSpPr>
          <p:cNvPr id="6" name="prog_lbl_ai_1214"/>
          <p:cNvSpPr txBox="1"/>
          <p:nvPr/>
        </p:nvSpPr>
        <p:spPr>
          <a:xfrm>
            <a:off x="1309604"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AI</a:t>
            </a:r>
            <a:endParaRPr lang="en-US" sz="1000" dirty="0"/>
          </a:p>
        </p:txBody>
      </p:sp>
      <p:sp>
        <p:nvSpPr>
          <p:cNvPr id="7" name="prog_pd_1215"/>
          <p:cNvSpPr/>
          <p:nvPr/>
        </p:nvSpPr>
        <p:spPr>
          <a:xfrm>
            <a:off x="2428189" y="6400800"/>
            <a:ext cx="1072866" cy="73152"/>
          </a:xfrm>
          <a:prstGeom prst="rect">
            <a:avLst/>
          </a:prstGeom>
          <a:solidFill>
            <a:srgbClr val="A9C4B8"/>
          </a:solidFill>
          <a:ln w="12700">
            <a:solidFill>
              <a:srgbClr val="A9C4B8"/>
            </a:solidFill>
            <a:prstDash val="solid"/>
          </a:ln>
        </p:spPr>
      </p:sp>
      <p:sp>
        <p:nvSpPr>
          <p:cNvPr id="8" name="prog_lbl_pd_1216"/>
          <p:cNvSpPr txBox="1"/>
          <p:nvPr/>
        </p:nvSpPr>
        <p:spPr>
          <a:xfrm>
            <a:off x="2428189"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Design</a:t>
            </a:r>
            <a:endParaRPr lang="en-US" sz="1000" dirty="0"/>
          </a:p>
        </p:txBody>
      </p:sp>
      <p:sp>
        <p:nvSpPr>
          <p:cNvPr id="9" name="prog_reflect_1217"/>
          <p:cNvSpPr/>
          <p:nvPr/>
        </p:nvSpPr>
        <p:spPr>
          <a:xfrm>
            <a:off x="3546775" y="6400800"/>
            <a:ext cx="1072866" cy="73152"/>
          </a:xfrm>
          <a:prstGeom prst="rect">
            <a:avLst/>
          </a:prstGeom>
          <a:solidFill>
            <a:srgbClr val="A9C4B8"/>
          </a:solidFill>
          <a:ln w="12700">
            <a:solidFill>
              <a:srgbClr val="A9C4B8"/>
            </a:solidFill>
            <a:prstDash val="solid"/>
          </a:ln>
        </p:spPr>
      </p:sp>
      <p:sp>
        <p:nvSpPr>
          <p:cNvPr id="10" name="prog_lbl_reflect_1218"/>
          <p:cNvSpPr txBox="1"/>
          <p:nvPr/>
        </p:nvSpPr>
        <p:spPr>
          <a:xfrm>
            <a:off x="3546775"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Reflect</a:t>
            </a:r>
            <a:endParaRPr lang="en-US" sz="1000" dirty="0"/>
          </a:p>
        </p:txBody>
      </p:sp>
      <p:sp>
        <p:nvSpPr>
          <p:cNvPr id="11" name="prog_share_1219"/>
          <p:cNvSpPr/>
          <p:nvPr/>
        </p:nvSpPr>
        <p:spPr>
          <a:xfrm>
            <a:off x="4665360" y="6400800"/>
            <a:ext cx="1072866" cy="73152"/>
          </a:xfrm>
          <a:prstGeom prst="rect">
            <a:avLst/>
          </a:prstGeom>
          <a:solidFill>
            <a:srgbClr val="A9C4B8"/>
          </a:solidFill>
          <a:ln w="12700">
            <a:solidFill>
              <a:srgbClr val="A9C4B8"/>
            </a:solidFill>
            <a:prstDash val="solid"/>
          </a:ln>
        </p:spPr>
      </p:sp>
      <p:sp>
        <p:nvSpPr>
          <p:cNvPr id="12" name="prog_lbl_share_1220"/>
          <p:cNvSpPr txBox="1"/>
          <p:nvPr/>
        </p:nvSpPr>
        <p:spPr>
          <a:xfrm>
            <a:off x="4665360"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Share</a:t>
            </a:r>
            <a:endParaRPr lang="en-US" sz="1000" dirty="0"/>
          </a:p>
        </p:txBody>
      </p:sp>
      <p:sp>
        <p:nvSpPr>
          <p:cNvPr id="13" name="prog_break_1221"/>
          <p:cNvSpPr/>
          <p:nvPr/>
        </p:nvSpPr>
        <p:spPr>
          <a:xfrm>
            <a:off x="5783946" y="6400800"/>
            <a:ext cx="1072866" cy="73152"/>
          </a:xfrm>
          <a:prstGeom prst="rect">
            <a:avLst/>
          </a:prstGeom>
          <a:solidFill>
            <a:srgbClr val="A9C4B8"/>
          </a:solidFill>
          <a:ln w="12700">
            <a:solidFill>
              <a:srgbClr val="A9C4B8"/>
            </a:solidFill>
            <a:prstDash val="solid"/>
          </a:ln>
        </p:spPr>
      </p:sp>
      <p:sp>
        <p:nvSpPr>
          <p:cNvPr id="14" name="prog_lbl_break_1222"/>
          <p:cNvSpPr txBox="1"/>
          <p:nvPr/>
        </p:nvSpPr>
        <p:spPr>
          <a:xfrm>
            <a:off x="5783946" y="6492240"/>
            <a:ext cx="1072866"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Break</a:t>
            </a:r>
            <a:endParaRPr lang="en-US" sz="1000" dirty="0"/>
          </a:p>
        </p:txBody>
      </p:sp>
      <p:sp>
        <p:nvSpPr>
          <p:cNvPr id="15" name="prog_breakout_1223"/>
          <p:cNvSpPr/>
          <p:nvPr/>
        </p:nvSpPr>
        <p:spPr>
          <a:xfrm>
            <a:off x="6902531" y="6400800"/>
            <a:ext cx="3218597" cy="73152"/>
          </a:xfrm>
          <a:prstGeom prst="rect">
            <a:avLst/>
          </a:prstGeom>
          <a:solidFill>
            <a:srgbClr val="A9C4B8"/>
          </a:solidFill>
          <a:ln w="12700">
            <a:solidFill>
              <a:srgbClr val="A9C4B8"/>
            </a:solidFill>
            <a:prstDash val="solid"/>
          </a:ln>
        </p:spPr>
      </p:sp>
      <p:sp>
        <p:nvSpPr>
          <p:cNvPr id="16" name="prog_lbl_breakout_1224"/>
          <p:cNvSpPr txBox="1"/>
          <p:nvPr/>
        </p:nvSpPr>
        <p:spPr>
          <a:xfrm>
            <a:off x="6902531" y="6492240"/>
            <a:ext cx="3218597"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Breakouts</a:t>
            </a:r>
            <a:endParaRPr lang="en-US" sz="1000" dirty="0"/>
          </a:p>
        </p:txBody>
      </p:sp>
      <p:sp>
        <p:nvSpPr>
          <p:cNvPr id="17" name="prog_report_1225"/>
          <p:cNvSpPr/>
          <p:nvPr/>
        </p:nvSpPr>
        <p:spPr>
          <a:xfrm>
            <a:off x="10166848" y="6400800"/>
            <a:ext cx="715244" cy="73152"/>
          </a:xfrm>
          <a:prstGeom prst="rect">
            <a:avLst/>
          </a:prstGeom>
          <a:solidFill>
            <a:srgbClr val="A9C4B8"/>
          </a:solidFill>
          <a:ln w="12700">
            <a:solidFill>
              <a:srgbClr val="A9C4B8"/>
            </a:solidFill>
            <a:prstDash val="solid"/>
          </a:ln>
        </p:spPr>
      </p:sp>
      <p:sp>
        <p:nvSpPr>
          <p:cNvPr id="18" name="prog_lbl_report_1226"/>
          <p:cNvSpPr txBox="1"/>
          <p:nvPr/>
        </p:nvSpPr>
        <p:spPr>
          <a:xfrm>
            <a:off x="10166848" y="6492240"/>
            <a:ext cx="715244" cy="237744"/>
          </a:xfrm>
          <a:prstGeom prst="rect">
            <a:avLst/>
          </a:prstGeom>
          <a:noFill/>
          <a:ln/>
        </p:spPr>
        <p:txBody>
          <a:bodyPr wrap="square" lIns="0" tIns="0" rIns="0" bIns="0" rtlCol="0" anchor="ctr"/>
          <a:lstStyle/>
          <a:p>
            <a:pPr algn="l" indent="0" marL="0">
              <a:buNone/>
            </a:pPr>
            <a:r>
              <a:rPr lang="en-US" sz="1000" dirty="0">
                <a:solidFill>
                  <a:srgbClr val="A9C4B8"/>
                </a:solidFill>
                <a:latin typeface="Inter" pitchFamily="34" charset="0"/>
                <a:ea typeface="Inter" pitchFamily="34" charset="-122"/>
                <a:cs typeface="Inter" pitchFamily="34" charset="-120"/>
              </a:rPr>
              <a:t>Report</a:t>
            </a:r>
            <a:endParaRPr lang="en-US" sz="1000" dirty="0"/>
          </a:p>
        </p:txBody>
      </p:sp>
      <p:sp>
        <p:nvSpPr>
          <p:cNvPr id="19" name="prog_close_1227"/>
          <p:cNvSpPr/>
          <p:nvPr/>
        </p:nvSpPr>
        <p:spPr>
          <a:xfrm>
            <a:off x="10927812" y="6400800"/>
            <a:ext cx="715244" cy="73152"/>
          </a:xfrm>
          <a:prstGeom prst="rect">
            <a:avLst/>
          </a:prstGeom>
          <a:solidFill>
            <a:srgbClr val="E8613A"/>
          </a:solidFill>
          <a:ln w="12700">
            <a:solidFill>
              <a:srgbClr val="E8613A"/>
            </a:solidFill>
            <a:prstDash val="solid"/>
          </a:ln>
        </p:spPr>
      </p:sp>
      <p:sp>
        <p:nvSpPr>
          <p:cNvPr id="20" name="prog_lbl_close_1228"/>
          <p:cNvSpPr txBox="1"/>
          <p:nvPr/>
        </p:nvSpPr>
        <p:spPr>
          <a:xfrm>
            <a:off x="10927812" y="6492240"/>
            <a:ext cx="715244" cy="237744"/>
          </a:xfrm>
          <a:prstGeom prst="rect">
            <a:avLst/>
          </a:prstGeom>
          <a:noFill/>
          <a:ln/>
        </p:spPr>
        <p:txBody>
          <a:bodyPr wrap="square" lIns="0" tIns="0" rIns="0" bIns="0" rtlCol="0" anchor="ctr"/>
          <a:lstStyle/>
          <a:p>
            <a:pPr algn="l" indent="0" marL="0">
              <a:buNone/>
            </a:pPr>
            <a:r>
              <a:rPr lang="en-US" sz="1000" b="1" dirty="0">
                <a:solidFill>
                  <a:srgbClr val="E8613A"/>
                </a:solidFill>
                <a:latin typeface="Inter" pitchFamily="34" charset="0"/>
                <a:ea typeface="Inter" pitchFamily="34" charset="-122"/>
                <a:cs typeface="Inter" pitchFamily="34" charset="-120"/>
              </a:rPr>
              <a:t>Debrief</a:t>
            </a:r>
            <a:endParaRPr lang="en-US" sz="1000" dirty="0"/>
          </a:p>
        </p:txBody>
      </p:sp>
      <p:sp>
        <p:nvSpPr>
          <p:cNvPr id="21" name="Text 0"/>
          <p:cNvSpPr/>
          <p:nvPr>
            <p:ph idx="100" type="title" hasCustomPrompt="1"/>
          </p:nvPr>
        </p:nvSpPr>
        <p:spPr>
          <a:xfrm>
            <a:off x="548640" y="384048"/>
            <a:ext cx="8503920" cy="777240"/>
          </a:xfrm>
          <a:prstGeom prst="rect">
            <a:avLst/>
          </a:prstGeom>
          <a:noFill/>
          <a:ln/>
        </p:spPr>
        <p:txBody>
          <a:bodyPr wrap="square" lIns="0" tIns="0" rIns="0" bIns="0" rtlCol="0" anchor="ctr"/>
          <a:lstStyle/>
          <a:p>
            <a:pPr algn="l" indent="0" marL="0">
              <a:buNone/>
            </a:pPr>
            <a:r>
              <a:rPr lang="en-US" sz="3000" b="1" dirty="0">
                <a:solidFill>
                  <a:srgbClr val="FFFFFF"/>
                </a:solidFill>
                <a:latin typeface="Inter" pitchFamily="34" charset="0"/>
                <a:ea typeface="Inter" pitchFamily="34" charset="-122"/>
                <a:cs typeface="Inter" pitchFamily="34" charset="-120"/>
              </a:rPr>
              <a:t>Debrief</a:t>
            </a:r>
            <a:endParaRPr lang="en-US" sz="3000" dirty="0"/>
          </a:p>
        </p:txBody>
      </p:sp>
      <p:sp>
        <p:nvSpPr>
          <p:cNvPr id="22" name="c1_card_1229"/>
          <p:cNvSpPr/>
          <p:nvPr/>
        </p:nvSpPr>
        <p:spPr>
          <a:xfrm>
            <a:off x="548640" y="1508760"/>
            <a:ext cx="6949440" cy="1005840"/>
          </a:xfrm>
          <a:prstGeom prst="roundRect">
            <a:avLst>
              <a:gd name="adj" fmla="val 10909"/>
            </a:avLst>
          </a:prstGeom>
          <a:solidFill>
            <a:srgbClr val="174A3A"/>
          </a:solidFill>
          <a:ln w="12700">
            <a:solidFill>
              <a:srgbClr val="174A3A"/>
            </a:solidFill>
            <a:prstDash val="solid"/>
          </a:ln>
        </p:spPr>
      </p:sp>
      <p:sp>
        <p:nvSpPr>
          <p:cNvPr id="23" name="c1_num_1230"/>
          <p:cNvSpPr txBox="1"/>
          <p:nvPr/>
        </p:nvSpPr>
        <p:spPr>
          <a:xfrm>
            <a:off x="777240" y="1737360"/>
            <a:ext cx="548640" cy="548640"/>
          </a:xfrm>
          <a:prstGeom prst="ellipse">
            <a:avLst/>
          </a:prstGeom>
          <a:solidFill>
            <a:srgbClr val="E8613A"/>
          </a:solid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1</a:t>
            </a:r>
            <a:endParaRPr lang="en-US" sz="1800" dirty="0"/>
          </a:p>
        </p:txBody>
      </p:sp>
      <p:sp>
        <p:nvSpPr>
          <p:cNvPr id="24" name="c1_txt_1231"/>
          <p:cNvSpPr txBox="1"/>
          <p:nvPr/>
        </p:nvSpPr>
        <p:spPr>
          <a:xfrm>
            <a:off x="1554480" y="1508760"/>
            <a:ext cx="5760720" cy="100584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One idea you'll take home</a:t>
            </a:r>
            <a:endParaRPr lang="en-US" sz="2200" dirty="0"/>
          </a:p>
        </p:txBody>
      </p:sp>
      <p:sp>
        <p:nvSpPr>
          <p:cNvPr id="25" name="c2_card_1232"/>
          <p:cNvSpPr/>
          <p:nvPr/>
        </p:nvSpPr>
        <p:spPr>
          <a:xfrm>
            <a:off x="548640" y="2697480"/>
            <a:ext cx="6949440" cy="1005840"/>
          </a:xfrm>
          <a:prstGeom prst="roundRect">
            <a:avLst>
              <a:gd name="adj" fmla="val 10909"/>
            </a:avLst>
          </a:prstGeom>
          <a:solidFill>
            <a:srgbClr val="174A3A"/>
          </a:solidFill>
          <a:ln w="12700">
            <a:solidFill>
              <a:srgbClr val="174A3A"/>
            </a:solidFill>
            <a:prstDash val="solid"/>
          </a:ln>
        </p:spPr>
      </p:sp>
      <p:sp>
        <p:nvSpPr>
          <p:cNvPr id="26" name="c2_num_1233"/>
          <p:cNvSpPr txBox="1"/>
          <p:nvPr/>
        </p:nvSpPr>
        <p:spPr>
          <a:xfrm>
            <a:off x="777240" y="2926080"/>
            <a:ext cx="548640" cy="548640"/>
          </a:xfrm>
          <a:prstGeom prst="ellipse">
            <a:avLst/>
          </a:prstGeom>
          <a:solidFill>
            <a:srgbClr val="E8613A"/>
          </a:solid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2</a:t>
            </a:r>
            <a:endParaRPr lang="en-US" sz="1800" dirty="0"/>
          </a:p>
        </p:txBody>
      </p:sp>
      <p:sp>
        <p:nvSpPr>
          <p:cNvPr id="27" name="c2_txt_1234"/>
          <p:cNvSpPr txBox="1"/>
          <p:nvPr/>
        </p:nvSpPr>
        <p:spPr>
          <a:xfrm>
            <a:off x="1554480" y="2697480"/>
            <a:ext cx="5760720" cy="100584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One person or partner you'll bring in</a:t>
            </a:r>
            <a:endParaRPr lang="en-US" sz="2200" dirty="0"/>
          </a:p>
        </p:txBody>
      </p:sp>
      <p:sp>
        <p:nvSpPr>
          <p:cNvPr id="28" name="c3_card_1235"/>
          <p:cNvSpPr/>
          <p:nvPr/>
        </p:nvSpPr>
        <p:spPr>
          <a:xfrm>
            <a:off x="548640" y="3886200"/>
            <a:ext cx="6949440" cy="1005840"/>
          </a:xfrm>
          <a:prstGeom prst="roundRect">
            <a:avLst>
              <a:gd name="adj" fmla="val 10909"/>
            </a:avLst>
          </a:prstGeom>
          <a:solidFill>
            <a:srgbClr val="174A3A"/>
          </a:solidFill>
          <a:ln w="12700">
            <a:solidFill>
              <a:srgbClr val="174A3A"/>
            </a:solidFill>
            <a:prstDash val="solid"/>
          </a:ln>
        </p:spPr>
      </p:sp>
      <p:sp>
        <p:nvSpPr>
          <p:cNvPr id="29" name="c3_num_1236"/>
          <p:cNvSpPr txBox="1"/>
          <p:nvPr/>
        </p:nvSpPr>
        <p:spPr>
          <a:xfrm>
            <a:off x="777240" y="4114800"/>
            <a:ext cx="548640" cy="548640"/>
          </a:xfrm>
          <a:prstGeom prst="ellipse">
            <a:avLst/>
          </a:prstGeom>
          <a:solidFill>
            <a:srgbClr val="E8613A"/>
          </a:solid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3</a:t>
            </a:r>
            <a:endParaRPr lang="en-US" sz="1800" dirty="0"/>
          </a:p>
        </p:txBody>
      </p:sp>
      <p:sp>
        <p:nvSpPr>
          <p:cNvPr id="30" name="c3_txt_1237"/>
          <p:cNvSpPr txBox="1"/>
          <p:nvPr/>
        </p:nvSpPr>
        <p:spPr>
          <a:xfrm>
            <a:off x="1554480" y="3886200"/>
            <a:ext cx="5760720" cy="100584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What follow-up would help you?</a:t>
            </a:r>
            <a:endParaRPr lang="en-US" sz="2200" dirty="0"/>
          </a:p>
        </p:txBody>
      </p:sp>
      <p:sp>
        <p:nvSpPr>
          <p:cNvPr id="31" name="card_1238"/>
          <p:cNvSpPr/>
          <p:nvPr/>
        </p:nvSpPr>
        <p:spPr>
          <a:xfrm>
            <a:off x="8366760" y="1508760"/>
            <a:ext cx="2651760" cy="2651760"/>
          </a:xfrm>
          <a:prstGeom prst="roundRect">
            <a:avLst>
              <a:gd name="adj" fmla="val 5172"/>
            </a:avLst>
          </a:prstGeom>
          <a:solidFill>
            <a:srgbClr val="FFFFFF"/>
          </a:solidFill>
          <a:ln w="12700">
            <a:solidFill>
              <a:srgbClr val="FFFFFF"/>
            </a:solidFill>
            <a:prstDash val="solid"/>
          </a:ln>
        </p:spPr>
      </p:sp>
      <p:pic>
        <p:nvPicPr>
          <p:cNvPr id="32" name="qr_1239" descr="QR code linking to saadh.info/pace2">    </p:cNvPr>
          <p:cNvPicPr>
            <a:picLocks noChangeAspect="1"/>
          </p:cNvPicPr>
          <p:nvPr/>
        </p:nvPicPr>
        <p:blipFill>
          <a:blip r:embed="rId1"/>
          <a:stretch>
            <a:fillRect/>
          </a:stretch>
        </p:blipFill>
        <p:spPr>
          <a:xfrm>
            <a:off x="8531352" y="1673352"/>
            <a:ext cx="2322576" cy="2322576"/>
          </a:xfrm>
          <a:prstGeom prst="rect">
            <a:avLst/>
          </a:prstGeom>
        </p:spPr>
      </p:pic>
      <p:sp>
        <p:nvSpPr>
          <p:cNvPr id="33" name="txt_1240"/>
          <p:cNvSpPr txBox="1"/>
          <p:nvPr/>
        </p:nvSpPr>
        <p:spPr>
          <a:xfrm>
            <a:off x="7863840" y="4297680"/>
            <a:ext cx="3657600" cy="457200"/>
          </a:xfrm>
          <a:prstGeom prst="rect">
            <a:avLst/>
          </a:prstGeom>
          <a:noFill/>
          <a:ln/>
        </p:spPr>
        <p:txBody>
          <a:bodyPr wrap="square" lIns="0" tIns="0" rIns="0" bIns="0" rtlCol="0" anchor="t"/>
          <a:lstStyle/>
          <a:p>
            <a:pPr algn="ctr" indent="0" marL="0">
              <a:buNone/>
            </a:pPr>
            <a:r>
              <a:rPr lang="en-US" sz="2000" b="1" u="sng" dirty="0">
                <a:solidFill>
                  <a:srgbClr val="F2B33D"/>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saadh.info/pace2</a:t>
            </a:r>
            <a:endParaRPr lang="en-US" sz="2000" dirty="0"/>
          </a:p>
        </p:txBody>
      </p:sp>
      <p:sp>
        <p:nvSpPr>
          <p:cNvPr id="34" name="txt_1241"/>
          <p:cNvSpPr txBox="1"/>
          <p:nvPr/>
        </p:nvSpPr>
        <p:spPr>
          <a:xfrm>
            <a:off x="7589520" y="4800600"/>
            <a:ext cx="4206240" cy="365760"/>
          </a:xfrm>
          <a:prstGeom prst="rect">
            <a:avLst/>
          </a:prstGeom>
          <a:noFill/>
          <a:ln/>
        </p:spPr>
        <p:txBody>
          <a:bodyPr wrap="square" lIns="0" tIns="0" rIns="0" bIns="0" rtlCol="0" anchor="t"/>
          <a:lstStyle/>
          <a:p>
            <a:pPr algn="ctr" indent="0" marL="0">
              <a:buNone/>
            </a:pPr>
            <a:r>
              <a:rPr lang="en-US" sz="1300" dirty="0">
                <a:solidFill>
                  <a:srgbClr val="A9C4B8"/>
                </a:solidFill>
                <a:latin typeface="Inter" pitchFamily="34" charset="0"/>
                <a:ea typeface="Inter" pitchFamily="34" charset="-122"/>
                <a:cs typeface="Inter" pitchFamily="34" charset="-120"/>
              </a:rPr>
              <a:t>nsmattei@tulane.edu  ·  saadhassan@tulane.edu</a:t>
            </a:r>
            <a:endParaRPr lang="en-US" sz="1300" dirty="0"/>
          </a:p>
        </p:txBody>
      </p:sp>
      <p:sp>
        <p:nvSpPr>
          <p:cNvPr id="35" name="txt_1242"/>
          <p:cNvSpPr txBox="1"/>
          <p:nvPr/>
        </p:nvSpPr>
        <p:spPr>
          <a:xfrm>
            <a:off x="548640" y="5257800"/>
            <a:ext cx="5486400" cy="731520"/>
          </a:xfrm>
          <a:prstGeom prst="rect">
            <a:avLst/>
          </a:prstGeom>
          <a:noFill/>
          <a:ln/>
        </p:spPr>
        <p:txBody>
          <a:bodyPr wrap="square" lIns="0" tIns="0" rIns="0" bIns="0" rtlCol="0" anchor="t"/>
          <a:lstStyle/>
          <a:p>
            <a:pPr indent="0" marL="0">
              <a:buNone/>
            </a:pPr>
            <a:r>
              <a:rPr lang="en-US" sz="3000" b="1" dirty="0">
                <a:solidFill>
                  <a:srgbClr val="F2B33D"/>
                </a:solidFill>
                <a:latin typeface="Inter" pitchFamily="34" charset="0"/>
                <a:ea typeface="Inter" pitchFamily="34" charset="-122"/>
                <a:cs typeface="Inter" pitchFamily="34" charset="-120"/>
              </a:rPr>
              <a:t>Thank you!</a:t>
            </a:r>
            <a:endParaRPr lang="en-US" sz="3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childTnLst>
                          </p:cTn>
                        </p:par>
                      </p:childTnLst>
                    </p:cTn>
                  </p:par>
                  <p:par>
                    <p:cTn id="24" fill="hold">
                      <p:stCondLst>
                        <p:cond delay="indefinite"/>
                      </p:stCondLst>
                      <p:childTnLst>
                        <p:par>
                          <p:cTn id="2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35" fill="hold">
                      <p:stCondLst>
                        <p:cond delay="indefinite"/>
                      </p:stCondLst>
                      <p:childTnLst>
                        <p:par>
                          <p:cTn id="3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theme/theme1.xml><?xml version="1.0" encoding="utf-8"?>
<a:theme xmlns:a="http://schemas.openxmlformats.org/drawingml/2006/main" name="Participatory AI">
  <a:themeElements>
    <a:clrScheme name="Participatory AI">
      <a:dk1>
        <a:srgbClr val="13221D"/>
      </a:dk1>
      <a:lt1>
        <a:srgbClr val="FFFFFF"/>
      </a:lt1>
      <a:dk2>
        <a:srgbClr val="0E3B2E"/>
      </a:dk2>
      <a:lt2>
        <a:srgbClr val="E8F2ED"/>
      </a:lt2>
      <a:accent1>
        <a:srgbClr val="1E6B4F"/>
      </a:accent1>
      <a:accent2>
        <a:srgbClr val="E8613A"/>
      </a:accent2>
      <a:accent3>
        <a:srgbClr val="F2B33D"/>
      </a:accent3>
      <a:accent4>
        <a:srgbClr val="5E6E68"/>
      </a:accent4>
      <a:accent5>
        <a:srgbClr val="2F8F6B"/>
      </a:accent5>
      <a:accent6>
        <a:srgbClr val="A9C4B8"/>
      </a:accent6>
      <a:hlink>
        <a:srgbClr val="1E6B4F"/>
      </a:hlink>
      <a:folHlink>
        <a:srgbClr val="5E6E68"/>
      </a:folHlink>
    </a:clrScheme>
    <a:fontScheme name="Participatory AI">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Participatory AI for Community Engagement</dc:title>
  <dc:subject>PptxGenJS Presentation</dc:subject>
  <dc:creator>Nicholas Mattei and Saad Hassan</dc:creator>
  <cp:lastModifiedBy>Nicholas Mattei and Saad Hassan</cp:lastModifiedBy>
  <cp:revision>1</cp:revision>
  <dcterms:created xsi:type="dcterms:W3CDTF">2026-10-09T00:59:46Z</dcterms:created>
  <dcterms:modified xsi:type="dcterms:W3CDTF">2026-10-09T00:59:46Z</dcterms:modified>
</cp:coreProperties>
</file>